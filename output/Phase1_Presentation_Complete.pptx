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fb10b01b0e4694" /><Relationship Type="http://schemas.openxmlformats.org/officeDocument/2006/relationships/extended-properties" Target="/docProps/app.xml" Id="R5f8873fab8674745" /><Relationship Type="http://schemas.openxmlformats.org/officeDocument/2006/relationships/officeDocument" Target="/ppt/presentation.xml" Id="R9dd652e9005a4122" /></Relationships>
</file>

<file path=ppt/presentation.xml><?xml version="1.0" encoding="utf-8"?>
<p:presentation xmlns:p="http://schemas.openxmlformats.org/presentationml/2006/main">
  <p:sldMasterIdLst>
    <p:sldMasterId xmlns:r="http://schemas.openxmlformats.org/officeDocument/2006/relationships" id="2147483648" r:id="R590b0ec6a4914311"/>
  </p:sldMasterIdLst>
  <p:notesMasterIdLst>
    <p:notesMasterId xmlns:r="http://schemas.openxmlformats.org/officeDocument/2006/relationships" r:id="R50267b30f3de48ce"/>
  </p:notesMasterIdLst>
  <p:sldIdLst>
    <p:sldId xmlns:r="http://schemas.openxmlformats.org/officeDocument/2006/relationships" id="256" r:id="R8c03a5c80a4b40b6"/>
    <p:sldId xmlns:r="http://schemas.openxmlformats.org/officeDocument/2006/relationships" id="257" r:id="R81a2d5406aa04726"/>
    <p:sldId xmlns:r="http://schemas.openxmlformats.org/officeDocument/2006/relationships" id="258" r:id="R267dfde56b8e4c1e"/>
    <p:sldId xmlns:r="http://schemas.openxmlformats.org/officeDocument/2006/relationships" id="259" r:id="R3cb23cade05f4559"/>
    <p:sldId xmlns:r="http://schemas.openxmlformats.org/officeDocument/2006/relationships" id="260" r:id="R8a50bda591fe40e7"/>
    <p:sldId xmlns:r="http://schemas.openxmlformats.org/officeDocument/2006/relationships" id="261" r:id="Rf6bc7709bc8f4158"/>
    <p:sldId xmlns:r="http://schemas.openxmlformats.org/officeDocument/2006/relationships" id="262" r:id="Re405ca5c280743c9"/>
    <p:sldId xmlns:r="http://schemas.openxmlformats.org/officeDocument/2006/relationships" id="263" r:id="Ra3486ef13e3642fc"/>
    <p:sldId xmlns:r="http://schemas.openxmlformats.org/officeDocument/2006/relationships" id="264" r:id="R7fcdd1005a9346e3"/>
    <p:sldId xmlns:r="http://schemas.openxmlformats.org/officeDocument/2006/relationships" id="265" r:id="Rfaf1cfa81e324485"/>
    <p:sldId xmlns:r="http://schemas.openxmlformats.org/officeDocument/2006/relationships" id="266" r:id="R43d6d5abf5644f76"/>
    <p:sldId xmlns:r="http://schemas.openxmlformats.org/officeDocument/2006/relationships" id="267" r:id="R1d99690aa9c042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e8eb5d571749f5" /><Relationship Type="http://schemas.openxmlformats.org/officeDocument/2006/relationships/slideMaster" Target="/ppt/slideMasters/slideMaster1.xml" Id="R590b0ec6a4914311" /><Relationship Type="http://schemas.openxmlformats.org/officeDocument/2006/relationships/notesMaster" Target="/ppt/notesMasters/notesMaster1.xml" Id="R50267b30f3de48ce" /><Relationship Type="http://schemas.openxmlformats.org/officeDocument/2006/relationships/presProps" Target="/ppt/presProps.xml" Id="Rada5b5e03667402d" /><Relationship Type="http://schemas.openxmlformats.org/officeDocument/2006/relationships/tableStyles" Target="/ppt/tableStyles.xml" Id="Rcbad5c854f274996" /><Relationship Type="http://schemas.openxmlformats.org/officeDocument/2006/relationships/slide" Target="/ppt/slides/slide1.xml" Id="R8c03a5c80a4b40b6" /><Relationship Type="http://schemas.openxmlformats.org/officeDocument/2006/relationships/slide" Target="/ppt/slides/slide2.xml" Id="R81a2d5406aa04726" /><Relationship Type="http://schemas.openxmlformats.org/officeDocument/2006/relationships/slide" Target="/ppt/slides/slide3.xml" Id="R267dfde56b8e4c1e" /><Relationship Type="http://schemas.openxmlformats.org/officeDocument/2006/relationships/slide" Target="/ppt/slides/slide4.xml" Id="R3cb23cade05f4559" /><Relationship Type="http://schemas.openxmlformats.org/officeDocument/2006/relationships/slide" Target="/ppt/slides/slide5.xml" Id="R8a50bda591fe40e7" /><Relationship Type="http://schemas.openxmlformats.org/officeDocument/2006/relationships/slide" Target="/ppt/slides/slide6.xml" Id="Rf6bc7709bc8f4158" /><Relationship Type="http://schemas.openxmlformats.org/officeDocument/2006/relationships/slide" Target="/ppt/slides/slide7.xml" Id="Re405ca5c280743c9" /><Relationship Type="http://schemas.openxmlformats.org/officeDocument/2006/relationships/slide" Target="/ppt/slides/slide8.xml" Id="Ra3486ef13e3642fc" /><Relationship Type="http://schemas.openxmlformats.org/officeDocument/2006/relationships/slide" Target="/ppt/slides/slide9.xml" Id="R7fcdd1005a9346e3" /><Relationship Type="http://schemas.openxmlformats.org/officeDocument/2006/relationships/slide" Target="/ppt/slides/slide10.xml" Id="Rfaf1cfa81e324485" /><Relationship Type="http://schemas.openxmlformats.org/officeDocument/2006/relationships/slide" Target="/ppt/slides/slide11.xml" Id="R43d6d5abf5644f76" /><Relationship Type="http://schemas.openxmlformats.org/officeDocument/2006/relationships/slide" Target="/ppt/slides/slide12.xml" Id="R1d99690aa9c042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e2f68c526549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c5f8e8f6014e4c" /><Relationship Type="http://schemas.openxmlformats.org/officeDocument/2006/relationships/notesMaster" Target="/ppt/notesMasters/notesMaster1.xml" Id="Rb7da3427335e4a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55573a1bec4ee4" /><Relationship Type="http://schemas.openxmlformats.org/officeDocument/2006/relationships/notesMaster" Target="/ppt/notesMasters/notesMaster1.xml" Id="R6caff3aa6def4e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4328a9093a4f2a" /><Relationship Type="http://schemas.openxmlformats.org/officeDocument/2006/relationships/notesMaster" Target="/ppt/notesMasters/notesMaster1.xml" Id="R69dff6db6fa248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4a0ebeeaf44ff2" /><Relationship Type="http://schemas.openxmlformats.org/officeDocument/2006/relationships/notesMaster" Target="/ppt/notesMasters/notesMaster1.xml" Id="R4f6f678a764142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e19914db49418b" /><Relationship Type="http://schemas.openxmlformats.org/officeDocument/2006/relationships/notesMaster" Target="/ppt/notesMasters/notesMaster1.xml" Id="R8ba0f56b188c46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772051d8434565" /><Relationship Type="http://schemas.openxmlformats.org/officeDocument/2006/relationships/notesMaster" Target="/ppt/notesMasters/notesMaster1.xml" Id="R5a1b6a2658174f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7dc41ec91746c0" /><Relationship Type="http://schemas.openxmlformats.org/officeDocument/2006/relationships/notesMaster" Target="/ppt/notesMasters/notesMaster1.xml" Id="R3411a01c654845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80e24e7f674641" /><Relationship Type="http://schemas.openxmlformats.org/officeDocument/2006/relationships/notesMaster" Target="/ppt/notesMasters/notesMaster1.xml" Id="R7d6f23117b2c4a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e5e29c3cd641a4" /><Relationship Type="http://schemas.openxmlformats.org/officeDocument/2006/relationships/notesMaster" Target="/ppt/notesMasters/notesMaster1.xml" Id="Rbb97ec2f80894c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259f54d9e34368" /><Relationship Type="http://schemas.openxmlformats.org/officeDocument/2006/relationships/notesMaster" Target="/ppt/notesMasters/notesMaster1.xml" Id="R4e929892a4c945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3ce0f0a20f4b3e" /><Relationship Type="http://schemas.openxmlformats.org/officeDocument/2006/relationships/notesMaster" Target="/ppt/notesMasters/notesMaster1.xml" Id="R1089ddd4b57845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1dbb29a0474159" /><Relationship Type="http://schemas.openxmlformats.org/officeDocument/2006/relationships/notesMaster" Target="/ppt/notesMasters/notesMaster1.xml" Id="R2f2e7c86c56145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Team T011: H Maheshwari 2401010174, Vaibhav 2401010486, Mayank 2401010267, Keshav 2401010222, Mitul Bhatia 2401010279. Say: We learn what legitimate transactions look like and place less usual later transactions into a review queue. An unusual transaction is not proof of 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01 and docs/LITERATURE_REVIEW.md. Dempster,Laird,Rubin1977 https://doi.org/10.1111/j.2517-6161.1977.tb01600.x. Saito,Rehmsmeier2015 https://journals.plos.org/plosone/article?id=10.1371/journal.pone.0118432. scikit-learn mixture guide https://scikit-learn.org/stable/modules/mixture.html. These explain methods, not copied result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Dataset: https://www.kaggle.com/datasets/mlg-ulb/creditcardfraud; mirror documented at https://www.tensorflow.org/tutorials/structured_data/imbalanced_data. Raw284807/492frauds. Remove1081exact repeats including19fraud rows, under a stated assumption because no transaction IDs exist. Clean283726/473frauds. No missing or infinite cells. Explain training learns, validation selects cutoffs, test checks later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Notebook 03, feature engineering. V1-V28 are anonymous provider PCA features. PCA replaces original variables with numerical combinations. We do not run new PCA. log1p handles zero and compresses amount range. StandardScaler learns means and standard deviations only on legitimate training rows. fit_transform learns and applies; transform applies saved values. Class is not an input; Time only determines the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Literature: Dempster,Laird,Rubin1977 https://doi.org/10.1111/j.2517-6161.1977.tb01600.x; https://scikit-learn.org/stable/modules/mixture.html. GMM is a weighted sum of Gaussian densities, with nonnegative weights summing to1. K is number of components. Components are mathematical groups, not proven customer categories. Diagonal covariance estimates separate feature variances within a component and ignores some relationships. Three starts,seed42,max200,reg_covar1e-6. Convergence is not a global-optimum guarantee. Labels select legitimate rows; GMM fit has no target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results/gmm_selection.csv. Try K1,2,4,8, fit all on the same legitimate training rows. AIC=2q-2L, BIC=q log N-2L. Lower is better. Choose minimum training BIC. Eight is largest tested, both scores still fall there, so do not call globally best. AIC/BIC measure legitimate density fit, not fraud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Notebook 05, Sections 1-2. score_samples returns log density, so negate it. Low density means less typical under legitimate training distribution. Density is not fraud probability. Scores can be negative. Set cutoff using legitimate validation scores, 99.5th percentile for0.5% budget with method higher, strictscore&gt;cutoff. Score80and60are numerical rule illustrations, not sampled dataset rows. Threshold75.8942 is measured. The default is an illustrative classroom choice fixed before test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Notebook 05, Sections 3-4. MatrixTN56500FP172FN37TP37. Recall37/74=.5, precision37/209=.17703349,FPR172/56672=.003035. Default validation budget.5% does not guarantee.5%testFPR. Most alerts are legitimate and half the fraud is missed. Explain denominator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results/threshold_results.csv. The three cutoffs are all chosen on validation, then applied unchanged to test.0.1%finds6frauds39falsealerts,.5%37and172,1%52and381. Test recall8.11/50/70.27%. These are validation FPR budgets, not guaranteed testFPRs. Do not pick best test policy after seeing these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Literature: Saito and Rehmsmeier2015 https://journals.plos.org/plosone/article?id=10.1371/journal.pone.0118432. PRcurve source uses same measured experiment as notebook 05 Section 6. Nativechart connects retained PRpoints. PR AUC is trapezoidal0.149619; it is neither accuracy nor default recall. PR zero-recall endpoint withprecision1is conventional no-review endpoint. Testprevalence74/56746=.1304%. Precision@100=29/100=.29,71legitimate. This capacity applies to whole test batch. Stable sort keeps chronologicalorderforties.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Five ordered notebooks exchange saved files. Read 01 then run 02-05 in order, restarting each kernel and selecting Run All. All analysis and saving code is visible in the notebooks. FILE_MAP.md maps every output to its producer; docs/CODE_GUIDE.md explains functions. Raw/intermediate data and model binaries stay outside Git. docs/PHASE1_CHECKLIST.md maps all nine assessment areas. Each member must practice and enter actual work in docs/TEAM_CONTRIBUTIONS.md. A generated artifact does not prove an individual contribution or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the five ordered notebooks in notebooks/ and results/summary.json. Course scope: supplied CSAI PDF page 2. Team allocation supplied by user. Main limitations: rarity differs fromfraud,only74testfrauds,shortolddata,anonymousinputs,unverifiableproviderPCA,duplicateremovalassumption,diagonalcovariance,smallKgrid,futuredrift. Everymembermustunderstandnotebookandrecordactualcontributions. NoDLorhybrid implemented. Referencesfor method:eM1977 DOI andPR2015paperinthepreviousnotesandnotebook/report.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1330aa8da54f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6b9abb568fe4f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9ee42afe5740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1551e8d2fe41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70a9e9c7ed4e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dd3986f5fc42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6698B5-ED69-489E-8072-EF05D46C585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C6A9F6-A419-4D27-90D0-3A03658658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C1D465-CB9C-41A8-867A-8E5C0D55A1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A590CF-277D-44E6-8E42-0B5497E295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0059D1-14D2-4382-816D-87BA7270785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D15065-0F26-41DD-A200-3B8CDB5F12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95E213-B059-4032-BD30-A08F5D89D7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7D31D1-211C-4115-AEF5-D80DDAFB194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0F8E2-E715-444A-BB4D-195E6152DC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18F763-710E-4A21-A8E5-AE90B82850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5a6749f6be430b" /><Relationship Type="http://schemas.openxmlformats.org/officeDocument/2006/relationships/slideLayout" Target="/ppt/slideLayouts/slideLayout1.xml" Id="Rf0a80811d8254cd6" /><Relationship Type="http://schemas.openxmlformats.org/officeDocument/2006/relationships/slideLayout" Target="/ppt/slideLayouts/slideLayout2.xml" Id="Rbad361596e7a4fc1" /><Relationship Type="http://schemas.openxmlformats.org/officeDocument/2006/relationships/slideLayout" Target="/ppt/slideLayouts/slideLayout3.xml" Id="Ra9b001a5d92e404f" /><Relationship Type="http://schemas.openxmlformats.org/officeDocument/2006/relationships/slideLayout" Target="/ppt/slideLayouts/slideLayout4.xml" Id="R676c42935f894b3e" /><Relationship Type="http://schemas.openxmlformats.org/officeDocument/2006/relationships/slideLayout" Target="/ppt/slideLayouts/slideLayout5.xml" Id="Ra4909b9752e64276" /><Relationship Type="http://schemas.openxmlformats.org/officeDocument/2006/relationships/slideLayout" Target="/ppt/slideLayouts/slideLayout6.xml" Id="Re7ecf826f41845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a80811d8254cd6"/>
    <p:sldLayoutId xmlns:r="http://schemas.openxmlformats.org/officeDocument/2006/relationships" id="2147483650" r:id="Rbad361596e7a4fc1"/>
    <p:sldLayoutId xmlns:r="http://schemas.openxmlformats.org/officeDocument/2006/relationships" id="2147483651" r:id="Ra9b001a5d92e404f"/>
    <p:sldLayoutId xmlns:r="http://schemas.openxmlformats.org/officeDocument/2006/relationships" id="2147483652" r:id="R676c42935f894b3e"/>
    <p:sldLayoutId xmlns:r="http://schemas.openxmlformats.org/officeDocument/2006/relationships" id="2147483653" r:id="Ra4909b9752e64276"/>
    <p:sldLayoutId xmlns:r="http://schemas.openxmlformats.org/officeDocument/2006/relationships" id="2147483654" r:id="Re7ecf826f41845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e2dc4015d444333" /><Relationship Type="http://schemas.openxmlformats.org/officeDocument/2006/relationships/notesSlide" Target="/ppt/notesSlides/notesSlide1.xml" Id="Rfee9b91088a541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21af10e51e44a0" /><Relationship Type="http://schemas.openxmlformats.org/officeDocument/2006/relationships/notesSlide" Target="/ppt/notesSlides/notesSlide2.xml" Id="R120b192bcf0348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59e69f86294bbd" /><Relationship Type="http://schemas.openxmlformats.org/officeDocument/2006/relationships/notesSlide" Target="/ppt/notesSlides/notesSlide3.xml" Id="Re84cc071694144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4f8809aeb14232" /><Relationship Type="http://schemas.openxmlformats.org/officeDocument/2006/relationships/notesSlide" Target="/ppt/notesSlides/notesSlide4.xml" Id="Rd245091cecdc43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22625daf8d41e2" /><Relationship Type="http://schemas.openxmlformats.org/officeDocument/2006/relationships/notesSlide" Target="/ppt/notesSlides/notesSlide5.xml" Id="R98ace0795b6347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6dc63e357c4310" /><Relationship Type="http://schemas.openxmlformats.org/officeDocument/2006/relationships/chart" Target="/ppt/slides/charts/chart1.xml" Id="R29cd745b66d24d7e" /><Relationship Type="http://schemas.openxmlformats.org/officeDocument/2006/relationships/notesSlide" Target="/ppt/notesSlides/notesSlide6.xml" Id="R6debf5273d5741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5fcc9ae81ea4533" /><Relationship Type="http://schemas.openxmlformats.org/officeDocument/2006/relationships/notesSlide" Target="/ppt/notesSlides/notesSlide7.xml" Id="Rbb3ea635ce3d44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a4947f684c94ee2" /><Relationship Type="http://schemas.openxmlformats.org/officeDocument/2006/relationships/notesSlide" Target="/ppt/notesSlides/notesSlide8.xml" Id="Rf78113eecc0f4f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c695ec4cb546eb" /><Relationship Type="http://schemas.openxmlformats.org/officeDocument/2006/relationships/chart" Target="/ppt/slides/charts/chart2.xml" Id="Re961a6aec3c24102" /><Relationship Type="http://schemas.openxmlformats.org/officeDocument/2006/relationships/notesSlide" Target="/ppt/notesSlides/notesSlide9.xml" Id="R948b07b03cd947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b7d09844744312" /><Relationship Type="http://schemas.openxmlformats.org/officeDocument/2006/relationships/chart" Target="/ppt/slides/charts/chart3.xml" Id="Re1dc6b6d94c74cac" /><Relationship Type="http://schemas.openxmlformats.org/officeDocument/2006/relationships/notesSlide" Target="/ppt/notesSlides/notesSlide10.xml" Id="Raad6fb0104d442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3cb9adc7ef4b16" /><Relationship Type="http://schemas.openxmlformats.org/officeDocument/2006/relationships/notesSlide" Target="/ppt/notesSlides/notesSlide11.xml" Id="R66fca770b78d4c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fe433247a4d4336" /><Relationship Type="http://schemas.openxmlformats.org/officeDocument/2006/relationships/notesSlide" Target="/ppt/notesSlides/notesSlide12.xml" Id="Rcb93af4cbc964c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3447"/>
                </a:solidFill>
                <a:latin typeface="Arial"/>
                <a:ea typeface="Arial"/>
                <a:cs typeface="Arial"/>
              </a:rPr>
              <a:t>AIC and BIC, lower is better</a:t>
            </a:r>
          </a:p>
        </c:rich>
      </c:tx>
      <c:overlay val="0"/>
      <c:txPr>
        <a:bodyPr xmlns:a="http://schemas.openxmlformats.org/drawingml/2006/main" anchorCtr="1"/>
        <a:lstStyle xmlns:a="http://schemas.openxmlformats.org/drawingml/2006/main"/>
        <a:p xmlns:a="http://schemas.openxmlformats.org/drawingml/2006/main">
          <a:pPr>
            <a:defRPr sz="1950" b="1">
              <a:solidFill>
                <a:srgbClr val="173447"/>
              </a:solidFill>
              <a:latin typeface="Arial"/>
              <a:ea typeface="Arial"/>
              <a:cs typeface="Arial"/>
            </a:defRPr>
          </a:pPr>
        </a:p>
      </c:txPr>
    </c:title>
    <c:plotArea>
      <c:lineChart>
        <c:grouping val="standard"/>
        <c:varyColors val="0"/>
        <c:ser>
          <c:idx val="0"/>
          <c:order val="0"/>
          <c:tx>
            <c:v>AIC / one million</c:v>
          </c:tx>
          <c:spPr>
            <a:ln xmlns:a="http://schemas.openxmlformats.org/drawingml/2006/main" w="28575">
              <a:solidFill>
                <a:srgbClr val="24668D"/>
              </a:solidFill>
            </a:ln>
          </c:spPr>
          <c:marker>
            <c:symbol val="none"/>
          </c:marker>
          <c:cat>
            <c:numRef>
              <c:f>'Chart Data'!$A$2:$A$5</c:f>
              <c:numCache>
                <c:formatCode>General</c:formatCode>
                <c:ptCount val="4"/>
                <c:pt idx="0">
                  <c:v>1</c:v>
                </c:pt>
                <c:pt idx="1">
                  <c:v>2</c:v>
                </c:pt>
                <c:pt idx="2">
                  <c:v>4</c:v>
                </c:pt>
                <c:pt idx="3">
                  <c:v>8</c:v>
                </c:pt>
              </c:numCache>
            </c:numRef>
          </c:cat>
          <c:val>
            <c:numRef>
              <c:f>'Chart Data'!$B$2:$B$5</c:f>
              <c:numCache>
                <c:formatCode>General</c:formatCode>
                <c:ptCount val="4"/>
                <c:pt idx="0">
                  <c:v>13.982044</c:v>
                </c:pt>
                <c:pt idx="1">
                  <c:v>11.93483957</c:v>
                </c:pt>
                <c:pt idx="2">
                  <c:v>10.89440126</c:v>
                </c:pt>
                <c:pt idx="3">
                  <c:v>10.14018495</c:v>
                </c:pt>
              </c:numCache>
            </c:numRef>
          </c:val>
          <c:smooth val="0"/>
        </c:ser>
        <c:ser>
          <c:idx val="1"/>
          <c:order val="1"/>
          <c:tx>
            <c:v>BIC / one million</c:v>
          </c:tx>
          <c:spPr>
            <a:ln xmlns:a="http://schemas.openxmlformats.org/drawingml/2006/main" w="28575">
              <a:solidFill>
                <a:srgbClr val="C44945"/>
              </a:solidFill>
            </a:ln>
          </c:spPr>
          <c:marker>
            <c:symbol val="none"/>
          </c:marker>
          <c:cat>
            <c:numRef>
              <c:f>'Chart Data'!$C$2:$C$5</c:f>
              <c:numCache>
                <c:formatCode>General</c:formatCode>
                <c:ptCount val="4"/>
                <c:pt idx="0">
                  <c:v>1</c:v>
                </c:pt>
                <c:pt idx="1">
                  <c:v>2</c:v>
                </c:pt>
                <c:pt idx="2">
                  <c:v>4</c:v>
                </c:pt>
                <c:pt idx="3">
                  <c:v>8</c:v>
                </c:pt>
              </c:numCache>
            </c:numRef>
          </c:cat>
          <c:val>
            <c:numRef>
              <c:f>'Chart Data'!$D$2:$D$5</c:f>
              <c:numCache>
                <c:formatCode>General</c:formatCode>
                <c:ptCount val="4"/>
                <c:pt idx="0">
                  <c:v>13.98262649</c:v>
                </c:pt>
                <c:pt idx="1">
                  <c:v>11.9360146</c:v>
                </c:pt>
                <c:pt idx="2">
                  <c:v>10.89676134</c:v>
                </c:pt>
                <c:pt idx="3">
                  <c:v>10.14491517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Number of components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Criterion / one million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3447"/>
                </a:solidFill>
                <a:latin typeface="Arial"/>
                <a:ea typeface="Arial"/>
                <a:cs typeface="Arial"/>
              </a:rPr>
              <a:t>Test counts at fixed validation policies</a:t>
            </a:r>
          </a:p>
        </c:rich>
      </c:tx>
      <c:overlay val="0"/>
      <c:txPr>
        <a:bodyPr xmlns:a="http://schemas.openxmlformats.org/drawingml/2006/main" anchorCtr="1"/>
        <a:lstStyle xmlns:a="http://schemas.openxmlformats.org/drawingml/2006/main"/>
        <a:p xmlns:a="http://schemas.openxmlformats.org/drawingml/2006/main">
          <a:pPr>
            <a:defRPr sz="1950" b="1">
              <a:solidFill>
                <a:srgbClr val="173447"/>
              </a:solidFill>
              <a:latin typeface="Arial"/>
              <a:ea typeface="Arial"/>
              <a:cs typeface="Arial"/>
            </a:defRPr>
          </a:pPr>
        </a:p>
      </c:txPr>
    </c:title>
    <c:plotArea>
      <c:barChart>
        <c:barDir val="col"/>
        <c:grouping val="clustered"/>
        <c:varyColors val="0"/>
        <c:ser>
          <c:idx val="0"/>
          <c:order val="0"/>
          <c:tx>
            <c:v>Fraud found</c:v>
          </c:tx>
          <c:spPr>
            <a:solidFill xmlns:a="http://schemas.openxmlformats.org/drawingml/2006/main">
              <a:srgbClr val="24668D"/>
            </a:solidFill>
          </c:spPr>
          <c:invertIfNegative val="0"/>
          <c:cat>
            <c:strRef>
              <c:f>'Chart Data'!$A$2:$A$4</c:f>
              <c:strCache>
                <c:ptCount val="3"/>
                <c:pt idx="0">
                  <c:v>0.1%</c:v>
                </c:pt>
                <c:pt idx="1">
                  <c:v>0.5%</c:v>
                </c:pt>
                <c:pt idx="2">
                  <c:v>1%</c:v>
                </c:pt>
              </c:strCache>
            </c:strRef>
          </c:cat>
          <c:val>
            <c:numRef>
              <c:f>'Chart Data'!$B$2:$B$4</c:f>
              <c:numCache>
                <c:formatCode>General</c:formatCode>
                <c:ptCount val="3"/>
                <c:pt idx="0">
                  <c:v>6</c:v>
                </c:pt>
                <c:pt idx="1">
                  <c:v>37</c:v>
                </c:pt>
                <c:pt idx="2">
                  <c:v>52</c:v>
                </c:pt>
              </c:numCache>
            </c:numRef>
          </c:val>
        </c:ser>
        <c:ser>
          <c:idx val="1"/>
          <c:order val="1"/>
          <c:tx>
            <c:v>Legitimate false alerts</c:v>
          </c:tx>
          <c:spPr>
            <a:solidFill xmlns:a="http://schemas.openxmlformats.org/drawingml/2006/main">
              <a:srgbClr val="C44945"/>
            </a:solidFill>
          </c:spPr>
          <c:invertIfNegative val="0"/>
          <c:cat>
            <c:strRef>
              <c:f>'Chart Data'!$C$2:$C$4</c:f>
              <c:strCache>
                <c:ptCount val="3"/>
                <c:pt idx="0">
                  <c:v>0.1%</c:v>
                </c:pt>
                <c:pt idx="1">
                  <c:v>0.5%</c:v>
                </c:pt>
                <c:pt idx="2">
                  <c:v>1%</c:v>
                </c:pt>
              </c:strCache>
            </c:strRef>
          </c:cat>
          <c:val>
            <c:numRef>
              <c:f>'Chart Data'!$D$2:$D$4</c:f>
              <c:numCache>
                <c:formatCode>General</c:formatCode>
                <c:ptCount val="3"/>
                <c:pt idx="0">
                  <c:v>39</c:v>
                </c:pt>
                <c:pt idx="1">
                  <c:v>172</c:v>
                </c:pt>
                <c:pt idx="2">
                  <c:v>381</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Validation false-positive budget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transactions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3447"/>
                </a:solidFill>
                <a:latin typeface="Arial"/>
                <a:ea typeface="Arial"/>
                <a:cs typeface="Arial"/>
              </a:rPr>
              <a:t>Test precision-recall curve</a:t>
            </a:r>
          </a:p>
        </c:rich>
      </c:tx>
      <c:overlay val="0"/>
      <c:txPr>
        <a:bodyPr xmlns:a="http://schemas.openxmlformats.org/drawingml/2006/main" anchorCtr="1"/>
        <a:lstStyle xmlns:a="http://schemas.openxmlformats.org/drawingml/2006/main"/>
        <a:p xmlns:a="http://schemas.openxmlformats.org/drawingml/2006/main">
          <a:pPr>
            <a:defRPr sz="1950" b="1">
              <a:solidFill>
                <a:srgbClr val="173447"/>
              </a:solidFill>
              <a:latin typeface="Arial"/>
              <a:ea typeface="Arial"/>
              <a:cs typeface="Arial"/>
            </a:defRPr>
          </a:pPr>
        </a:p>
      </c:txPr>
    </c:title>
    <c:plotArea>
      <c:scatterChart>
        <c:scatterStyle val="line"/>
        <c:varyColors val="0"/>
        <c:ser>
          <c:idx val="0"/>
          <c:order val="0"/>
          <c:tx>
            <c:v>Selected GMM</c:v>
          </c:tx>
          <c:spPr>
            <a:ln xmlns:a="http://schemas.openxmlformats.org/drawingml/2006/main" w="23813">
              <a:solidFill>
                <a:srgbClr val="24668D"/>
              </a:solidFill>
            </a:ln>
          </c:spPr>
          <c:marker>
            <c:symbol val="none"/>
          </c:marker>
          <c:xVal>
            <c:numRef>
              <c:f>'Chart Data'!$A$2:$A$140</c:f>
              <c:numCache>
                <c:formatCode>General</c:formatCode>
                <c:ptCount val="139"/>
                <c:pt idx="0">
                  <c:v>1</c:v>
                </c:pt>
                <c:pt idx="1">
                  <c:v>1</c:v>
                </c:pt>
                <c:pt idx="2">
                  <c:v>0.9864864865</c:v>
                </c:pt>
                <c:pt idx="3">
                  <c:v>0.9864864865</c:v>
                </c:pt>
                <c:pt idx="4">
                  <c:v>0.972972973</c:v>
                </c:pt>
                <c:pt idx="5">
                  <c:v>0.972972973</c:v>
                </c:pt>
                <c:pt idx="6">
                  <c:v>0.9594594595</c:v>
                </c:pt>
                <c:pt idx="7">
                  <c:v>0.9594594595</c:v>
                </c:pt>
                <c:pt idx="8">
                  <c:v>0.9459459459</c:v>
                </c:pt>
                <c:pt idx="9">
                  <c:v>0.9459459459</c:v>
                </c:pt>
                <c:pt idx="10">
                  <c:v>0.9324324324</c:v>
                </c:pt>
                <c:pt idx="11">
                  <c:v>0.9324324324</c:v>
                </c:pt>
                <c:pt idx="12">
                  <c:v>0.9189189189</c:v>
                </c:pt>
                <c:pt idx="13">
                  <c:v>0.9189189189</c:v>
                </c:pt>
                <c:pt idx="14">
                  <c:v>0.9054054054</c:v>
                </c:pt>
                <c:pt idx="15">
                  <c:v>0.9054054054</c:v>
                </c:pt>
                <c:pt idx="16">
                  <c:v>0.8918918919</c:v>
                </c:pt>
                <c:pt idx="17">
                  <c:v>0.8918918919</c:v>
                </c:pt>
                <c:pt idx="18">
                  <c:v>0.8783783784</c:v>
                </c:pt>
                <c:pt idx="19">
                  <c:v>0.8783783784</c:v>
                </c:pt>
                <c:pt idx="20">
                  <c:v>0.8648648649</c:v>
                </c:pt>
                <c:pt idx="21">
                  <c:v>0.8648648649</c:v>
                </c:pt>
                <c:pt idx="22">
                  <c:v>0.8513513514</c:v>
                </c:pt>
                <c:pt idx="23">
                  <c:v>0.8513513514</c:v>
                </c:pt>
                <c:pt idx="24">
                  <c:v>0.8378378378</c:v>
                </c:pt>
                <c:pt idx="25">
                  <c:v>0.8378378378</c:v>
                </c:pt>
                <c:pt idx="26">
                  <c:v>0.8243243243</c:v>
                </c:pt>
                <c:pt idx="27">
                  <c:v>0.8243243243</c:v>
                </c:pt>
                <c:pt idx="28">
                  <c:v>0.8108108108</c:v>
                </c:pt>
                <c:pt idx="29">
                  <c:v>0.8108108108</c:v>
                </c:pt>
                <c:pt idx="30">
                  <c:v>0.7972972973</c:v>
                </c:pt>
                <c:pt idx="31">
                  <c:v>0.7972972973</c:v>
                </c:pt>
                <c:pt idx="32">
                  <c:v>0.7837837838</c:v>
                </c:pt>
                <c:pt idx="33">
                  <c:v>0.7837837838</c:v>
                </c:pt>
                <c:pt idx="34">
                  <c:v>0.7702702703</c:v>
                </c:pt>
                <c:pt idx="35">
                  <c:v>0.7702702703</c:v>
                </c:pt>
                <c:pt idx="36">
                  <c:v>0.7567567568</c:v>
                </c:pt>
                <c:pt idx="37">
                  <c:v>0.7567567568</c:v>
                </c:pt>
                <c:pt idx="38">
                  <c:v>0.7432432432</c:v>
                </c:pt>
                <c:pt idx="39">
                  <c:v>0.7432432432</c:v>
                </c:pt>
                <c:pt idx="40">
                  <c:v>0.7297297297</c:v>
                </c:pt>
                <c:pt idx="41">
                  <c:v>0.7297297297</c:v>
                </c:pt>
                <c:pt idx="42">
                  <c:v>0.7162162162</c:v>
                </c:pt>
                <c:pt idx="43">
                  <c:v>0.7162162162</c:v>
                </c:pt>
                <c:pt idx="44">
                  <c:v>0.7027027027</c:v>
                </c:pt>
                <c:pt idx="45">
                  <c:v>0.7027027027</c:v>
                </c:pt>
                <c:pt idx="46">
                  <c:v>0.6891891892</c:v>
                </c:pt>
                <c:pt idx="47">
                  <c:v>0.6891891892</c:v>
                </c:pt>
                <c:pt idx="48">
                  <c:v>0.6756756757</c:v>
                </c:pt>
                <c:pt idx="49">
                  <c:v>0.6756756757</c:v>
                </c:pt>
                <c:pt idx="50">
                  <c:v>0.6621621622</c:v>
                </c:pt>
                <c:pt idx="51">
                  <c:v>0.6621621622</c:v>
                </c:pt>
                <c:pt idx="52">
                  <c:v>0.6486486486</c:v>
                </c:pt>
                <c:pt idx="53">
                  <c:v>0.6351351351</c:v>
                </c:pt>
                <c:pt idx="54">
                  <c:v>0.6351351351</c:v>
                </c:pt>
                <c:pt idx="55">
                  <c:v>0.6216216216</c:v>
                </c:pt>
                <c:pt idx="56">
                  <c:v>0.6216216216</c:v>
                </c:pt>
                <c:pt idx="57">
                  <c:v>0.6081081081</c:v>
                </c:pt>
                <c:pt idx="58">
                  <c:v>0.6081081081</c:v>
                </c:pt>
                <c:pt idx="59">
                  <c:v>0.5945945946</c:v>
                </c:pt>
                <c:pt idx="60">
                  <c:v>0.5945945946</c:v>
                </c:pt>
                <c:pt idx="61">
                  <c:v>0.5810810811</c:v>
                </c:pt>
                <c:pt idx="62">
                  <c:v>0.5810810811</c:v>
                </c:pt>
                <c:pt idx="63">
                  <c:v>0.5675675676</c:v>
                </c:pt>
                <c:pt idx="64">
                  <c:v>0.5675675676</c:v>
                </c:pt>
                <c:pt idx="65">
                  <c:v>0.5540540541</c:v>
                </c:pt>
                <c:pt idx="66">
                  <c:v>0.5405405405</c:v>
                </c:pt>
                <c:pt idx="67">
                  <c:v>0.5405405405</c:v>
                </c:pt>
                <c:pt idx="68">
                  <c:v>0.527027027</c:v>
                </c:pt>
                <c:pt idx="69">
                  <c:v>0.527027027</c:v>
                </c:pt>
                <c:pt idx="70">
                  <c:v>0.5135135135</c:v>
                </c:pt>
                <c:pt idx="71">
                  <c:v>0.5135135135</c:v>
                </c:pt>
                <c:pt idx="72">
                  <c:v>0.5</c:v>
                </c:pt>
                <c:pt idx="73">
                  <c:v>0.5</c:v>
                </c:pt>
                <c:pt idx="74">
                  <c:v>0.4864864865</c:v>
                </c:pt>
                <c:pt idx="75">
                  <c:v>0.4864864865</c:v>
                </c:pt>
                <c:pt idx="76">
                  <c:v>0.472972973</c:v>
                </c:pt>
                <c:pt idx="77">
                  <c:v>0.472972973</c:v>
                </c:pt>
                <c:pt idx="78">
                  <c:v>0.4594594595</c:v>
                </c:pt>
                <c:pt idx="79">
                  <c:v>0.4594594595</c:v>
                </c:pt>
                <c:pt idx="80">
                  <c:v>0.4459459459</c:v>
                </c:pt>
                <c:pt idx="81">
                  <c:v>0.4459459459</c:v>
                </c:pt>
                <c:pt idx="82">
                  <c:v>0.4324324324</c:v>
                </c:pt>
                <c:pt idx="83">
                  <c:v>0.4324324324</c:v>
                </c:pt>
                <c:pt idx="84">
                  <c:v>0.4189189189</c:v>
                </c:pt>
                <c:pt idx="85">
                  <c:v>0.4189189189</c:v>
                </c:pt>
                <c:pt idx="86">
                  <c:v>0.4054054054</c:v>
                </c:pt>
                <c:pt idx="87">
                  <c:v>0.4054054054</c:v>
                </c:pt>
                <c:pt idx="88">
                  <c:v>0.3918918919</c:v>
                </c:pt>
                <c:pt idx="89">
                  <c:v>0.3783783784</c:v>
                </c:pt>
                <c:pt idx="90">
                  <c:v>0.3783783784</c:v>
                </c:pt>
                <c:pt idx="91">
                  <c:v>0.3648648649</c:v>
                </c:pt>
                <c:pt idx="92">
                  <c:v>0.3648648649</c:v>
                </c:pt>
                <c:pt idx="93">
                  <c:v>0.3513513514</c:v>
                </c:pt>
                <c:pt idx="94">
                  <c:v>0.3513513514</c:v>
                </c:pt>
                <c:pt idx="95">
                  <c:v>0.3378378378</c:v>
                </c:pt>
                <c:pt idx="96">
                  <c:v>0.3378378378</c:v>
                </c:pt>
                <c:pt idx="97">
                  <c:v>0.3243243243</c:v>
                </c:pt>
                <c:pt idx="98">
                  <c:v>0.3243243243</c:v>
                </c:pt>
                <c:pt idx="99">
                  <c:v>0.3108108108</c:v>
                </c:pt>
                <c:pt idx="100">
                  <c:v>0.3108108108</c:v>
                </c:pt>
                <c:pt idx="101">
                  <c:v>0.2972972973</c:v>
                </c:pt>
                <c:pt idx="102">
                  <c:v>0.2972972973</c:v>
                </c:pt>
                <c:pt idx="103">
                  <c:v>0.2837837838</c:v>
                </c:pt>
                <c:pt idx="104">
                  <c:v>0.2702702703</c:v>
                </c:pt>
                <c:pt idx="105">
                  <c:v>0.2702702703</c:v>
                </c:pt>
                <c:pt idx="106">
                  <c:v>0.2567567568</c:v>
                </c:pt>
                <c:pt idx="107">
                  <c:v>0.2432432432</c:v>
                </c:pt>
                <c:pt idx="108">
                  <c:v>0.2432432432</c:v>
                </c:pt>
                <c:pt idx="109">
                  <c:v>0.2297297297</c:v>
                </c:pt>
                <c:pt idx="110">
                  <c:v>0.2297297297</c:v>
                </c:pt>
                <c:pt idx="111">
                  <c:v>0.2162162162</c:v>
                </c:pt>
                <c:pt idx="112">
                  <c:v>0.2027027027</c:v>
                </c:pt>
                <c:pt idx="113">
                  <c:v>0.1891891892</c:v>
                </c:pt>
                <c:pt idx="114">
                  <c:v>0.1756756757</c:v>
                </c:pt>
                <c:pt idx="115">
                  <c:v>0.1621621622</c:v>
                </c:pt>
                <c:pt idx="116">
                  <c:v>0.1621621622</c:v>
                </c:pt>
                <c:pt idx="117">
                  <c:v>0.1486486486</c:v>
                </c:pt>
                <c:pt idx="118">
                  <c:v>0.1486486486</c:v>
                </c:pt>
                <c:pt idx="119">
                  <c:v>0.1351351351</c:v>
                </c:pt>
                <c:pt idx="120">
                  <c:v>0.1216216216</c:v>
                </c:pt>
                <c:pt idx="121">
                  <c:v>0.1216216216</c:v>
                </c:pt>
                <c:pt idx="122">
                  <c:v>0.1081081081</c:v>
                </c:pt>
                <c:pt idx="123">
                  <c:v>0.1081081081</c:v>
                </c:pt>
                <c:pt idx="124">
                  <c:v>0.09459459459</c:v>
                </c:pt>
                <c:pt idx="125">
                  <c:v>0.08108108108</c:v>
                </c:pt>
                <c:pt idx="126">
                  <c:v>0.08108108108</c:v>
                </c:pt>
                <c:pt idx="127">
                  <c:v>0.06756756757</c:v>
                </c:pt>
                <c:pt idx="128">
                  <c:v>0.06756756757</c:v>
                </c:pt>
                <c:pt idx="129">
                  <c:v>0.05405405405</c:v>
                </c:pt>
                <c:pt idx="130">
                  <c:v>0.05405405405</c:v>
                </c:pt>
                <c:pt idx="131">
                  <c:v>0.04054054054</c:v>
                </c:pt>
                <c:pt idx="132">
                  <c:v>0.04054054054</c:v>
                </c:pt>
                <c:pt idx="133">
                  <c:v>0.02702702703</c:v>
                </c:pt>
                <c:pt idx="134">
                  <c:v>0.02702702703</c:v>
                </c:pt>
                <c:pt idx="135">
                  <c:v>0.01351351351</c:v>
                </c:pt>
                <c:pt idx="136">
                  <c:v>0</c:v>
                </c:pt>
                <c:pt idx="137">
                  <c:v>0</c:v>
                </c:pt>
                <c:pt idx="138">
                  <c:v>0</c:v>
                </c:pt>
              </c:numCache>
            </c:numRef>
          </c:xVal>
          <c:yVal>
            <c:numRef>
              <c:f>'Chart Data'!$B$2:$B$140</c:f>
              <c:numCache>
                <c:formatCode>0%</c:formatCode>
                <c:ptCount val="139"/>
                <c:pt idx="0">
                  <c:v>0.001304056674</c:v>
                </c:pt>
                <c:pt idx="1">
                  <c:v>0.002504908266</c:v>
                </c:pt>
                <c:pt idx="2">
                  <c:v>0.002471141803</c:v>
                </c:pt>
                <c:pt idx="3">
                  <c:v>0.00292315701</c:v>
                </c:pt>
                <c:pt idx="4">
                  <c:v>0.002883229217</c:v>
                </c:pt>
                <c:pt idx="5">
                  <c:v>0.003583515827</c:v>
                </c:pt>
                <c:pt idx="6">
                  <c:v>0.003533920661</c:v>
                </c:pt>
                <c:pt idx="7">
                  <c:v>0.004773751093</c:v>
                </c:pt>
                <c:pt idx="8">
                  <c:v>0.00470683163</c:v>
                </c:pt>
                <c:pt idx="9">
                  <c:v>0.007265933153</c:v>
                </c:pt>
                <c:pt idx="10">
                  <c:v>0.007162877608</c:v>
                </c:pt>
                <c:pt idx="11">
                  <c:v>0.007371007371</c:v>
                </c:pt>
                <c:pt idx="12">
                  <c:v>0.007264957265</c:v>
                </c:pt>
                <c:pt idx="13">
                  <c:v>0.008198697854</c:v>
                </c:pt>
                <c:pt idx="14">
                  <c:v>0.008079102858</c:v>
                </c:pt>
                <c:pt idx="15">
                  <c:v>0.01036991178</c:v>
                </c:pt>
                <c:pt idx="16">
                  <c:v>0.01021671827</c:v>
                </c:pt>
                <c:pt idx="17">
                  <c:v>0.01034969421</c:v>
                </c:pt>
                <c:pt idx="18">
                  <c:v>0.0101944793</c:v>
                </c:pt>
                <c:pt idx="19">
                  <c:v>0.01547619048</c:v>
                </c:pt>
                <c:pt idx="20">
                  <c:v>0.01524172422</c:v>
                </c:pt>
                <c:pt idx="21">
                  <c:v>0.01939981813</c:v>
                </c:pt>
                <c:pt idx="22">
                  <c:v>0.01910248636</c:v>
                </c:pt>
                <c:pt idx="23">
                  <c:v>0.02060170046</c:v>
                </c:pt>
                <c:pt idx="24">
                  <c:v>0.02028132156</c:v>
                </c:pt>
                <c:pt idx="25">
                  <c:v>0.02557755776</c:v>
                </c:pt>
                <c:pt idx="26">
                  <c:v>0.02517540239</c:v>
                </c:pt>
                <c:pt idx="27">
                  <c:v>0.02944015444</c:v>
                </c:pt>
                <c:pt idx="28">
                  <c:v>0.02897151135</c:v>
                </c:pt>
                <c:pt idx="29">
                  <c:v>0.03351955307</c:v>
                </c:pt>
                <c:pt idx="30">
                  <c:v>0.03297931805</c:v>
                </c:pt>
                <c:pt idx="31">
                  <c:v>0.0397574124</c:v>
                </c:pt>
                <c:pt idx="32">
                  <c:v>0.03910991234</c:v>
                </c:pt>
                <c:pt idx="33">
                  <c:v>0.07621550591</c:v>
                </c:pt>
                <c:pt idx="34">
                  <c:v>0.075</c:v>
                </c:pt>
                <c:pt idx="35">
                  <c:v>0.09018987342</c:v>
                </c:pt>
                <c:pt idx="36">
                  <c:v>0.08874801902</c:v>
                </c:pt>
                <c:pt idx="37">
                  <c:v>0.09893992933</c:v>
                </c:pt>
                <c:pt idx="38">
                  <c:v>0.09734513274</c:v>
                </c:pt>
                <c:pt idx="39">
                  <c:v>0.1086956522</c:v>
                </c:pt>
                <c:pt idx="40">
                  <c:v>0.1069306931</c:v>
                </c:pt>
                <c:pt idx="41">
                  <c:v>0.1071428571</c:v>
                </c:pt>
                <c:pt idx="42">
                  <c:v>0.1053677932</c:v>
                </c:pt>
                <c:pt idx="43">
                  <c:v>0.1130063966</c:v>
                </c:pt>
                <c:pt idx="44">
                  <c:v>0.1111111111</c:v>
                </c:pt>
                <c:pt idx="45">
                  <c:v>0.1244019139</c:v>
                </c:pt>
                <c:pt idx="46">
                  <c:v>0.1223021583</c:v>
                </c:pt>
                <c:pt idx="47">
                  <c:v>0.1256157635</c:v>
                </c:pt>
                <c:pt idx="48">
                  <c:v>0.1234567901</c:v>
                </c:pt>
                <c:pt idx="49">
                  <c:v>0.146627566</c:v>
                </c:pt>
                <c:pt idx="50">
                  <c:v>0.1441176471</c:v>
                </c:pt>
                <c:pt idx="51">
                  <c:v>0.1471471471</c:v>
                </c:pt>
                <c:pt idx="52">
                  <c:v>0.1445783133</c:v>
                </c:pt>
                <c:pt idx="53">
                  <c:v>0.1419939577</c:v>
                </c:pt>
                <c:pt idx="54">
                  <c:v>0.1577181208</c:v>
                </c:pt>
                <c:pt idx="55">
                  <c:v>0.1548821549</c:v>
                </c:pt>
                <c:pt idx="56">
                  <c:v>0.1586206897</c:v>
                </c:pt>
                <c:pt idx="57">
                  <c:v>0.1557093426</c:v>
                </c:pt>
                <c:pt idx="58">
                  <c:v>0.1691729323</c:v>
                </c:pt>
                <c:pt idx="59">
                  <c:v>0.1660377358</c:v>
                </c:pt>
                <c:pt idx="60">
                  <c:v>0.1705426357</c:v>
                </c:pt>
                <c:pt idx="61">
                  <c:v>0.1673151751</c:v>
                </c:pt>
                <c:pt idx="62">
                  <c:v>0.171314741</c:v>
                </c:pt>
                <c:pt idx="63">
                  <c:v>0.168</c:v>
                </c:pt>
                <c:pt idx="64">
                  <c:v>0.173553719</c:v>
                </c:pt>
                <c:pt idx="65">
                  <c:v>0.1701244813</c:v>
                </c:pt>
                <c:pt idx="66">
                  <c:v>0.1666666667</c:v>
                </c:pt>
                <c:pt idx="67">
                  <c:v>0.1762114537</c:v>
                </c:pt>
                <c:pt idx="68">
                  <c:v>0.1725663717</c:v>
                </c:pt>
                <c:pt idx="69">
                  <c:v>0.1822429907</c:v>
                </c:pt>
                <c:pt idx="70">
                  <c:v>0.1784037559</c:v>
                </c:pt>
                <c:pt idx="71">
                  <c:v>0.180952381</c:v>
                </c:pt>
                <c:pt idx="72">
                  <c:v>0.1770334928</c:v>
                </c:pt>
                <c:pt idx="73">
                  <c:v>0.1887755102</c:v>
                </c:pt>
                <c:pt idx="74">
                  <c:v>0.1846153846</c:v>
                </c:pt>
                <c:pt idx="75">
                  <c:v>0.1956521739</c:v>
                </c:pt>
                <c:pt idx="76">
                  <c:v>0.1912568306</c:v>
                </c:pt>
                <c:pt idx="77">
                  <c:v>0.2258064516</c:v>
                </c:pt>
                <c:pt idx="78">
                  <c:v>0.2207792208</c:v>
                </c:pt>
                <c:pt idx="79">
                  <c:v>0.2518518519</c:v>
                </c:pt>
                <c:pt idx="80">
                  <c:v>0.2462686567</c:v>
                </c:pt>
                <c:pt idx="81">
                  <c:v>0.2619047619</c:v>
                </c:pt>
                <c:pt idx="82">
                  <c:v>0.256</c:v>
                </c:pt>
                <c:pt idx="83">
                  <c:v>0.2807017544</c:v>
                </c:pt>
                <c:pt idx="84">
                  <c:v>0.2743362832</c:v>
                </c:pt>
                <c:pt idx="85">
                  <c:v>0.2818181818</c:v>
                </c:pt>
                <c:pt idx="86">
                  <c:v>0.2752293578</c:v>
                </c:pt>
                <c:pt idx="87">
                  <c:v>0.297029703</c:v>
                </c:pt>
                <c:pt idx="88">
                  <c:v>0.29</c:v>
                </c:pt>
                <c:pt idx="89">
                  <c:v>0.2828282828</c:v>
                </c:pt>
                <c:pt idx="90">
                  <c:v>0.2857142857</c:v>
                </c:pt>
                <c:pt idx="91">
                  <c:v>0.2783505155</c:v>
                </c:pt>
                <c:pt idx="92">
                  <c:v>0.2872340426</c:v>
                </c:pt>
                <c:pt idx="93">
                  <c:v>0.2795698925</c:v>
                </c:pt>
                <c:pt idx="94">
                  <c:v>0.2857142857</c:v>
                </c:pt>
                <c:pt idx="95">
                  <c:v>0.2777777778</c:v>
                </c:pt>
                <c:pt idx="96">
                  <c:v>0.2873563218</c:v>
                </c:pt>
                <c:pt idx="97">
                  <c:v>0.2790697674</c:v>
                </c:pt>
                <c:pt idx="98">
                  <c:v>0.2857142857</c:v>
                </c:pt>
                <c:pt idx="99">
                  <c:v>0.2771084337</c:v>
                </c:pt>
                <c:pt idx="100">
                  <c:v>0.2875</c:v>
                </c:pt>
                <c:pt idx="101">
                  <c:v>0.2784810127</c:v>
                </c:pt>
                <c:pt idx="102">
                  <c:v>0.2820512821</c:v>
                </c:pt>
                <c:pt idx="103">
                  <c:v>0.2727272727</c:v>
                </c:pt>
                <c:pt idx="104">
                  <c:v>0.2631578947</c:v>
                </c:pt>
                <c:pt idx="105">
                  <c:v>0.2666666667</c:v>
                </c:pt>
                <c:pt idx="106">
                  <c:v>0.2567567568</c:v>
                </c:pt>
                <c:pt idx="107">
                  <c:v>0.2465753425</c:v>
                </c:pt>
                <c:pt idx="108">
                  <c:v>0.2571428571</c:v>
                </c:pt>
                <c:pt idx="109">
                  <c:v>0.2463768116</c:v>
                </c:pt>
                <c:pt idx="110">
                  <c:v>0.2575757576</c:v>
                </c:pt>
                <c:pt idx="111">
                  <c:v>0.2461538462</c:v>
                </c:pt>
                <c:pt idx="112">
                  <c:v>0.234375</c:v>
                </c:pt>
                <c:pt idx="113">
                  <c:v>0.2222222222</c:v>
                </c:pt>
                <c:pt idx="114">
                  <c:v>0.2096774194</c:v>
                </c:pt>
                <c:pt idx="115">
                  <c:v>0.1967213115</c:v>
                </c:pt>
                <c:pt idx="116">
                  <c:v>0.2</c:v>
                </c:pt>
                <c:pt idx="117">
                  <c:v>0.186440678</c:v>
                </c:pt>
                <c:pt idx="118">
                  <c:v>0.1896551724</c:v>
                </c:pt>
                <c:pt idx="119">
                  <c:v>0.1754385965</c:v>
                </c:pt>
                <c:pt idx="120">
                  <c:v>0.1607142857</c:v>
                </c:pt>
                <c:pt idx="121">
                  <c:v>0.1698113208</c:v>
                </c:pt>
                <c:pt idx="122">
                  <c:v>0.1538461538</c:v>
                </c:pt>
                <c:pt idx="123">
                  <c:v>0.1632653061</c:v>
                </c:pt>
                <c:pt idx="124">
                  <c:v>0.1458333333</c:v>
                </c:pt>
                <c:pt idx="125">
                  <c:v>0.1276595745</c:v>
                </c:pt>
                <c:pt idx="126">
                  <c:v>0.1363636364</c:v>
                </c:pt>
                <c:pt idx="127">
                  <c:v>0.1162790698</c:v>
                </c:pt>
                <c:pt idx="128">
                  <c:v>0.1219512195</c:v>
                </c:pt>
                <c:pt idx="129">
                  <c:v>0.1</c:v>
                </c:pt>
                <c:pt idx="130">
                  <c:v>0.1111111111</c:v>
                </c:pt>
                <c:pt idx="131">
                  <c:v>0.08571428571</c:v>
                </c:pt>
                <c:pt idx="132">
                  <c:v>0.09090909091</c:v>
                </c:pt>
                <c:pt idx="133">
                  <c:v>0.0625</c:v>
                </c:pt>
                <c:pt idx="134">
                  <c:v>0.06451612903</c:v>
                </c:pt>
                <c:pt idx="135">
                  <c:v>0.03333333333</c:v>
                </c:pt>
                <c:pt idx="136">
                  <c:v>0</c:v>
                </c:pt>
                <c:pt idx="137">
                  <c:v>0</c:v>
                </c:pt>
                <c:pt idx="138">
                  <c:v>1</c:v>
                </c:pt>
              </c:numCache>
            </c:numRef>
          </c:yVal>
        </c:ser>
        <c:ser>
          <c:idx val="1"/>
          <c:order val="1"/>
          <c:tx>
            <c:v>One Gaussian</c:v>
          </c:tx>
          <c:spPr>
            <a:ln xmlns:a="http://schemas.openxmlformats.org/drawingml/2006/main" w="19050">
              <a:solidFill>
                <a:srgbClr val="C44945"/>
              </a:solidFill>
            </a:ln>
          </c:spPr>
          <c:marker>
            <c:symbol val="none"/>
          </c:marker>
          <c:xVal>
            <c:numRef>
              <c:f>'Chart Data'!$C$2:$C$149</c:f>
              <c:numCache>
                <c:formatCode>General</c:formatCode>
                <c:ptCount val="148"/>
                <c:pt idx="0">
                  <c:v>1</c:v>
                </c:pt>
                <c:pt idx="1">
                  <c:v>1</c:v>
                </c:pt>
                <c:pt idx="2">
                  <c:v>0.9864864865</c:v>
                </c:pt>
                <c:pt idx="3">
                  <c:v>0.9864864865</c:v>
                </c:pt>
                <c:pt idx="4">
                  <c:v>0.972972973</c:v>
                </c:pt>
                <c:pt idx="5">
                  <c:v>0.972972973</c:v>
                </c:pt>
                <c:pt idx="6">
                  <c:v>0.9594594595</c:v>
                </c:pt>
                <c:pt idx="7">
                  <c:v>0.9594594595</c:v>
                </c:pt>
                <c:pt idx="8">
                  <c:v>0.9459459459</c:v>
                </c:pt>
                <c:pt idx="9">
                  <c:v>0.9459459459</c:v>
                </c:pt>
                <c:pt idx="10">
                  <c:v>0.9324324324</c:v>
                </c:pt>
                <c:pt idx="11">
                  <c:v>0.9324324324</c:v>
                </c:pt>
                <c:pt idx="12">
                  <c:v>0.9189189189</c:v>
                </c:pt>
                <c:pt idx="13">
                  <c:v>0.9189189189</c:v>
                </c:pt>
                <c:pt idx="14">
                  <c:v>0.9054054054</c:v>
                </c:pt>
                <c:pt idx="15">
                  <c:v>0.9054054054</c:v>
                </c:pt>
                <c:pt idx="16">
                  <c:v>0.8918918919</c:v>
                </c:pt>
                <c:pt idx="17">
                  <c:v>0.8918918919</c:v>
                </c:pt>
                <c:pt idx="18">
                  <c:v>0.8783783784</c:v>
                </c:pt>
                <c:pt idx="19">
                  <c:v>0.8783783784</c:v>
                </c:pt>
                <c:pt idx="20">
                  <c:v>0.8648648649</c:v>
                </c:pt>
                <c:pt idx="21">
                  <c:v>0.8648648649</c:v>
                </c:pt>
                <c:pt idx="22">
                  <c:v>0.8513513514</c:v>
                </c:pt>
                <c:pt idx="23">
                  <c:v>0.8513513514</c:v>
                </c:pt>
                <c:pt idx="24">
                  <c:v>0.8378378378</c:v>
                </c:pt>
                <c:pt idx="25">
                  <c:v>0.8378378378</c:v>
                </c:pt>
                <c:pt idx="26">
                  <c:v>0.8243243243</c:v>
                </c:pt>
                <c:pt idx="27">
                  <c:v>0.8243243243</c:v>
                </c:pt>
                <c:pt idx="28">
                  <c:v>0.8108108108</c:v>
                </c:pt>
                <c:pt idx="29">
                  <c:v>0.8108108108</c:v>
                </c:pt>
                <c:pt idx="30">
                  <c:v>0.7972972973</c:v>
                </c:pt>
                <c:pt idx="31">
                  <c:v>0.7972972973</c:v>
                </c:pt>
                <c:pt idx="32">
                  <c:v>0.7837837838</c:v>
                </c:pt>
                <c:pt idx="33">
                  <c:v>0.7837837838</c:v>
                </c:pt>
                <c:pt idx="34">
                  <c:v>0.7702702703</c:v>
                </c:pt>
                <c:pt idx="35">
                  <c:v>0.7702702703</c:v>
                </c:pt>
                <c:pt idx="36">
                  <c:v>0.7567567568</c:v>
                </c:pt>
                <c:pt idx="37">
                  <c:v>0.7567567568</c:v>
                </c:pt>
                <c:pt idx="38">
                  <c:v>0.7432432432</c:v>
                </c:pt>
                <c:pt idx="39">
                  <c:v>0.7432432432</c:v>
                </c:pt>
                <c:pt idx="40">
                  <c:v>0.7297297297</c:v>
                </c:pt>
                <c:pt idx="41">
                  <c:v>0.7297297297</c:v>
                </c:pt>
                <c:pt idx="42">
                  <c:v>0.7162162162</c:v>
                </c:pt>
                <c:pt idx="43">
                  <c:v>0.7162162162</c:v>
                </c:pt>
                <c:pt idx="44">
                  <c:v>0.7027027027</c:v>
                </c:pt>
                <c:pt idx="45">
                  <c:v>0.7027027027</c:v>
                </c:pt>
                <c:pt idx="46">
                  <c:v>0.6891891892</c:v>
                </c:pt>
                <c:pt idx="47">
                  <c:v>0.6891891892</c:v>
                </c:pt>
                <c:pt idx="48">
                  <c:v>0.6756756757</c:v>
                </c:pt>
                <c:pt idx="49">
                  <c:v>0.6756756757</c:v>
                </c:pt>
                <c:pt idx="50">
                  <c:v>0.6621621622</c:v>
                </c:pt>
                <c:pt idx="51">
                  <c:v>0.6621621622</c:v>
                </c:pt>
                <c:pt idx="52">
                  <c:v>0.6486486486</c:v>
                </c:pt>
                <c:pt idx="53">
                  <c:v>0.6486486486</c:v>
                </c:pt>
                <c:pt idx="54">
                  <c:v>0.6351351351</c:v>
                </c:pt>
                <c:pt idx="55">
                  <c:v>0.6351351351</c:v>
                </c:pt>
                <c:pt idx="56">
                  <c:v>0.6216216216</c:v>
                </c:pt>
                <c:pt idx="57">
                  <c:v>0.6216216216</c:v>
                </c:pt>
                <c:pt idx="58">
                  <c:v>0.6081081081</c:v>
                </c:pt>
                <c:pt idx="59">
                  <c:v>0.6081081081</c:v>
                </c:pt>
                <c:pt idx="60">
                  <c:v>0.5945945946</c:v>
                </c:pt>
                <c:pt idx="61">
                  <c:v>0.5945945946</c:v>
                </c:pt>
                <c:pt idx="62">
                  <c:v>0.5810810811</c:v>
                </c:pt>
                <c:pt idx="63">
                  <c:v>0.5810810811</c:v>
                </c:pt>
                <c:pt idx="64">
                  <c:v>0.5675675676</c:v>
                </c:pt>
                <c:pt idx="65">
                  <c:v>0.5675675676</c:v>
                </c:pt>
                <c:pt idx="66">
                  <c:v>0.5540540541</c:v>
                </c:pt>
                <c:pt idx="67">
                  <c:v>0.5540540541</c:v>
                </c:pt>
                <c:pt idx="68">
                  <c:v>0.5405405405</c:v>
                </c:pt>
                <c:pt idx="69">
                  <c:v>0.5405405405</c:v>
                </c:pt>
                <c:pt idx="70">
                  <c:v>0.527027027</c:v>
                </c:pt>
                <c:pt idx="71">
                  <c:v>0.527027027</c:v>
                </c:pt>
                <c:pt idx="72">
                  <c:v>0.5135135135</c:v>
                </c:pt>
                <c:pt idx="73">
                  <c:v>0.5135135135</c:v>
                </c:pt>
                <c:pt idx="74">
                  <c:v>0.5</c:v>
                </c:pt>
                <c:pt idx="75">
                  <c:v>0.5</c:v>
                </c:pt>
                <c:pt idx="76">
                  <c:v>0.4864864865</c:v>
                </c:pt>
                <c:pt idx="77">
                  <c:v>0.4864864865</c:v>
                </c:pt>
                <c:pt idx="78">
                  <c:v>0.472972973</c:v>
                </c:pt>
                <c:pt idx="79">
                  <c:v>0.472972973</c:v>
                </c:pt>
                <c:pt idx="80">
                  <c:v>0.4594594595</c:v>
                </c:pt>
                <c:pt idx="81">
                  <c:v>0.4594594595</c:v>
                </c:pt>
                <c:pt idx="82">
                  <c:v>0.4459459459</c:v>
                </c:pt>
                <c:pt idx="83">
                  <c:v>0.4459459459</c:v>
                </c:pt>
                <c:pt idx="84">
                  <c:v>0.4324324324</c:v>
                </c:pt>
                <c:pt idx="85">
                  <c:v>0.4324324324</c:v>
                </c:pt>
                <c:pt idx="86">
                  <c:v>0.4189189189</c:v>
                </c:pt>
                <c:pt idx="87">
                  <c:v>0.4189189189</c:v>
                </c:pt>
                <c:pt idx="88">
                  <c:v>0.4054054054</c:v>
                </c:pt>
                <c:pt idx="89">
                  <c:v>0.4054054054</c:v>
                </c:pt>
                <c:pt idx="90">
                  <c:v>0.3918918919</c:v>
                </c:pt>
                <c:pt idx="91">
                  <c:v>0.3918918919</c:v>
                </c:pt>
                <c:pt idx="92">
                  <c:v>0.3783783784</c:v>
                </c:pt>
                <c:pt idx="93">
                  <c:v>0.3783783784</c:v>
                </c:pt>
                <c:pt idx="94">
                  <c:v>0.3648648649</c:v>
                </c:pt>
                <c:pt idx="95">
                  <c:v>0.3648648649</c:v>
                </c:pt>
                <c:pt idx="96">
                  <c:v>0.3513513514</c:v>
                </c:pt>
                <c:pt idx="97">
                  <c:v>0.3513513514</c:v>
                </c:pt>
                <c:pt idx="98">
                  <c:v>0.3378378378</c:v>
                </c:pt>
                <c:pt idx="99">
                  <c:v>0.3378378378</c:v>
                </c:pt>
                <c:pt idx="100">
                  <c:v>0.3243243243</c:v>
                </c:pt>
                <c:pt idx="101">
                  <c:v>0.3243243243</c:v>
                </c:pt>
                <c:pt idx="102">
                  <c:v>0.3108108108</c:v>
                </c:pt>
                <c:pt idx="103">
                  <c:v>0.3108108108</c:v>
                </c:pt>
                <c:pt idx="104">
                  <c:v>0.2972972973</c:v>
                </c:pt>
                <c:pt idx="105">
                  <c:v>0.2972972973</c:v>
                </c:pt>
                <c:pt idx="106">
                  <c:v>0.2837837838</c:v>
                </c:pt>
                <c:pt idx="107">
                  <c:v>0.2837837838</c:v>
                </c:pt>
                <c:pt idx="108">
                  <c:v>0.2702702703</c:v>
                </c:pt>
                <c:pt idx="109">
                  <c:v>0.2702702703</c:v>
                </c:pt>
                <c:pt idx="110">
                  <c:v>0.2567567568</c:v>
                </c:pt>
                <c:pt idx="111">
                  <c:v>0.2567567568</c:v>
                </c:pt>
                <c:pt idx="112">
                  <c:v>0.2432432432</c:v>
                </c:pt>
                <c:pt idx="113">
                  <c:v>0.2432432432</c:v>
                </c:pt>
                <c:pt idx="114">
                  <c:v>0.2297297297</c:v>
                </c:pt>
                <c:pt idx="115">
                  <c:v>0.2297297297</c:v>
                </c:pt>
                <c:pt idx="116">
                  <c:v>0.2162162162</c:v>
                </c:pt>
                <c:pt idx="117">
                  <c:v>0.2162162162</c:v>
                </c:pt>
                <c:pt idx="118">
                  <c:v>0.2027027027</c:v>
                </c:pt>
                <c:pt idx="119">
                  <c:v>0.1891891892</c:v>
                </c:pt>
                <c:pt idx="120">
                  <c:v>0.1891891892</c:v>
                </c:pt>
                <c:pt idx="121">
                  <c:v>0.1756756757</c:v>
                </c:pt>
                <c:pt idx="122">
                  <c:v>0.1756756757</c:v>
                </c:pt>
                <c:pt idx="123">
                  <c:v>0.1621621622</c:v>
                </c:pt>
                <c:pt idx="124">
                  <c:v>0.1621621622</c:v>
                </c:pt>
                <c:pt idx="125">
                  <c:v>0.1486486486</c:v>
                </c:pt>
                <c:pt idx="126">
                  <c:v>0.1351351351</c:v>
                </c:pt>
                <c:pt idx="127">
                  <c:v>0.1351351351</c:v>
                </c:pt>
                <c:pt idx="128">
                  <c:v>0.1216216216</c:v>
                </c:pt>
                <c:pt idx="129">
                  <c:v>0.1216216216</c:v>
                </c:pt>
                <c:pt idx="130">
                  <c:v>0.1081081081</c:v>
                </c:pt>
                <c:pt idx="131">
                  <c:v>0.1081081081</c:v>
                </c:pt>
                <c:pt idx="132">
                  <c:v>0.09459459459</c:v>
                </c:pt>
                <c:pt idx="133">
                  <c:v>0.09459459459</c:v>
                </c:pt>
                <c:pt idx="134">
                  <c:v>0.08108108108</c:v>
                </c:pt>
                <c:pt idx="135">
                  <c:v>0.08108108108</c:v>
                </c:pt>
                <c:pt idx="136">
                  <c:v>0.06756756757</c:v>
                </c:pt>
                <c:pt idx="137">
                  <c:v>0.06756756757</c:v>
                </c:pt>
                <c:pt idx="138">
                  <c:v>0.05405405405</c:v>
                </c:pt>
                <c:pt idx="139">
                  <c:v>0.05405405405</c:v>
                </c:pt>
                <c:pt idx="140">
                  <c:v>0.04054054054</c:v>
                </c:pt>
                <c:pt idx="141">
                  <c:v>0.04054054054</c:v>
                </c:pt>
                <c:pt idx="142">
                  <c:v>0.02702702703</c:v>
                </c:pt>
                <c:pt idx="143">
                  <c:v>0.02702702703</c:v>
                </c:pt>
                <c:pt idx="144">
                  <c:v>0.01351351351</c:v>
                </c:pt>
                <c:pt idx="145">
                  <c:v>0</c:v>
                </c:pt>
                <c:pt idx="146">
                  <c:v>0</c:v>
                </c:pt>
                <c:pt idx="147">
                  <c:v>0</c:v>
                </c:pt>
              </c:numCache>
            </c:numRef>
          </c:xVal>
          <c:yVal>
            <c:numRef>
              <c:f>'Chart Data'!$D$2:$D$149</c:f>
              <c:numCache>
                <c:formatCode>0%</c:formatCode>
                <c:ptCount val="148"/>
                <c:pt idx="0">
                  <c:v>0.001304056674</c:v>
                </c:pt>
                <c:pt idx="1">
                  <c:v>0.002438542147</c:v>
                </c:pt>
                <c:pt idx="2">
                  <c:v>0.00240566815</c:v>
                </c:pt>
                <c:pt idx="3">
                  <c:v>0.003004980859</c:v>
                </c:pt>
                <c:pt idx="4">
                  <c:v>0.002963938745</c:v>
                </c:pt>
                <c:pt idx="5">
                  <c:v>0.002982230874</c:v>
                </c:pt>
                <c:pt idx="6">
                  <c:v>0.002940932814</c:v>
                </c:pt>
                <c:pt idx="7">
                  <c:v>0.004692973759</c:v>
                </c:pt>
                <c:pt idx="8">
                  <c:v>0.004627181386</c:v>
                </c:pt>
                <c:pt idx="9">
                  <c:v>0.005080931988</c:v>
                </c:pt>
                <c:pt idx="10">
                  <c:v>0.005008710801</c:v>
                </c:pt>
                <c:pt idx="11">
                  <c:v>0.00502402796</c:v>
                </c:pt>
                <c:pt idx="12">
                  <c:v>0.004951576495</c:v>
                </c:pt>
                <c:pt idx="13">
                  <c:v>0.006921824104</c:v>
                </c:pt>
                <c:pt idx="14">
                  <c:v>0.006820726866</c:v>
                </c:pt>
                <c:pt idx="15">
                  <c:v>0.007636197857</c:v>
                </c:pt>
                <c:pt idx="16">
                  <c:v>0.007523082184</c:v>
                </c:pt>
                <c:pt idx="17">
                  <c:v>0.0131082423</c:v>
                </c:pt>
                <c:pt idx="18">
                  <c:v>0.01291219706</c:v>
                </c:pt>
                <c:pt idx="19">
                  <c:v>0.01374788494</c:v>
                </c:pt>
                <c:pt idx="20">
                  <c:v>0.01353924265</c:v>
                </c:pt>
                <c:pt idx="21">
                  <c:v>0.01774327696</c:v>
                </c:pt>
                <c:pt idx="22">
                  <c:v>0.01747088186</c:v>
                </c:pt>
                <c:pt idx="23">
                  <c:v>0.01831395349</c:v>
                </c:pt>
                <c:pt idx="24">
                  <c:v>0.01802849666</c:v>
                </c:pt>
                <c:pt idx="25">
                  <c:v>0.02764155149</c:v>
                </c:pt>
                <c:pt idx="26">
                  <c:v>0.02720785013</c:v>
                </c:pt>
                <c:pt idx="27">
                  <c:v>0.031043257</c:v>
                </c:pt>
                <c:pt idx="28">
                  <c:v>0.03054989817</c:v>
                </c:pt>
                <c:pt idx="29">
                  <c:v>0.03172924379</c:v>
                </c:pt>
                <c:pt idx="30">
                  <c:v>0.03121693122</c:v>
                </c:pt>
                <c:pt idx="31">
                  <c:v>0.03590992088</c:v>
                </c:pt>
                <c:pt idx="32">
                  <c:v>0.0353227771</c:v>
                </c:pt>
                <c:pt idx="33">
                  <c:v>0.04754098361</c:v>
                </c:pt>
                <c:pt idx="34">
                  <c:v>0.04675963905</c:v>
                </c:pt>
                <c:pt idx="35">
                  <c:v>0.04691358025</c:v>
                </c:pt>
                <c:pt idx="36">
                  <c:v>0.04612850082</c:v>
                </c:pt>
                <c:pt idx="37">
                  <c:v>0.04798628963</c:v>
                </c:pt>
                <c:pt idx="38">
                  <c:v>0.04716981132</c:v>
                </c:pt>
                <c:pt idx="39">
                  <c:v>0.04884547069</c:v>
                </c:pt>
                <c:pt idx="40">
                  <c:v>0.048</c:v>
                </c:pt>
                <c:pt idx="41">
                  <c:v>0.04804270463</c:v>
                </c:pt>
                <c:pt idx="42">
                  <c:v>0.04719501336</c:v>
                </c:pt>
                <c:pt idx="43">
                  <c:v>0.04732142857</c:v>
                </c:pt>
                <c:pt idx="44">
                  <c:v>0.04647006256</c:v>
                </c:pt>
                <c:pt idx="45">
                  <c:v>0.04788213628</c:v>
                </c:pt>
                <c:pt idx="46">
                  <c:v>0.04700460829</c:v>
                </c:pt>
                <c:pt idx="47">
                  <c:v>0.04717853839</c:v>
                </c:pt>
                <c:pt idx="48">
                  <c:v>0.0462962963</c:v>
                </c:pt>
                <c:pt idx="49">
                  <c:v>0.04821600771</c:v>
                </c:pt>
                <c:pt idx="50">
                  <c:v>0.0472972973</c:v>
                </c:pt>
                <c:pt idx="51">
                  <c:v>0.05179704017</c:v>
                </c:pt>
                <c:pt idx="52">
                  <c:v>0.05079365079</c:v>
                </c:pt>
                <c:pt idx="53">
                  <c:v>0.05333333333</c:v>
                </c:pt>
                <c:pt idx="54">
                  <c:v>0.05228031146</c:v>
                </c:pt>
                <c:pt idx="55">
                  <c:v>0.06377204885</c:v>
                </c:pt>
                <c:pt idx="56">
                  <c:v>0.0625</c:v>
                </c:pt>
                <c:pt idx="57">
                  <c:v>0.06344827586</c:v>
                </c:pt>
                <c:pt idx="58">
                  <c:v>0.06215469613</c:v>
                </c:pt>
                <c:pt idx="59">
                  <c:v>0.06364922207</c:v>
                </c:pt>
                <c:pt idx="60">
                  <c:v>0.06232294618</c:v>
                </c:pt>
                <c:pt idx="61">
                  <c:v>0.06340057637</c:v>
                </c:pt>
                <c:pt idx="62">
                  <c:v>0.06204906205</c:v>
                </c:pt>
                <c:pt idx="63">
                  <c:v>0.06295754026</c:v>
                </c:pt>
                <c:pt idx="64">
                  <c:v>0.06158357771</c:v>
                </c:pt>
                <c:pt idx="65">
                  <c:v>0.06382978723</c:v>
                </c:pt>
                <c:pt idx="66">
                  <c:v>0.06240487062</c:v>
                </c:pt>
                <c:pt idx="67">
                  <c:v>0.07093425606</c:v>
                </c:pt>
                <c:pt idx="68">
                  <c:v>0.06932409012</c:v>
                </c:pt>
                <c:pt idx="69">
                  <c:v>0.07155635063</c:v>
                </c:pt>
                <c:pt idx="70">
                  <c:v>0.06989247312</c:v>
                </c:pt>
                <c:pt idx="71">
                  <c:v>0.07249070632</c:v>
                </c:pt>
                <c:pt idx="72">
                  <c:v>0.07076350093</c:v>
                </c:pt>
                <c:pt idx="73">
                  <c:v>0.07509881423</c:v>
                </c:pt>
                <c:pt idx="74">
                  <c:v>0.07326732673</c:v>
                </c:pt>
                <c:pt idx="75">
                  <c:v>0.08043478261</c:v>
                </c:pt>
                <c:pt idx="76">
                  <c:v>0.07843137255</c:v>
                </c:pt>
                <c:pt idx="77">
                  <c:v>0.07894736842</c:v>
                </c:pt>
                <c:pt idx="78">
                  <c:v>0.07692307692</c:v>
                </c:pt>
                <c:pt idx="79">
                  <c:v>0.07900677201</c:v>
                </c:pt>
                <c:pt idx="80">
                  <c:v>0.07692307692</c:v>
                </c:pt>
                <c:pt idx="81">
                  <c:v>0.08292682927</c:v>
                </c:pt>
                <c:pt idx="82">
                  <c:v>0.08068459658</c:v>
                </c:pt>
                <c:pt idx="83">
                  <c:v>0.08108108108</c:v>
                </c:pt>
                <c:pt idx="84">
                  <c:v>0.07881773399</c:v>
                </c:pt>
                <c:pt idx="85">
                  <c:v>0.08</c:v>
                </c:pt>
                <c:pt idx="86">
                  <c:v>0.07769423559</c:v>
                </c:pt>
                <c:pt idx="87">
                  <c:v>0.08179419525</c:v>
                </c:pt>
                <c:pt idx="88">
                  <c:v>0.07936507937</c:v>
                </c:pt>
                <c:pt idx="89">
                  <c:v>0.08</c:v>
                </c:pt>
                <c:pt idx="90">
                  <c:v>0.07754010695</c:v>
                </c:pt>
                <c:pt idx="91">
                  <c:v>0.07988980716</c:v>
                </c:pt>
                <c:pt idx="92">
                  <c:v>0.0773480663</c:v>
                </c:pt>
                <c:pt idx="93">
                  <c:v>0.07932011331</c:v>
                </c:pt>
                <c:pt idx="94">
                  <c:v>0.07670454545</c:v>
                </c:pt>
                <c:pt idx="95">
                  <c:v>0.08544303797</c:v>
                </c:pt>
                <c:pt idx="96">
                  <c:v>0.08253968254</c:v>
                </c:pt>
                <c:pt idx="97">
                  <c:v>0.08524590164</c:v>
                </c:pt>
                <c:pt idx="98">
                  <c:v>0.08223684211</c:v>
                </c:pt>
                <c:pt idx="99">
                  <c:v>0.08305647841</c:v>
                </c:pt>
                <c:pt idx="100">
                  <c:v>0.08</c:v>
                </c:pt>
                <c:pt idx="101">
                  <c:v>0.0819112628</c:v>
                </c:pt>
                <c:pt idx="102">
                  <c:v>0.07876712329</c:v>
                </c:pt>
                <c:pt idx="103">
                  <c:v>0.08243727599</c:v>
                </c:pt>
                <c:pt idx="104">
                  <c:v>0.07913669065</c:v>
                </c:pt>
                <c:pt idx="105">
                  <c:v>0.08661417323</c:v>
                </c:pt>
                <c:pt idx="106">
                  <c:v>0.08300395257</c:v>
                </c:pt>
                <c:pt idx="107">
                  <c:v>0.08366533865</c:v>
                </c:pt>
                <c:pt idx="108">
                  <c:v>0.08</c:v>
                </c:pt>
                <c:pt idx="109">
                  <c:v>0.08547008547</c:v>
                </c:pt>
                <c:pt idx="110">
                  <c:v>0.08154506438</c:v>
                </c:pt>
                <c:pt idx="111">
                  <c:v>0.08520179372</c:v>
                </c:pt>
                <c:pt idx="112">
                  <c:v>0.08108108108</c:v>
                </c:pt>
                <c:pt idx="113">
                  <c:v>0.09</c:v>
                </c:pt>
                <c:pt idx="114">
                  <c:v>0.08542713568</c:v>
                </c:pt>
                <c:pt idx="115">
                  <c:v>0.08762886598</c:v>
                </c:pt>
                <c:pt idx="116">
                  <c:v>0.0829015544</c:v>
                </c:pt>
                <c:pt idx="117">
                  <c:v>0.08421052632</c:v>
                </c:pt>
                <c:pt idx="118">
                  <c:v>0.07936507937</c:v>
                </c:pt>
                <c:pt idx="119">
                  <c:v>0.07446808511</c:v>
                </c:pt>
                <c:pt idx="120">
                  <c:v>0.07486631016</c:v>
                </c:pt>
                <c:pt idx="121">
                  <c:v>0.06989247312</c:v>
                </c:pt>
                <c:pt idx="122">
                  <c:v>0.07027027027</c:v>
                </c:pt>
                <c:pt idx="123">
                  <c:v>0.0652173913</c:v>
                </c:pt>
                <c:pt idx="124">
                  <c:v>0.06557377049</c:v>
                </c:pt>
                <c:pt idx="125">
                  <c:v>0.06043956044</c:v>
                </c:pt>
                <c:pt idx="126">
                  <c:v>0.05524861878</c:v>
                </c:pt>
                <c:pt idx="127">
                  <c:v>0.05586592179</c:v>
                </c:pt>
                <c:pt idx="128">
                  <c:v>0.05056179775</c:v>
                </c:pt>
                <c:pt idx="129">
                  <c:v>0.05263157895</c:v>
                </c:pt>
                <c:pt idx="130">
                  <c:v>0.04705882353</c:v>
                </c:pt>
                <c:pt idx="131">
                  <c:v>0.05263157895</c:v>
                </c:pt>
                <c:pt idx="132">
                  <c:v>0.04635761589</c:v>
                </c:pt>
                <c:pt idx="133">
                  <c:v>0.0472972973</c:v>
                </c:pt>
                <c:pt idx="134">
                  <c:v>0.04081632653</c:v>
                </c:pt>
                <c:pt idx="135">
                  <c:v>0.04838709677</c:v>
                </c:pt>
                <c:pt idx="136">
                  <c:v>0.0406504065</c:v>
                </c:pt>
                <c:pt idx="137">
                  <c:v>0.04132231405</c:v>
                </c:pt>
                <c:pt idx="138">
                  <c:v>0.03333333333</c:v>
                </c:pt>
                <c:pt idx="139">
                  <c:v>0.03448275862</c:v>
                </c:pt>
                <c:pt idx="140">
                  <c:v>0.02608695652</c:v>
                </c:pt>
                <c:pt idx="141">
                  <c:v>0.02631578947</c:v>
                </c:pt>
                <c:pt idx="142">
                  <c:v>0.01769911504</c:v>
                </c:pt>
                <c:pt idx="143">
                  <c:v>0.01785714286</c:v>
                </c:pt>
                <c:pt idx="144">
                  <c:v>0.009009009009</c:v>
                </c:pt>
                <c:pt idx="145">
                  <c:v>0</c:v>
                </c:pt>
                <c:pt idx="146">
                  <c:v>0</c:v>
                </c:pt>
                <c:pt idx="147">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Precision: fraud among alerts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Recall: fraction of fraud found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3EA251-280B-4A4F-B9DC-680148821C09}"/>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Card fraud triage</a:t>
            </a:r>
          </a:p>
        </p:txBody>
      </p:sp>
      <p:sp>
        <p:nvSpPr>
          <p:cNvPr id="2" name="">
            <a:extLst xmlns:a="http://schemas.openxmlformats.org/drawingml/2006/main">
              <a:ext uri="{FF2B5EF4-FFF2-40B4-BE49-F238E27FC236}">
                <a16:creationId xmlns:a16="http://schemas.microsoft.com/office/drawing/2014/main" id="{8BF853D7-2790-46CC-8CC0-75342FDEE3AE}"/>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AB47B17C-DA63-4B27-8931-0FBA70B6C642}"/>
              </a:ext>
            </a:extLst>
          </p:cNvPr>
          <p:cNvSpPr>
            <a:spLocks xmlns:a="http://schemas.openxmlformats.org/drawingml/2006/main" noGrp="1"/>
          </p:cNvSpPr>
          <p:nvPr/>
        </p:nvSpPr>
        <p:spPr>
          <a:xfrm xmlns:a="http://schemas.openxmlformats.org/drawingml/2006/main">
            <a:off x="685800" y="2095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24668D"/>
                </a:solidFill>
                <a:latin typeface="Arial"/>
                <a:ea typeface="Arial"/>
                <a:cs typeface="Arial"/>
              </a:defRPr>
            </a:defPPr>
            <a:lvl1pPr>
              <a:defRPr sz="3525" b="1">
                <a:solidFill>
                  <a:srgbClr val="24668D"/>
                </a:solidFill>
                <a:latin typeface="Arial"/>
                <a:ea typeface="Arial"/>
                <a:cs typeface="Arial"/>
              </a:defRPr>
            </a:lvl1pPr>
            <a:lvl2pPr>
              <a:defRPr sz="3525" b="1">
                <a:solidFill>
                  <a:srgbClr val="24668D"/>
                </a:solidFill>
                <a:latin typeface="Arial"/>
                <a:ea typeface="Arial"/>
                <a:cs typeface="Arial"/>
              </a:defRPr>
            </a:lvl2pPr>
            <a:lvl3pPr>
              <a:defRPr sz="3525" b="1">
                <a:solidFill>
                  <a:srgbClr val="24668D"/>
                </a:solidFill>
                <a:latin typeface="Arial"/>
                <a:ea typeface="Arial"/>
                <a:cs typeface="Arial"/>
              </a:defRPr>
            </a:lvl3pPr>
            <a:lvl4pPr>
              <a:defRPr sz="3525" b="1">
                <a:solidFill>
                  <a:srgbClr val="24668D"/>
                </a:solidFill>
                <a:latin typeface="Arial"/>
                <a:ea typeface="Arial"/>
                <a:cs typeface="Arial"/>
              </a:defRPr>
            </a:lvl4pPr>
            <a:lvl5pPr>
              <a:defRPr sz="3525" b="1">
                <a:solidFill>
                  <a:srgbClr val="24668D"/>
                </a:solidFill>
                <a:latin typeface="Arial"/>
                <a:ea typeface="Arial"/>
                <a:cs typeface="Arial"/>
              </a:defRPr>
            </a:lvl5pPr>
            <a:lvl6pPr>
              <a:defRPr sz="3525" b="1">
                <a:solidFill>
                  <a:srgbClr val="24668D"/>
                </a:solidFill>
                <a:latin typeface="Arial"/>
                <a:ea typeface="Arial"/>
                <a:cs typeface="Arial"/>
              </a:defRPr>
            </a:lvl6pPr>
            <a:lvl7pPr>
              <a:defRPr sz="3525" b="1">
                <a:solidFill>
                  <a:srgbClr val="24668D"/>
                </a:solidFill>
                <a:latin typeface="Arial"/>
                <a:ea typeface="Arial"/>
                <a:cs typeface="Arial"/>
              </a:defRPr>
            </a:lvl7pPr>
            <a:lvl8pPr>
              <a:defRPr sz="3525" b="1">
                <a:solidFill>
                  <a:srgbClr val="24668D"/>
                </a:solidFill>
                <a:latin typeface="Arial"/>
                <a:ea typeface="Arial"/>
                <a:cs typeface="Arial"/>
              </a:defRPr>
            </a:lvl8pPr>
            <a:lvl9pPr>
              <a:defRPr sz="3525" b="1">
                <a:solidFill>
                  <a:srgbClr val="24668D"/>
                </a:solidFill>
                <a:latin typeface="Arial"/>
                <a:ea typeface="Arial"/>
                <a:cs typeface="Arial"/>
              </a:defRPr>
            </a:lvl9pPr>
          </a:lstStyle>
          <a:p xmlns:a="http://schemas.openxmlformats.org/drawingml/2006/main">
            <a:pPr>
              <a:defRPr sz="3525" b="1">
                <a:solidFill>
                  <a:srgbClr val="24668D"/>
                </a:solidFill>
                <a:latin typeface="Arial"/>
                <a:ea typeface="Arial"/>
                <a:cs typeface="Arial"/>
              </a:defRPr>
            </a:pPr>
            <a:r>
              <a:rPr sz="3525" b="1">
                <a:solidFill>
                  <a:srgbClr val="24668D"/>
                </a:solidFill>
                <a:latin typeface="Arial"/>
                <a:ea typeface="Arial"/>
                <a:cs typeface="Arial"/>
              </a:rPr>
              <a:t>Learning normal activity with a GMM</a:t>
            </a:r>
          </a:p>
        </p:txBody>
      </p:sp>
      <p:sp>
        <p:nvSpPr>
          <p:cNvPr id="4" name="">
            <a:extLst xmlns:a="http://schemas.openxmlformats.org/drawingml/2006/main">
              <a:ext uri="{FF2B5EF4-FFF2-40B4-BE49-F238E27FC236}">
                <a16:creationId xmlns:a16="http://schemas.microsoft.com/office/drawing/2014/main" id="{B4C9CF1D-71C8-4BE9-9EC3-C95FA0E5C432}"/>
              </a:ext>
            </a:extLst>
          </p:cNvPr>
          <p:cNvSpPr>
            <a:spLocks xmlns:a="http://schemas.openxmlformats.org/drawingml/2006/main" noGrp="1"/>
          </p:cNvSpPr>
          <p:nvPr/>
        </p:nvSpPr>
        <p:spPr>
          <a:xfrm xmlns:a="http://schemas.openxmlformats.org/drawingml/2006/main">
            <a:off x="685800" y="3381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Our goal: decide which transactions a person should review first.</a:t>
            </a:r>
          </a:p>
        </p:txBody>
      </p:sp>
      <p:sp>
        <p:nvSpPr>
          <p:cNvPr id="5" name="">
            <a:extLst xmlns:a="http://schemas.openxmlformats.org/drawingml/2006/main">
              <a:ext uri="{FF2B5EF4-FFF2-40B4-BE49-F238E27FC236}">
                <a16:creationId xmlns:a16="http://schemas.microsoft.com/office/drawing/2014/main" id="{2BE18627-C3AE-4787-9F94-8739A0EAD8B5}"/>
              </a:ext>
            </a:extLst>
          </p:cNvPr>
          <p:cNvSpPr>
            <a:spLocks xmlns:a="http://schemas.openxmlformats.org/drawingml/2006/main" noGrp="1"/>
          </p:cNvSpPr>
          <p:nvPr/>
        </p:nvSpPr>
        <p:spPr>
          <a:xfrm xmlns:a="http://schemas.openxmlformats.org/drawingml/2006/main">
            <a:off x="685800" y="5000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E6472"/>
                </a:solidFill>
                <a:latin typeface="Arial"/>
                <a:ea typeface="Arial"/>
                <a:cs typeface="Arial"/>
              </a:defRPr>
            </a:defPPr>
            <a:lvl1pPr>
              <a:defRPr sz="2175" b="0">
                <a:solidFill>
                  <a:srgbClr val="4E6472"/>
                </a:solidFill>
                <a:latin typeface="Arial"/>
                <a:ea typeface="Arial"/>
                <a:cs typeface="Arial"/>
              </a:defRPr>
            </a:lvl1pPr>
            <a:lvl2pPr>
              <a:defRPr sz="2175" b="0">
                <a:solidFill>
                  <a:srgbClr val="4E6472"/>
                </a:solidFill>
                <a:latin typeface="Arial"/>
                <a:ea typeface="Arial"/>
                <a:cs typeface="Arial"/>
              </a:defRPr>
            </a:lvl2pPr>
            <a:lvl3pPr>
              <a:defRPr sz="2175" b="0">
                <a:solidFill>
                  <a:srgbClr val="4E6472"/>
                </a:solidFill>
                <a:latin typeface="Arial"/>
                <a:ea typeface="Arial"/>
                <a:cs typeface="Arial"/>
              </a:defRPr>
            </a:lvl3pPr>
            <a:lvl4pPr>
              <a:defRPr sz="2175" b="0">
                <a:solidFill>
                  <a:srgbClr val="4E6472"/>
                </a:solidFill>
                <a:latin typeface="Arial"/>
                <a:ea typeface="Arial"/>
                <a:cs typeface="Arial"/>
              </a:defRPr>
            </a:lvl4pPr>
            <a:lvl5pPr>
              <a:defRPr sz="2175" b="0">
                <a:solidFill>
                  <a:srgbClr val="4E6472"/>
                </a:solidFill>
                <a:latin typeface="Arial"/>
                <a:ea typeface="Arial"/>
                <a:cs typeface="Arial"/>
              </a:defRPr>
            </a:lvl5pPr>
            <a:lvl6pPr>
              <a:defRPr sz="2175" b="0">
                <a:solidFill>
                  <a:srgbClr val="4E6472"/>
                </a:solidFill>
                <a:latin typeface="Arial"/>
                <a:ea typeface="Arial"/>
                <a:cs typeface="Arial"/>
              </a:defRPr>
            </a:lvl6pPr>
            <a:lvl7pPr>
              <a:defRPr sz="2175" b="0">
                <a:solidFill>
                  <a:srgbClr val="4E6472"/>
                </a:solidFill>
                <a:latin typeface="Arial"/>
                <a:ea typeface="Arial"/>
                <a:cs typeface="Arial"/>
              </a:defRPr>
            </a:lvl7pPr>
            <a:lvl8pPr>
              <a:defRPr sz="2175" b="0">
                <a:solidFill>
                  <a:srgbClr val="4E6472"/>
                </a:solidFill>
                <a:latin typeface="Arial"/>
                <a:ea typeface="Arial"/>
                <a:cs typeface="Arial"/>
              </a:defRPr>
            </a:lvl8pPr>
            <a:lvl9pPr>
              <a:defRPr sz="2175" b="0">
                <a:solidFill>
                  <a:srgbClr val="4E6472"/>
                </a:solidFill>
                <a:latin typeface="Arial"/>
                <a:ea typeface="Arial"/>
                <a:cs typeface="Arial"/>
              </a:defRPr>
            </a:lvl9pPr>
          </a:lstStyle>
          <a:p xmlns:a="http://schemas.openxmlformats.org/drawingml/2006/main">
            <a:pPr>
              <a:defRPr sz="2175" b="0">
                <a:solidFill>
                  <a:srgbClr val="4E6472"/>
                </a:solidFill>
                <a:latin typeface="Arial"/>
                <a:ea typeface="Arial"/>
                <a:cs typeface="Arial"/>
              </a:defRPr>
            </a:pPr>
            <a:r>
              <a:rPr sz="2175" b="0">
                <a:solidFill>
                  <a:srgbClr val="4E6472"/>
                </a:solidFill>
                <a:latin typeface="Arial"/>
                <a:ea typeface="Arial"/>
                <a:cs typeface="Arial"/>
              </a:rPr>
              <a:t>Phase 1 only. Team T011, Section A, Project 26.</a:t>
            </a:r>
          </a:p>
        </p:txBody>
      </p:sp>
    </p:spTree>
    <p:extLst>
      <p:ext uri="{BB962C8B-B14F-4D97-AF65-F5344CB8AC3E}">
        <p14:creationId xmlns:p14="http://schemas.microsoft.com/office/powerpoint/2010/main" val="1073610229"/>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6A7A2D-59F2-4E80-875C-2853AC4F4F33}"/>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Literature behind the method</a:t>
            </a:r>
          </a:p>
        </p:txBody>
      </p:sp>
      <p:sp>
        <p:nvSpPr>
          <p:cNvPr id="2" name="">
            <a:extLst xmlns:a="http://schemas.openxmlformats.org/drawingml/2006/main">
              <a:ext uri="{FF2B5EF4-FFF2-40B4-BE49-F238E27FC236}">
                <a16:creationId xmlns:a16="http://schemas.microsoft.com/office/drawing/2014/main" id="{2099F307-BBCA-4086-AD9A-720EAA552A38}"/>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1EB86D97-DDB8-4DDD-B19A-77AE211BEE3B}"/>
              </a:ext>
            </a:extLst>
          </p:cNvPr>
          <p:cNvSpPr>
            <a:spLocks xmlns:a="http://schemas.openxmlformats.org/drawingml/2006/main" noGrp="1"/>
          </p:cNvSpPr>
          <p:nvPr/>
        </p:nvSpPr>
        <p:spPr>
          <a:xfrm xmlns:a="http://schemas.openxmlformats.org/drawingml/2006/main">
            <a:off x="685800" y="16668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24668D"/>
                </a:solidFill>
                <a:latin typeface="Arial"/>
                <a:ea typeface="Arial"/>
                <a:cs typeface="Arial"/>
              </a:defRPr>
            </a:defPPr>
            <a:lvl1pPr>
              <a:defRPr sz="2475" b="0">
                <a:solidFill>
                  <a:srgbClr val="24668D"/>
                </a:solidFill>
                <a:latin typeface="Arial"/>
                <a:ea typeface="Arial"/>
                <a:cs typeface="Arial"/>
              </a:defRPr>
            </a:lvl1pPr>
            <a:lvl2pPr>
              <a:defRPr sz="2475" b="0">
                <a:solidFill>
                  <a:srgbClr val="24668D"/>
                </a:solidFill>
                <a:latin typeface="Arial"/>
                <a:ea typeface="Arial"/>
                <a:cs typeface="Arial"/>
              </a:defRPr>
            </a:lvl2pPr>
            <a:lvl3pPr>
              <a:defRPr sz="2475" b="0">
                <a:solidFill>
                  <a:srgbClr val="24668D"/>
                </a:solidFill>
                <a:latin typeface="Arial"/>
                <a:ea typeface="Arial"/>
                <a:cs typeface="Arial"/>
              </a:defRPr>
            </a:lvl3pPr>
            <a:lvl4pPr>
              <a:defRPr sz="2475" b="0">
                <a:solidFill>
                  <a:srgbClr val="24668D"/>
                </a:solidFill>
                <a:latin typeface="Arial"/>
                <a:ea typeface="Arial"/>
                <a:cs typeface="Arial"/>
              </a:defRPr>
            </a:lvl4pPr>
            <a:lvl5pPr>
              <a:defRPr sz="2475" b="0">
                <a:solidFill>
                  <a:srgbClr val="24668D"/>
                </a:solidFill>
                <a:latin typeface="Arial"/>
                <a:ea typeface="Arial"/>
                <a:cs typeface="Arial"/>
              </a:defRPr>
            </a:lvl5pPr>
            <a:lvl6pPr>
              <a:defRPr sz="2475" b="0">
                <a:solidFill>
                  <a:srgbClr val="24668D"/>
                </a:solidFill>
                <a:latin typeface="Arial"/>
                <a:ea typeface="Arial"/>
                <a:cs typeface="Arial"/>
              </a:defRPr>
            </a:lvl6pPr>
            <a:lvl7pPr>
              <a:defRPr sz="2475" b="0">
                <a:solidFill>
                  <a:srgbClr val="24668D"/>
                </a:solidFill>
                <a:latin typeface="Arial"/>
                <a:ea typeface="Arial"/>
                <a:cs typeface="Arial"/>
              </a:defRPr>
            </a:lvl7pPr>
            <a:lvl8pPr>
              <a:defRPr sz="2475" b="0">
                <a:solidFill>
                  <a:srgbClr val="24668D"/>
                </a:solidFill>
                <a:latin typeface="Arial"/>
                <a:ea typeface="Arial"/>
                <a:cs typeface="Arial"/>
              </a:defRPr>
            </a:lvl8pPr>
            <a:lvl9pPr>
              <a:defRPr sz="2475" b="0">
                <a:solidFill>
                  <a:srgbClr val="24668D"/>
                </a:solidFill>
                <a:latin typeface="Arial"/>
                <a:ea typeface="Arial"/>
                <a:cs typeface="Arial"/>
              </a:defRPr>
            </a:lvl9pPr>
          </a:lstStyle>
          <a:p xmlns:a="http://schemas.openxmlformats.org/drawingml/2006/main">
            <a:pPr>
              <a:defRPr sz="2475" b="0">
                <a:solidFill>
                  <a:srgbClr val="24668D"/>
                </a:solidFill>
                <a:latin typeface="Arial"/>
                <a:ea typeface="Arial"/>
                <a:cs typeface="Arial"/>
              </a:defRPr>
            </a:pPr>
            <a:r>
              <a:rPr sz="2475" b="0">
                <a:solidFill>
                  <a:srgbClr val="24668D"/>
                </a:solidFill>
                <a:latin typeface="Arial"/>
                <a:ea typeface="Arial"/>
                <a:cs typeface="Arial"/>
              </a:rPr>
              <a:t>EM explains fitting the hidden component memberships.</a:t>
            </a:r>
          </a:p>
        </p:txBody>
      </p:sp>
      <p:sp>
        <p:nvSpPr>
          <p:cNvPr id="4" name="">
            <a:extLst xmlns:a="http://schemas.openxmlformats.org/drawingml/2006/main">
              <a:ext uri="{FF2B5EF4-FFF2-40B4-BE49-F238E27FC236}">
                <a16:creationId xmlns:a16="http://schemas.microsoft.com/office/drawing/2014/main" id="{107F756A-0279-4DBD-B6E9-A32FA03E759F}"/>
              </a:ext>
            </a:extLst>
          </p:cNvPr>
          <p:cNvSpPr>
            <a:spLocks xmlns:a="http://schemas.openxmlformats.org/drawingml/2006/main" noGrp="1"/>
          </p:cNvSpPr>
          <p:nvPr/>
        </p:nvSpPr>
        <p:spPr>
          <a:xfrm xmlns:a="http://schemas.openxmlformats.org/drawingml/2006/main">
            <a:off x="685800" y="27622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PR measures expose the burden of false alerts when fraud is rare.</a:t>
            </a:r>
          </a:p>
        </p:txBody>
      </p:sp>
      <p:sp>
        <p:nvSpPr>
          <p:cNvPr id="5" name="">
            <a:extLst xmlns:a="http://schemas.openxmlformats.org/drawingml/2006/main">
              <a:ext uri="{FF2B5EF4-FFF2-40B4-BE49-F238E27FC236}">
                <a16:creationId xmlns:a16="http://schemas.microsoft.com/office/drawing/2014/main" id="{A330603E-C3D5-4BB0-A9A0-119A74C054E1}"/>
              </a:ext>
            </a:extLst>
          </p:cNvPr>
          <p:cNvSpPr>
            <a:spLocks xmlns:a="http://schemas.openxmlformats.org/drawingml/2006/main" noGrp="1"/>
          </p:cNvSpPr>
          <p:nvPr/>
        </p:nvSpPr>
        <p:spPr>
          <a:xfrm xmlns:a="http://schemas.openxmlformats.org/drawingml/2006/main">
            <a:off x="685800" y="39052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AIC and BIC balance legitimate density fit against extra parameters.</a:t>
            </a:r>
          </a:p>
        </p:txBody>
      </p:sp>
      <p:sp>
        <p:nvSpPr>
          <p:cNvPr id="6" name="">
            <a:extLst xmlns:a="http://schemas.openxmlformats.org/drawingml/2006/main">
              <a:ext uri="{FF2B5EF4-FFF2-40B4-BE49-F238E27FC236}">
                <a16:creationId xmlns:a16="http://schemas.microsoft.com/office/drawing/2014/main" id="{FE6EBB67-A500-4480-B452-120392FC63E9}"/>
              </a:ext>
            </a:extLst>
          </p:cNvPr>
          <p:cNvSpPr>
            <a:spLocks xmlns:a="http://schemas.openxmlformats.org/drawingml/2006/main" noGrp="1"/>
          </p:cNvSpPr>
          <p:nvPr/>
        </p:nvSpPr>
        <p:spPr>
          <a:xfrm xmlns:a="http://schemas.openxmlformats.org/drawingml/2006/main">
            <a:off x="685800" y="5238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4E6472"/>
                </a:solidFill>
                <a:latin typeface="Arial"/>
                <a:ea typeface="Arial"/>
                <a:cs typeface="Arial"/>
              </a:defRPr>
            </a:defPPr>
            <a:lvl1pPr>
              <a:defRPr sz="2100" b="0">
                <a:solidFill>
                  <a:srgbClr val="4E6472"/>
                </a:solidFill>
                <a:latin typeface="Arial"/>
                <a:ea typeface="Arial"/>
                <a:cs typeface="Arial"/>
              </a:defRPr>
            </a:lvl1pPr>
            <a:lvl2pPr>
              <a:defRPr sz="2100" b="0">
                <a:solidFill>
                  <a:srgbClr val="4E6472"/>
                </a:solidFill>
                <a:latin typeface="Arial"/>
                <a:ea typeface="Arial"/>
                <a:cs typeface="Arial"/>
              </a:defRPr>
            </a:lvl2pPr>
            <a:lvl3pPr>
              <a:defRPr sz="2100" b="0">
                <a:solidFill>
                  <a:srgbClr val="4E6472"/>
                </a:solidFill>
                <a:latin typeface="Arial"/>
                <a:ea typeface="Arial"/>
                <a:cs typeface="Arial"/>
              </a:defRPr>
            </a:lvl3pPr>
            <a:lvl4pPr>
              <a:defRPr sz="2100" b="0">
                <a:solidFill>
                  <a:srgbClr val="4E6472"/>
                </a:solidFill>
                <a:latin typeface="Arial"/>
                <a:ea typeface="Arial"/>
                <a:cs typeface="Arial"/>
              </a:defRPr>
            </a:lvl4pPr>
            <a:lvl5pPr>
              <a:defRPr sz="2100" b="0">
                <a:solidFill>
                  <a:srgbClr val="4E6472"/>
                </a:solidFill>
                <a:latin typeface="Arial"/>
                <a:ea typeface="Arial"/>
                <a:cs typeface="Arial"/>
              </a:defRPr>
            </a:lvl5pPr>
            <a:lvl6pPr>
              <a:defRPr sz="2100" b="0">
                <a:solidFill>
                  <a:srgbClr val="4E6472"/>
                </a:solidFill>
                <a:latin typeface="Arial"/>
                <a:ea typeface="Arial"/>
                <a:cs typeface="Arial"/>
              </a:defRPr>
            </a:lvl6pPr>
            <a:lvl7pPr>
              <a:defRPr sz="2100" b="0">
                <a:solidFill>
                  <a:srgbClr val="4E6472"/>
                </a:solidFill>
                <a:latin typeface="Arial"/>
                <a:ea typeface="Arial"/>
                <a:cs typeface="Arial"/>
              </a:defRPr>
            </a:lvl7pPr>
            <a:lvl8pPr>
              <a:defRPr sz="2100" b="0">
                <a:solidFill>
                  <a:srgbClr val="4E6472"/>
                </a:solidFill>
                <a:latin typeface="Arial"/>
                <a:ea typeface="Arial"/>
                <a:cs typeface="Arial"/>
              </a:defRPr>
            </a:lvl8pPr>
            <a:lvl9pPr>
              <a:defRPr sz="2100" b="0">
                <a:solidFill>
                  <a:srgbClr val="4E6472"/>
                </a:solidFill>
                <a:latin typeface="Arial"/>
                <a:ea typeface="Arial"/>
                <a:cs typeface="Arial"/>
              </a:defRPr>
            </a:lvl9pPr>
          </a:lstStyle>
          <a:p xmlns:a="http://schemas.openxmlformats.org/drawingml/2006/main">
            <a:pPr>
              <a:defRPr sz="2100" b="0">
                <a:solidFill>
                  <a:srgbClr val="4E6472"/>
                </a:solidFill>
                <a:latin typeface="Arial"/>
                <a:ea typeface="Arial"/>
                <a:cs typeface="Arial"/>
              </a:defRPr>
            </a:pPr>
            <a:r>
              <a:rPr sz="2100" b="0">
                <a:solidFill>
                  <a:srgbClr val="4E6472"/>
                </a:solidFill>
                <a:latin typeface="Arial"/>
                <a:ea typeface="Arial"/>
                <a:cs typeface="Arial"/>
              </a:rPr>
              <a:t>Our results come from the experiment, not from another paper.</a:t>
            </a:r>
          </a:p>
        </p:txBody>
      </p:sp>
    </p:spTree>
    <p:extLst>
      <p:ext uri="{BB962C8B-B14F-4D97-AF65-F5344CB8AC3E}">
        <p14:creationId xmlns:p14="http://schemas.microsoft.com/office/powerpoint/2010/main" val="143278568"/>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1ADB14-21F2-4D04-A29A-69744B35C5E8}"/>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data and the three time periods</a:t>
            </a:r>
          </a:p>
        </p:txBody>
      </p:sp>
      <p:sp>
        <p:nvSpPr>
          <p:cNvPr id="2" name="">
            <a:extLst xmlns:a="http://schemas.openxmlformats.org/drawingml/2006/main">
              <a:ext uri="{FF2B5EF4-FFF2-40B4-BE49-F238E27FC236}">
                <a16:creationId xmlns:a16="http://schemas.microsoft.com/office/drawing/2014/main" id="{E1BBAAE2-330E-4E5B-A3C6-2B926FD439F8}"/>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FB22F3BE-6A95-4503-94E0-5B6F091490F2}"/>
              </a:ext>
            </a:extLst>
          </p:cNvPr>
          <p:cNvSpPr>
            <a:spLocks xmlns:a="http://schemas.openxmlformats.org/drawingml/2006/main" noGrp="1"/>
          </p:cNvSpPr>
          <p:nvPr/>
        </p:nvSpPr>
        <p:spPr>
          <a:xfrm xmlns:a="http://schemas.openxmlformats.org/drawingml/2006/main">
            <a:off x="685800" y="1428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283,726 transactions after removing exact repeats. Class 0 = legitimate, 1 = fraud.</a:t>
            </a:r>
          </a:p>
        </p:txBody>
      </p:sp>
      <p:graphicFrame>
        <p:nvGraphicFramePr>
          <p:cNvPr id="4" name="">
            <a:extLst xmlns:a="http://schemas.openxmlformats.org/drawingml/2006/main">
              <a:ext uri="{FF2B5EF4-FFF2-40B4-BE49-F238E27FC236}">
                <a16:creationId xmlns:a16="http://schemas.microsoft.com/office/drawing/2014/main" id="{D41FAE62-0DD0-4E7E-91F2-C89ABA102B90}"/>
              </a:ext>
            </a:extLst>
          </p:cNvPr>
          <p:cNvGraphicFramePr/>
          <p:nvPr/>
        </p:nvGraphicFramePr>
        <p:xfrm>
          <a:off xmlns:a="http://schemas.openxmlformats.org/drawingml/2006/main" x="685800" y="2428875"/>
          <a:ext xmlns:a="http://schemas.openxmlformats.org/drawingml/2006/main" cx="10572750" cy="2667000"/>
        </p:xfrm>
        <a:graphic xmlns:a="http://schemas.openxmlformats.org/drawingml/2006/main">
          <a:graphicData uri="http://schemas.openxmlformats.org/drawingml/2006/table">
            <a:tbl>
              <a:tblPr/>
              <a:tblGrid>
                <a:gridCol w="3714750"/>
                <a:gridCol w="3714750"/>
                <a:gridCol w="3143250"/>
              </a:tblGrid>
              <a:tr h="666750">
                <a:tc>
                  <a:txBody>
                    <a:bodyPr/>
                    <a:lstStyle/>
                    <a:p>
                      <a:r>
                        <a:rPr sz="2025" b="1">
                          <a:solidFill>
                            <a:srgbClr val="FFFFFF"/>
                          </a:solidFill>
                          <a:latin typeface="Arial"/>
                          <a:ea typeface="Arial"/>
                          <a:cs typeface="Arial"/>
                        </a:rPr>
                        <a:t>Period</a:t>
                      </a:r>
                    </a:p>
                  </a:txBody>
                  <a:tcPr marL="133350" marR="114300" marT="95250" marB="95250">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Transactions</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Frauds</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666750">
                <a:tc>
                  <a:txBody>
                    <a:bodyPr/>
                    <a:lstStyle/>
                    <a:p>
                      <a:r>
                        <a:rPr sz="2025">
                          <a:solidFill>
                            <a:srgbClr val="173447"/>
                          </a:solidFill>
                          <a:latin typeface="Arial"/>
                          <a:ea typeface="Arial"/>
                          <a:cs typeface="Arial"/>
                        </a:rPr>
                        <a:t>Training</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170,235</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342</a:t>
                      </a:r>
                    </a:p>
                  </a:txBody>
                  <a:tcPr marL="133350" marR="114300" marT="95250" marB="95250">
                    <a:lnR w="9525">
                      <a:solidFill>
                        <a:srgbClr val="DDE3E7"/>
                      </a:solidFill>
                      <a:prstDash val="solid"/>
                    </a:lnR>
                    <a:lnB w="9525">
                      <a:solidFill>
                        <a:srgbClr val="DDE3E7"/>
                      </a:solidFill>
                      <a:prstDash val="solid"/>
                    </a:lnB>
                  </a:tcPr>
                </a:tc>
              </a:tr>
              <a:tr h="666750">
                <a:tc>
                  <a:txBody>
                    <a:bodyPr/>
                    <a:lstStyle/>
                    <a:p>
                      <a:r>
                        <a:rPr sz="2025">
                          <a:solidFill>
                            <a:srgbClr val="173447"/>
                          </a:solidFill>
                          <a:latin typeface="Arial"/>
                          <a:ea typeface="Arial"/>
                          <a:cs typeface="Arial"/>
                        </a:rPr>
                        <a:t>Validation</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56,745</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57</a:t>
                      </a:r>
                    </a:p>
                  </a:txBody>
                  <a:tcPr marL="133350" marR="114300" marT="95250" marB="95250">
                    <a:lnR w="9525">
                      <a:solidFill>
                        <a:srgbClr val="DDE3E7"/>
                      </a:solidFill>
                      <a:prstDash val="solid"/>
                    </a:lnR>
                    <a:lnB w="9525">
                      <a:solidFill>
                        <a:srgbClr val="DDE3E7"/>
                      </a:solidFill>
                      <a:prstDash val="solid"/>
                    </a:lnB>
                  </a:tcPr>
                </a:tc>
              </a:tr>
              <a:tr h="666750">
                <a:tc>
                  <a:txBody>
                    <a:bodyPr/>
                    <a:lstStyle/>
                    <a:p>
                      <a:r>
                        <a:rPr sz="2025">
                          <a:solidFill>
                            <a:srgbClr val="173447"/>
                          </a:solidFill>
                          <a:latin typeface="Arial"/>
                          <a:ea typeface="Arial"/>
                          <a:cs typeface="Arial"/>
                        </a:rPr>
                        <a:t>Test</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56,746</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74</a:t>
                      </a:r>
                    </a:p>
                  </a:txBody>
                  <a:tcPr marL="133350" marR="114300" marT="95250" marB="95250">
                    <a:lnR w="9525">
                      <a:solidFill>
                        <a:srgbClr val="DDE3E7"/>
                      </a:solidFill>
                      <a:prstDash val="solid"/>
                    </a:lnR>
                    <a:lnB w="9525">
                      <a:solidFill>
                        <a:srgbClr val="DDE3E7"/>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F87D24E5-4873-46EE-A1BD-8C4920743565}"/>
              </a:ext>
            </a:extLst>
          </p:cNvPr>
          <p:cNvSpPr>
            <a:spLocks xmlns:a="http://schemas.openxmlformats.org/drawingml/2006/main" noGrp="1"/>
          </p:cNvSpPr>
          <p:nvPr/>
        </p:nvSpPr>
        <p:spPr>
          <a:xfrm xmlns:a="http://schemas.openxmlformats.org/drawingml/2006/main">
            <a:off x="685800" y="5410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668D"/>
                </a:solidFill>
                <a:latin typeface="Arial"/>
                <a:ea typeface="Arial"/>
                <a:cs typeface="Arial"/>
              </a:defRPr>
            </a:defPPr>
            <a:lvl1pPr>
              <a:defRPr sz="2325" b="0">
                <a:solidFill>
                  <a:srgbClr val="24668D"/>
                </a:solidFill>
                <a:latin typeface="Arial"/>
                <a:ea typeface="Arial"/>
                <a:cs typeface="Arial"/>
              </a:defRPr>
            </a:lvl1pPr>
            <a:lvl2pPr>
              <a:defRPr sz="2325" b="0">
                <a:solidFill>
                  <a:srgbClr val="24668D"/>
                </a:solidFill>
                <a:latin typeface="Arial"/>
                <a:ea typeface="Arial"/>
                <a:cs typeface="Arial"/>
              </a:defRPr>
            </a:lvl2pPr>
            <a:lvl3pPr>
              <a:defRPr sz="2325" b="0">
                <a:solidFill>
                  <a:srgbClr val="24668D"/>
                </a:solidFill>
                <a:latin typeface="Arial"/>
                <a:ea typeface="Arial"/>
                <a:cs typeface="Arial"/>
              </a:defRPr>
            </a:lvl3pPr>
            <a:lvl4pPr>
              <a:defRPr sz="2325" b="0">
                <a:solidFill>
                  <a:srgbClr val="24668D"/>
                </a:solidFill>
                <a:latin typeface="Arial"/>
                <a:ea typeface="Arial"/>
                <a:cs typeface="Arial"/>
              </a:defRPr>
            </a:lvl4pPr>
            <a:lvl5pPr>
              <a:defRPr sz="2325" b="0">
                <a:solidFill>
                  <a:srgbClr val="24668D"/>
                </a:solidFill>
                <a:latin typeface="Arial"/>
                <a:ea typeface="Arial"/>
                <a:cs typeface="Arial"/>
              </a:defRPr>
            </a:lvl5pPr>
            <a:lvl6pPr>
              <a:defRPr sz="2325" b="0">
                <a:solidFill>
                  <a:srgbClr val="24668D"/>
                </a:solidFill>
                <a:latin typeface="Arial"/>
                <a:ea typeface="Arial"/>
                <a:cs typeface="Arial"/>
              </a:defRPr>
            </a:lvl6pPr>
            <a:lvl7pPr>
              <a:defRPr sz="2325" b="0">
                <a:solidFill>
                  <a:srgbClr val="24668D"/>
                </a:solidFill>
                <a:latin typeface="Arial"/>
                <a:ea typeface="Arial"/>
                <a:cs typeface="Arial"/>
              </a:defRPr>
            </a:lvl7pPr>
            <a:lvl8pPr>
              <a:defRPr sz="2325" b="0">
                <a:solidFill>
                  <a:srgbClr val="24668D"/>
                </a:solidFill>
                <a:latin typeface="Arial"/>
                <a:ea typeface="Arial"/>
                <a:cs typeface="Arial"/>
              </a:defRPr>
            </a:lvl8pPr>
            <a:lvl9pPr>
              <a:defRPr sz="2325" b="0">
                <a:solidFill>
                  <a:srgbClr val="24668D"/>
                </a:solidFill>
                <a:latin typeface="Arial"/>
                <a:ea typeface="Arial"/>
                <a:cs typeface="Arial"/>
              </a:defRPr>
            </a:lvl9pPr>
          </a:lstStyle>
          <a:p xmlns:a="http://schemas.openxmlformats.org/drawingml/2006/main">
            <a:pPr>
              <a:defRPr sz="2325" b="0">
                <a:solidFill>
                  <a:srgbClr val="24668D"/>
                </a:solidFill>
                <a:latin typeface="Arial"/>
                <a:ea typeface="Arial"/>
                <a:cs typeface="Arial"/>
              </a:defRPr>
            </a:pPr>
            <a:r>
              <a:rPr sz="2325" b="0">
                <a:solidFill>
                  <a:srgbClr val="24668D"/>
                </a:solidFill>
                <a:latin typeface="Arial"/>
                <a:ea typeface="Arial"/>
                <a:cs typeface="Arial"/>
              </a:rPr>
              <a:t>Only 169,893 legitimate training rows teach the model.</a:t>
            </a:r>
          </a:p>
        </p:txBody>
      </p:sp>
    </p:spTree>
    <p:extLst>
      <p:ext uri="{BB962C8B-B14F-4D97-AF65-F5344CB8AC3E}">
        <p14:creationId xmlns:p14="http://schemas.microsoft.com/office/powerpoint/2010/main" val="341000518"/>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5A8CB1-742B-4AAD-9246-53169B0186FA}"/>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29 inputs</a:t>
            </a:r>
          </a:p>
        </p:txBody>
      </p:sp>
      <p:sp>
        <p:nvSpPr>
          <p:cNvPr id="2" name="">
            <a:extLst xmlns:a="http://schemas.openxmlformats.org/drawingml/2006/main">
              <a:ext uri="{FF2B5EF4-FFF2-40B4-BE49-F238E27FC236}">
                <a16:creationId xmlns:a16="http://schemas.microsoft.com/office/drawing/2014/main" id="{AE6A9C76-8A41-4F90-A377-DF0650EFB181}"/>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225AF163-9E7D-4AB9-A1EF-4A1311C7C181}"/>
              </a:ext>
            </a:extLst>
          </p:cNvPr>
          <p:cNvSpPr>
            <a:spLocks xmlns:a="http://schemas.openxmlformats.org/drawingml/2006/main" noGrp="1"/>
          </p:cNvSpPr>
          <p:nvPr/>
        </p:nvSpPr>
        <p:spPr>
          <a:xfrm xmlns:a="http://schemas.openxmlformats.org/drawingml/2006/main">
            <a:off x="685800" y="161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24668D"/>
                </a:solidFill>
                <a:latin typeface="Arial"/>
                <a:ea typeface="Arial"/>
                <a:cs typeface="Arial"/>
              </a:defRPr>
            </a:defPPr>
            <a:lvl1pPr>
              <a:defRPr sz="2625" b="0">
                <a:solidFill>
                  <a:srgbClr val="24668D"/>
                </a:solidFill>
                <a:latin typeface="Arial"/>
                <a:ea typeface="Arial"/>
                <a:cs typeface="Arial"/>
              </a:defRPr>
            </a:lvl1pPr>
            <a:lvl2pPr>
              <a:defRPr sz="2625" b="0">
                <a:solidFill>
                  <a:srgbClr val="24668D"/>
                </a:solidFill>
                <a:latin typeface="Arial"/>
                <a:ea typeface="Arial"/>
                <a:cs typeface="Arial"/>
              </a:defRPr>
            </a:lvl2pPr>
            <a:lvl3pPr>
              <a:defRPr sz="2625" b="0">
                <a:solidFill>
                  <a:srgbClr val="24668D"/>
                </a:solidFill>
                <a:latin typeface="Arial"/>
                <a:ea typeface="Arial"/>
                <a:cs typeface="Arial"/>
              </a:defRPr>
            </a:lvl3pPr>
            <a:lvl4pPr>
              <a:defRPr sz="2625" b="0">
                <a:solidFill>
                  <a:srgbClr val="24668D"/>
                </a:solidFill>
                <a:latin typeface="Arial"/>
                <a:ea typeface="Arial"/>
                <a:cs typeface="Arial"/>
              </a:defRPr>
            </a:lvl4pPr>
            <a:lvl5pPr>
              <a:defRPr sz="2625" b="0">
                <a:solidFill>
                  <a:srgbClr val="24668D"/>
                </a:solidFill>
                <a:latin typeface="Arial"/>
                <a:ea typeface="Arial"/>
                <a:cs typeface="Arial"/>
              </a:defRPr>
            </a:lvl5pPr>
            <a:lvl6pPr>
              <a:defRPr sz="2625" b="0">
                <a:solidFill>
                  <a:srgbClr val="24668D"/>
                </a:solidFill>
                <a:latin typeface="Arial"/>
                <a:ea typeface="Arial"/>
                <a:cs typeface="Arial"/>
              </a:defRPr>
            </a:lvl6pPr>
            <a:lvl7pPr>
              <a:defRPr sz="2625" b="0">
                <a:solidFill>
                  <a:srgbClr val="24668D"/>
                </a:solidFill>
                <a:latin typeface="Arial"/>
                <a:ea typeface="Arial"/>
                <a:cs typeface="Arial"/>
              </a:defRPr>
            </a:lvl7pPr>
            <a:lvl8pPr>
              <a:defRPr sz="2625" b="0">
                <a:solidFill>
                  <a:srgbClr val="24668D"/>
                </a:solidFill>
                <a:latin typeface="Arial"/>
                <a:ea typeface="Arial"/>
                <a:cs typeface="Arial"/>
              </a:defRPr>
            </a:lvl8pPr>
            <a:lvl9pPr>
              <a:defRPr sz="2625" b="0">
                <a:solidFill>
                  <a:srgbClr val="24668D"/>
                </a:solidFill>
                <a:latin typeface="Arial"/>
                <a:ea typeface="Arial"/>
                <a:cs typeface="Arial"/>
              </a:defRPr>
            </a:lvl9pPr>
          </a:lstStyle>
          <a:p xmlns:a="http://schemas.openxmlformats.org/drawingml/2006/main">
            <a:pPr>
              <a:defRPr sz="2625" b="0">
                <a:solidFill>
                  <a:srgbClr val="24668D"/>
                </a:solidFill>
                <a:latin typeface="Arial"/>
                <a:ea typeface="Arial"/>
                <a:cs typeface="Arial"/>
              </a:defRPr>
            </a:pPr>
            <a:r>
              <a:rPr sz="2625" b="0">
                <a:solidFill>
                  <a:srgbClr val="24668D"/>
                </a:solidFill>
                <a:latin typeface="Arial"/>
                <a:ea typeface="Arial"/>
                <a:cs typeface="Arial"/>
              </a:rPr>
              <a:t>V1-V28 plus LogAmount = log(1 + Amount)</a:t>
            </a:r>
          </a:p>
        </p:txBody>
      </p:sp>
      <p:sp>
        <p:nvSpPr>
          <p:cNvPr id="4" name="">
            <a:extLst xmlns:a="http://schemas.openxmlformats.org/drawingml/2006/main">
              <a:ext uri="{FF2B5EF4-FFF2-40B4-BE49-F238E27FC236}">
                <a16:creationId xmlns:a16="http://schemas.microsoft.com/office/drawing/2014/main" id="{ADC18F3D-27B4-493C-BEFF-B66AB278CAB2}"/>
              </a:ext>
            </a:extLst>
          </p:cNvPr>
          <p:cNvSpPr>
            <a:spLocks xmlns:a="http://schemas.openxmlformats.org/drawingml/2006/main" noGrp="1"/>
          </p:cNvSpPr>
          <p:nvPr/>
        </p:nvSpPr>
        <p:spPr>
          <a:xfrm xmlns:a="http://schemas.openxmlformats.org/drawingml/2006/main">
            <a:off x="685800" y="2667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Example of the transform: Amount 9 becomes 2.30; 999 becomes 6.91.</a:t>
            </a:r>
          </a:p>
        </p:txBody>
      </p:sp>
      <p:sp>
        <p:nvSpPr>
          <p:cNvPr id="5" name="">
            <a:extLst xmlns:a="http://schemas.openxmlformats.org/drawingml/2006/main">
              <a:ext uri="{FF2B5EF4-FFF2-40B4-BE49-F238E27FC236}">
                <a16:creationId xmlns:a16="http://schemas.microsoft.com/office/drawing/2014/main" id="{5F42EB9D-9AC1-49E6-9C38-DBB0D02EDABF}"/>
              </a:ext>
            </a:extLst>
          </p:cNvPr>
          <p:cNvSpPr>
            <a:spLocks xmlns:a="http://schemas.openxmlformats.org/drawingml/2006/main" noGrp="1"/>
          </p:cNvSpPr>
          <p:nvPr/>
        </p:nvSpPr>
        <p:spPr>
          <a:xfrm xmlns:a="http://schemas.openxmlformats.org/drawingml/2006/main">
            <a:off x="685800" y="3714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Scale each input using the legitimate training mean and standard deviation.</a:t>
            </a:r>
          </a:p>
        </p:txBody>
      </p:sp>
      <p:sp>
        <p:nvSpPr>
          <p:cNvPr id="6" name="">
            <a:extLst xmlns:a="http://schemas.openxmlformats.org/drawingml/2006/main">
              <a:ext uri="{FF2B5EF4-FFF2-40B4-BE49-F238E27FC236}">
                <a16:creationId xmlns:a16="http://schemas.microsoft.com/office/drawing/2014/main" id="{76E865C4-3957-4216-9B2D-CC9FC36ED6C6}"/>
              </a:ext>
            </a:extLst>
          </p:cNvPr>
          <p:cNvSpPr>
            <a:spLocks xmlns:a="http://schemas.openxmlformats.org/drawingml/2006/main" noGrp="1"/>
          </p:cNvSpPr>
          <p:nvPr/>
        </p:nvSpPr>
        <p:spPr>
          <a:xfrm xmlns:a="http://schemas.openxmlformats.org/drawingml/2006/main">
            <a:off x="6858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E6472"/>
                </a:solidFill>
                <a:latin typeface="Arial"/>
                <a:ea typeface="Arial"/>
                <a:cs typeface="Arial"/>
              </a:defRPr>
            </a:defPPr>
            <a:lvl1pPr>
              <a:defRPr sz="2175" b="0">
                <a:solidFill>
                  <a:srgbClr val="4E6472"/>
                </a:solidFill>
                <a:latin typeface="Arial"/>
                <a:ea typeface="Arial"/>
                <a:cs typeface="Arial"/>
              </a:defRPr>
            </a:lvl1pPr>
            <a:lvl2pPr>
              <a:defRPr sz="2175" b="0">
                <a:solidFill>
                  <a:srgbClr val="4E6472"/>
                </a:solidFill>
                <a:latin typeface="Arial"/>
                <a:ea typeface="Arial"/>
                <a:cs typeface="Arial"/>
              </a:defRPr>
            </a:lvl2pPr>
            <a:lvl3pPr>
              <a:defRPr sz="2175" b="0">
                <a:solidFill>
                  <a:srgbClr val="4E6472"/>
                </a:solidFill>
                <a:latin typeface="Arial"/>
                <a:ea typeface="Arial"/>
                <a:cs typeface="Arial"/>
              </a:defRPr>
            </a:lvl3pPr>
            <a:lvl4pPr>
              <a:defRPr sz="2175" b="0">
                <a:solidFill>
                  <a:srgbClr val="4E6472"/>
                </a:solidFill>
                <a:latin typeface="Arial"/>
                <a:ea typeface="Arial"/>
                <a:cs typeface="Arial"/>
              </a:defRPr>
            </a:lvl4pPr>
            <a:lvl5pPr>
              <a:defRPr sz="2175" b="0">
                <a:solidFill>
                  <a:srgbClr val="4E6472"/>
                </a:solidFill>
                <a:latin typeface="Arial"/>
                <a:ea typeface="Arial"/>
                <a:cs typeface="Arial"/>
              </a:defRPr>
            </a:lvl5pPr>
            <a:lvl6pPr>
              <a:defRPr sz="2175" b="0">
                <a:solidFill>
                  <a:srgbClr val="4E6472"/>
                </a:solidFill>
                <a:latin typeface="Arial"/>
                <a:ea typeface="Arial"/>
                <a:cs typeface="Arial"/>
              </a:defRPr>
            </a:lvl6pPr>
            <a:lvl7pPr>
              <a:defRPr sz="2175" b="0">
                <a:solidFill>
                  <a:srgbClr val="4E6472"/>
                </a:solidFill>
                <a:latin typeface="Arial"/>
                <a:ea typeface="Arial"/>
                <a:cs typeface="Arial"/>
              </a:defRPr>
            </a:lvl7pPr>
            <a:lvl8pPr>
              <a:defRPr sz="2175" b="0">
                <a:solidFill>
                  <a:srgbClr val="4E6472"/>
                </a:solidFill>
                <a:latin typeface="Arial"/>
                <a:ea typeface="Arial"/>
                <a:cs typeface="Arial"/>
              </a:defRPr>
            </a:lvl8pPr>
            <a:lvl9pPr>
              <a:defRPr sz="2175" b="0">
                <a:solidFill>
                  <a:srgbClr val="4E6472"/>
                </a:solidFill>
                <a:latin typeface="Arial"/>
                <a:ea typeface="Arial"/>
                <a:cs typeface="Arial"/>
              </a:defRPr>
            </a:lvl9pPr>
          </a:lstStyle>
          <a:p xmlns:a="http://schemas.openxmlformats.org/drawingml/2006/main">
            <a:pPr>
              <a:defRPr sz="2175" b="0">
                <a:solidFill>
                  <a:srgbClr val="4E6472"/>
                </a:solidFill>
                <a:latin typeface="Arial"/>
                <a:ea typeface="Arial"/>
                <a:cs typeface="Arial"/>
              </a:defRPr>
            </a:pPr>
            <a:r>
              <a:rPr sz="2175" b="0">
                <a:solidFill>
                  <a:srgbClr val="4E6472"/>
                </a:solidFill>
                <a:latin typeface="Arial"/>
                <a:ea typeface="Arial"/>
                <a:cs typeface="Arial"/>
              </a:rPr>
              <a:t>Keep Class out of the inputs. Use Time for splitting.</a:t>
            </a:r>
          </a:p>
        </p:txBody>
      </p:sp>
    </p:spTree>
    <p:extLst>
      <p:ext uri="{BB962C8B-B14F-4D97-AF65-F5344CB8AC3E}">
        <p14:creationId xmlns:p14="http://schemas.microsoft.com/office/powerpoint/2010/main" val="164139306"/>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08AE31-F574-4896-A393-517821EBB563}"/>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How the GMM learns</a:t>
            </a:r>
          </a:p>
        </p:txBody>
      </p:sp>
      <p:sp>
        <p:nvSpPr>
          <p:cNvPr id="2" name="">
            <a:extLst xmlns:a="http://schemas.openxmlformats.org/drawingml/2006/main">
              <a:ext uri="{FF2B5EF4-FFF2-40B4-BE49-F238E27FC236}">
                <a16:creationId xmlns:a16="http://schemas.microsoft.com/office/drawing/2014/main" id="{7420AB07-C80C-4158-9E85-6DD4EBEB8898}"/>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C6E1EEDF-CB2E-4B7A-91BF-DDEF16E7F122}"/>
              </a:ext>
            </a:extLst>
          </p:cNvPr>
          <p:cNvSpPr>
            <a:spLocks xmlns:a="http://schemas.openxmlformats.org/drawingml/2006/main" noGrp="1"/>
          </p:cNvSpPr>
          <p:nvPr/>
        </p:nvSpPr>
        <p:spPr>
          <a:xfrm xmlns:a="http://schemas.openxmlformats.org/drawingml/2006/main">
            <a:off x="685800" y="16192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A Gaussian describes a bell-shaped pattern with a center and spread.</a:t>
            </a:r>
          </a:p>
        </p:txBody>
      </p:sp>
      <p:sp>
        <p:nvSpPr>
          <p:cNvPr id="4" name="">
            <a:extLst xmlns:a="http://schemas.openxmlformats.org/drawingml/2006/main">
              <a:ext uri="{FF2B5EF4-FFF2-40B4-BE49-F238E27FC236}">
                <a16:creationId xmlns:a16="http://schemas.microsoft.com/office/drawing/2014/main" id="{AE936839-50B0-437B-8709-B5C600AA0E69}"/>
              </a:ext>
            </a:extLst>
          </p:cNvPr>
          <p:cNvSpPr>
            <a:spLocks xmlns:a="http://schemas.openxmlformats.org/drawingml/2006/main" noGrp="1"/>
          </p:cNvSpPr>
          <p:nvPr/>
        </p:nvSpPr>
        <p:spPr>
          <a:xfrm xmlns:a="http://schemas.openxmlformats.org/drawingml/2006/main">
            <a:off x="685800" y="26670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A mixture combines several patterns. K is the number of components.</a:t>
            </a:r>
          </a:p>
        </p:txBody>
      </p:sp>
      <p:sp>
        <p:nvSpPr>
          <p:cNvPr id="5" name="">
            <a:extLst xmlns:a="http://schemas.openxmlformats.org/drawingml/2006/main">
              <a:ext uri="{FF2B5EF4-FFF2-40B4-BE49-F238E27FC236}">
                <a16:creationId xmlns:a16="http://schemas.microsoft.com/office/drawing/2014/main" id="{5CB54255-6723-4A75-95D6-662E02FB02A6}"/>
              </a:ext>
            </a:extLst>
          </p:cNvPr>
          <p:cNvSpPr>
            <a:spLocks xmlns:a="http://schemas.openxmlformats.org/drawingml/2006/main" noGrp="1"/>
          </p:cNvSpPr>
          <p:nvPr/>
        </p:nvSpPr>
        <p:spPr>
          <a:xfrm xmlns:a="http://schemas.openxmlformats.org/drawingml/2006/main">
            <a:off x="685800" y="3857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668D"/>
                </a:solidFill>
                <a:latin typeface="Arial"/>
                <a:ea typeface="Arial"/>
                <a:cs typeface="Arial"/>
              </a:defRPr>
            </a:defPPr>
            <a:lvl1pPr>
              <a:defRPr sz="2325" b="0">
                <a:solidFill>
                  <a:srgbClr val="24668D"/>
                </a:solidFill>
                <a:latin typeface="Arial"/>
                <a:ea typeface="Arial"/>
                <a:cs typeface="Arial"/>
              </a:defRPr>
            </a:lvl1pPr>
            <a:lvl2pPr>
              <a:defRPr sz="2325" b="0">
                <a:solidFill>
                  <a:srgbClr val="24668D"/>
                </a:solidFill>
                <a:latin typeface="Arial"/>
                <a:ea typeface="Arial"/>
                <a:cs typeface="Arial"/>
              </a:defRPr>
            </a:lvl2pPr>
            <a:lvl3pPr>
              <a:defRPr sz="2325" b="0">
                <a:solidFill>
                  <a:srgbClr val="24668D"/>
                </a:solidFill>
                <a:latin typeface="Arial"/>
                <a:ea typeface="Arial"/>
                <a:cs typeface="Arial"/>
              </a:defRPr>
            </a:lvl3pPr>
            <a:lvl4pPr>
              <a:defRPr sz="2325" b="0">
                <a:solidFill>
                  <a:srgbClr val="24668D"/>
                </a:solidFill>
                <a:latin typeface="Arial"/>
                <a:ea typeface="Arial"/>
                <a:cs typeface="Arial"/>
              </a:defRPr>
            </a:lvl4pPr>
            <a:lvl5pPr>
              <a:defRPr sz="2325" b="0">
                <a:solidFill>
                  <a:srgbClr val="24668D"/>
                </a:solidFill>
                <a:latin typeface="Arial"/>
                <a:ea typeface="Arial"/>
                <a:cs typeface="Arial"/>
              </a:defRPr>
            </a:lvl5pPr>
            <a:lvl6pPr>
              <a:defRPr sz="2325" b="0">
                <a:solidFill>
                  <a:srgbClr val="24668D"/>
                </a:solidFill>
                <a:latin typeface="Arial"/>
                <a:ea typeface="Arial"/>
                <a:cs typeface="Arial"/>
              </a:defRPr>
            </a:lvl6pPr>
            <a:lvl7pPr>
              <a:defRPr sz="2325" b="0">
                <a:solidFill>
                  <a:srgbClr val="24668D"/>
                </a:solidFill>
                <a:latin typeface="Arial"/>
                <a:ea typeface="Arial"/>
                <a:cs typeface="Arial"/>
              </a:defRPr>
            </a:lvl7pPr>
            <a:lvl8pPr>
              <a:defRPr sz="2325" b="0">
                <a:solidFill>
                  <a:srgbClr val="24668D"/>
                </a:solidFill>
                <a:latin typeface="Arial"/>
                <a:ea typeface="Arial"/>
                <a:cs typeface="Arial"/>
              </a:defRPr>
            </a:lvl8pPr>
            <a:lvl9pPr>
              <a:defRPr sz="2325" b="0">
                <a:solidFill>
                  <a:srgbClr val="24668D"/>
                </a:solidFill>
                <a:latin typeface="Arial"/>
                <a:ea typeface="Arial"/>
                <a:cs typeface="Arial"/>
              </a:defRPr>
            </a:lvl9pPr>
          </a:lstStyle>
          <a:p xmlns:a="http://schemas.openxmlformats.org/drawingml/2006/main">
            <a:pPr>
              <a:defRPr sz="2325" b="0">
                <a:solidFill>
                  <a:srgbClr val="24668D"/>
                </a:solidFill>
                <a:latin typeface="Arial"/>
                <a:ea typeface="Arial"/>
                <a:cs typeface="Arial"/>
              </a:defRPr>
            </a:pPr>
            <a:r>
              <a:rPr sz="2325" b="0">
                <a:solidFill>
                  <a:srgbClr val="24668D"/>
                </a:solidFill>
                <a:latin typeface="Arial"/>
                <a:ea typeface="Arial"/>
                <a:cs typeface="Arial"/>
              </a:rPr>
              <a:t>E-step: estimate membership in each component.</a:t>
            </a:r>
          </a:p>
        </p:txBody>
      </p:sp>
      <p:sp>
        <p:nvSpPr>
          <p:cNvPr id="6" name="">
            <a:extLst xmlns:a="http://schemas.openxmlformats.org/drawingml/2006/main">
              <a:ext uri="{FF2B5EF4-FFF2-40B4-BE49-F238E27FC236}">
                <a16:creationId xmlns:a16="http://schemas.microsoft.com/office/drawing/2014/main" id="{B32B3368-EBDF-48D6-A089-B834A02DF6DB}"/>
              </a:ext>
            </a:extLst>
          </p:cNvPr>
          <p:cNvSpPr>
            <a:spLocks xmlns:a="http://schemas.openxmlformats.org/drawingml/2006/main" noGrp="1"/>
          </p:cNvSpPr>
          <p:nvPr/>
        </p:nvSpPr>
        <p:spPr>
          <a:xfrm xmlns:a="http://schemas.openxmlformats.org/drawingml/2006/main">
            <a:off x="685800" y="4762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668D"/>
                </a:solidFill>
                <a:latin typeface="Arial"/>
                <a:ea typeface="Arial"/>
                <a:cs typeface="Arial"/>
              </a:defRPr>
            </a:defPPr>
            <a:lvl1pPr>
              <a:defRPr sz="2325" b="0">
                <a:solidFill>
                  <a:srgbClr val="24668D"/>
                </a:solidFill>
                <a:latin typeface="Arial"/>
                <a:ea typeface="Arial"/>
                <a:cs typeface="Arial"/>
              </a:defRPr>
            </a:lvl1pPr>
            <a:lvl2pPr>
              <a:defRPr sz="2325" b="0">
                <a:solidFill>
                  <a:srgbClr val="24668D"/>
                </a:solidFill>
                <a:latin typeface="Arial"/>
                <a:ea typeface="Arial"/>
                <a:cs typeface="Arial"/>
              </a:defRPr>
            </a:lvl2pPr>
            <a:lvl3pPr>
              <a:defRPr sz="2325" b="0">
                <a:solidFill>
                  <a:srgbClr val="24668D"/>
                </a:solidFill>
                <a:latin typeface="Arial"/>
                <a:ea typeface="Arial"/>
                <a:cs typeface="Arial"/>
              </a:defRPr>
            </a:lvl3pPr>
            <a:lvl4pPr>
              <a:defRPr sz="2325" b="0">
                <a:solidFill>
                  <a:srgbClr val="24668D"/>
                </a:solidFill>
                <a:latin typeface="Arial"/>
                <a:ea typeface="Arial"/>
                <a:cs typeface="Arial"/>
              </a:defRPr>
            </a:lvl4pPr>
            <a:lvl5pPr>
              <a:defRPr sz="2325" b="0">
                <a:solidFill>
                  <a:srgbClr val="24668D"/>
                </a:solidFill>
                <a:latin typeface="Arial"/>
                <a:ea typeface="Arial"/>
                <a:cs typeface="Arial"/>
              </a:defRPr>
            </a:lvl5pPr>
            <a:lvl6pPr>
              <a:defRPr sz="2325" b="0">
                <a:solidFill>
                  <a:srgbClr val="24668D"/>
                </a:solidFill>
                <a:latin typeface="Arial"/>
                <a:ea typeface="Arial"/>
                <a:cs typeface="Arial"/>
              </a:defRPr>
            </a:lvl6pPr>
            <a:lvl7pPr>
              <a:defRPr sz="2325" b="0">
                <a:solidFill>
                  <a:srgbClr val="24668D"/>
                </a:solidFill>
                <a:latin typeface="Arial"/>
                <a:ea typeface="Arial"/>
                <a:cs typeface="Arial"/>
              </a:defRPr>
            </a:lvl7pPr>
            <a:lvl8pPr>
              <a:defRPr sz="2325" b="0">
                <a:solidFill>
                  <a:srgbClr val="24668D"/>
                </a:solidFill>
                <a:latin typeface="Arial"/>
                <a:ea typeface="Arial"/>
                <a:cs typeface="Arial"/>
              </a:defRPr>
            </a:lvl8pPr>
            <a:lvl9pPr>
              <a:defRPr sz="2325" b="0">
                <a:solidFill>
                  <a:srgbClr val="24668D"/>
                </a:solidFill>
                <a:latin typeface="Arial"/>
                <a:ea typeface="Arial"/>
                <a:cs typeface="Arial"/>
              </a:defRPr>
            </a:lvl9pPr>
          </a:lstStyle>
          <a:p xmlns:a="http://schemas.openxmlformats.org/drawingml/2006/main">
            <a:pPr>
              <a:defRPr sz="2325" b="0">
                <a:solidFill>
                  <a:srgbClr val="24668D"/>
                </a:solidFill>
                <a:latin typeface="Arial"/>
                <a:ea typeface="Arial"/>
                <a:cs typeface="Arial"/>
              </a:defRPr>
            </a:pPr>
            <a:r>
              <a:rPr sz="2325" b="0">
                <a:solidFill>
                  <a:srgbClr val="24668D"/>
                </a:solidFill>
                <a:latin typeface="Arial"/>
                <a:ea typeface="Arial"/>
                <a:cs typeface="Arial"/>
              </a:rPr>
              <a:t>M-step: update centers, spreads and weights. Repeat.</a:t>
            </a:r>
          </a:p>
        </p:txBody>
      </p:sp>
    </p:spTree>
    <p:extLst>
      <p:ext uri="{BB962C8B-B14F-4D97-AF65-F5344CB8AC3E}">
        <p14:creationId xmlns:p14="http://schemas.microsoft.com/office/powerpoint/2010/main" val="670391668"/>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92FA93-528E-475E-995E-EB94AA71F18B}"/>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Choosing the number of components</a:t>
            </a:r>
          </a:p>
        </p:txBody>
      </p:sp>
      <p:sp>
        <p:nvSpPr>
          <p:cNvPr id="2" name="">
            <a:extLst xmlns:a="http://schemas.openxmlformats.org/drawingml/2006/main">
              <a:ext uri="{FF2B5EF4-FFF2-40B4-BE49-F238E27FC236}">
                <a16:creationId xmlns:a16="http://schemas.microsoft.com/office/drawing/2014/main" id="{727310F2-3DCE-42E9-B1F1-A4467611C259}"/>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6</a:t>
            </a:r>
          </a:p>
        </p:txBody>
      </p:sp>
      <p:graphicFrame>
        <p:nvGraphicFramePr>
          <p:cNvPr id="3" name="Chart">
            <a:extLst xmlns:a="http://schemas.openxmlformats.org/drawingml/2006/main">
              <a:ext uri="{FF2B5EF4-FFF2-40B4-BE49-F238E27FC236}">
                <a16:creationId xmlns:a16="http://schemas.microsoft.com/office/drawing/2014/main" id="{28684440-330E-4BC9-85BE-1A22A79E60BA}"/>
              </a:ext>
            </a:extLst>
          </p:cNvPr>
          <p:cNvGraphicFramePr/>
          <p:nvPr/>
        </p:nvGraphicFramePr>
        <p:xfrm>
          <a:off xmlns:a="http://schemas.openxmlformats.org/drawingml/2006/main" x="619125" y="157162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29cd745b66d24d7e"/>
          </a:graphicData>
        </a:graphic>
      </p:graphicFrame>
      <p:sp>
        <p:nvSpPr>
          <p:cNvPr id="4" name="">
            <a:extLst xmlns:a="http://schemas.openxmlformats.org/drawingml/2006/main">
              <a:ext uri="{FF2B5EF4-FFF2-40B4-BE49-F238E27FC236}">
                <a16:creationId xmlns:a16="http://schemas.microsoft.com/office/drawing/2014/main" id="{E60C3B95-2C2A-417E-BC8F-6B48FE385003}"/>
              </a:ext>
            </a:extLst>
          </p:cNvPr>
          <p:cNvSpPr>
            <a:spLocks xmlns:a="http://schemas.openxmlformats.org/drawingml/2006/main" noGrp="1"/>
          </p:cNvSpPr>
          <p:nvPr/>
        </p:nvSpPr>
        <p:spPr>
          <a:xfrm xmlns:a="http://schemas.openxmlformats.org/drawingml/2006/main">
            <a:off x="8429625" y="2047875"/>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Try 1, 2, 4 and 8.</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Choose the smallest BIC.</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Eight wins in this grid.</a:t>
            </a:r>
          </a:p>
        </p:txBody>
      </p:sp>
    </p:spTree>
    <p:extLst>
      <p:ext uri="{BB962C8B-B14F-4D97-AF65-F5344CB8AC3E}">
        <p14:creationId xmlns:p14="http://schemas.microsoft.com/office/powerpoint/2010/main" val="2098445989"/>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8B360C-07FD-46CD-9677-EEF2B9332BA1}"/>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From a score to a review alert</a:t>
            </a:r>
          </a:p>
        </p:txBody>
      </p:sp>
      <p:sp>
        <p:nvSpPr>
          <p:cNvPr id="2" name="">
            <a:extLst xmlns:a="http://schemas.openxmlformats.org/drawingml/2006/main">
              <a:ext uri="{FF2B5EF4-FFF2-40B4-BE49-F238E27FC236}">
                <a16:creationId xmlns:a16="http://schemas.microsoft.com/office/drawing/2014/main" id="{B79FF402-C45A-45D5-88C5-8F239F7E5A44}"/>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577E7B1F-09EA-48E4-A9FB-B86B44BC9BD4}"/>
              </a:ext>
            </a:extLst>
          </p:cNvPr>
          <p:cNvSpPr>
            <a:spLocks xmlns:a="http://schemas.openxmlformats.org/drawingml/2006/main" noGrp="1"/>
          </p:cNvSpPr>
          <p:nvPr/>
        </p:nvSpPr>
        <p:spPr>
          <a:xfrm xmlns:a="http://schemas.openxmlformats.org/drawingml/2006/main">
            <a:off x="685800" y="1666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24668D"/>
                </a:solidFill>
                <a:latin typeface="Arial"/>
                <a:ea typeface="Arial"/>
                <a:cs typeface="Arial"/>
              </a:defRPr>
            </a:defPPr>
            <a:lvl1pPr>
              <a:defRPr sz="2775" b="0">
                <a:solidFill>
                  <a:srgbClr val="24668D"/>
                </a:solidFill>
                <a:latin typeface="Arial"/>
                <a:ea typeface="Arial"/>
                <a:cs typeface="Arial"/>
              </a:defRPr>
            </a:lvl1pPr>
            <a:lvl2pPr>
              <a:defRPr sz="2775" b="0">
                <a:solidFill>
                  <a:srgbClr val="24668D"/>
                </a:solidFill>
                <a:latin typeface="Arial"/>
                <a:ea typeface="Arial"/>
                <a:cs typeface="Arial"/>
              </a:defRPr>
            </a:lvl2pPr>
            <a:lvl3pPr>
              <a:defRPr sz="2775" b="0">
                <a:solidFill>
                  <a:srgbClr val="24668D"/>
                </a:solidFill>
                <a:latin typeface="Arial"/>
                <a:ea typeface="Arial"/>
                <a:cs typeface="Arial"/>
              </a:defRPr>
            </a:lvl3pPr>
            <a:lvl4pPr>
              <a:defRPr sz="2775" b="0">
                <a:solidFill>
                  <a:srgbClr val="24668D"/>
                </a:solidFill>
                <a:latin typeface="Arial"/>
                <a:ea typeface="Arial"/>
                <a:cs typeface="Arial"/>
              </a:defRPr>
            </a:lvl4pPr>
            <a:lvl5pPr>
              <a:defRPr sz="2775" b="0">
                <a:solidFill>
                  <a:srgbClr val="24668D"/>
                </a:solidFill>
                <a:latin typeface="Arial"/>
                <a:ea typeface="Arial"/>
                <a:cs typeface="Arial"/>
              </a:defRPr>
            </a:lvl5pPr>
            <a:lvl6pPr>
              <a:defRPr sz="2775" b="0">
                <a:solidFill>
                  <a:srgbClr val="24668D"/>
                </a:solidFill>
                <a:latin typeface="Arial"/>
                <a:ea typeface="Arial"/>
                <a:cs typeface="Arial"/>
              </a:defRPr>
            </a:lvl6pPr>
            <a:lvl7pPr>
              <a:defRPr sz="2775" b="0">
                <a:solidFill>
                  <a:srgbClr val="24668D"/>
                </a:solidFill>
                <a:latin typeface="Arial"/>
                <a:ea typeface="Arial"/>
                <a:cs typeface="Arial"/>
              </a:defRPr>
            </a:lvl7pPr>
            <a:lvl8pPr>
              <a:defRPr sz="2775" b="0">
                <a:solidFill>
                  <a:srgbClr val="24668D"/>
                </a:solidFill>
                <a:latin typeface="Arial"/>
                <a:ea typeface="Arial"/>
                <a:cs typeface="Arial"/>
              </a:defRPr>
            </a:lvl8pPr>
            <a:lvl9pPr>
              <a:defRPr sz="2775" b="0">
                <a:solidFill>
                  <a:srgbClr val="24668D"/>
                </a:solidFill>
                <a:latin typeface="Arial"/>
                <a:ea typeface="Arial"/>
                <a:cs typeface="Arial"/>
              </a:defRPr>
            </a:lvl9pPr>
          </a:lstStyle>
          <a:p xmlns:a="http://schemas.openxmlformats.org/drawingml/2006/main">
            <a:pPr>
              <a:defRPr sz="2775" b="0">
                <a:solidFill>
                  <a:srgbClr val="24668D"/>
                </a:solidFill>
                <a:latin typeface="Arial"/>
                <a:ea typeface="Arial"/>
                <a:cs typeface="Arial"/>
              </a:defRPr>
            </a:pPr>
            <a:r>
              <a:rPr sz="2775" b="0">
                <a:solidFill>
                  <a:srgbClr val="24668D"/>
                </a:solidFill>
                <a:latin typeface="Arial"/>
                <a:ea typeface="Arial"/>
                <a:cs typeface="Arial"/>
              </a:rPr>
              <a:t>Anomaly score = -log density</a:t>
            </a:r>
          </a:p>
        </p:txBody>
      </p:sp>
      <p:sp>
        <p:nvSpPr>
          <p:cNvPr id="4" name="">
            <a:extLst xmlns:a="http://schemas.openxmlformats.org/drawingml/2006/main">
              <a:ext uri="{FF2B5EF4-FFF2-40B4-BE49-F238E27FC236}">
                <a16:creationId xmlns:a16="http://schemas.microsoft.com/office/drawing/2014/main" id="{A0BFD400-53AB-4A2A-983E-E65BAAFF4FD3}"/>
              </a:ext>
            </a:extLst>
          </p:cNvPr>
          <p:cNvSpPr>
            <a:spLocks xmlns:a="http://schemas.openxmlformats.org/drawingml/2006/main" noGrp="1"/>
          </p:cNvSpPr>
          <p:nvPr/>
        </p:nvSpPr>
        <p:spPr>
          <a:xfrm xmlns:a="http://schemas.openxmlformats.org/drawingml/2006/main">
            <a:off x="685800" y="2714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A larger score means the transaction is less typical.</a:t>
            </a:r>
          </a:p>
        </p:txBody>
      </p:sp>
      <p:sp>
        <p:nvSpPr>
          <p:cNvPr id="5" name="">
            <a:extLst xmlns:a="http://schemas.openxmlformats.org/drawingml/2006/main">
              <a:ext uri="{FF2B5EF4-FFF2-40B4-BE49-F238E27FC236}">
                <a16:creationId xmlns:a16="http://schemas.microsoft.com/office/drawing/2014/main" id="{4EB958D1-0B5C-46E2-B142-95BBD71C0E6E}"/>
              </a:ext>
            </a:extLst>
          </p:cNvPr>
          <p:cNvSpPr>
            <a:spLocks xmlns:a="http://schemas.openxmlformats.org/drawingml/2006/main" noGrp="1"/>
          </p:cNvSpPr>
          <p:nvPr/>
        </p:nvSpPr>
        <p:spPr>
          <a:xfrm xmlns:a="http://schemas.openxmlformats.org/drawingml/2006/main">
            <a:off x="685800" y="3714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Default cutoff: 75.8942, chosen on validation data.</a:t>
            </a:r>
          </a:p>
        </p:txBody>
      </p:sp>
      <p:sp>
        <p:nvSpPr>
          <p:cNvPr id="6" name="">
            <a:extLst xmlns:a="http://schemas.openxmlformats.org/drawingml/2006/main">
              <a:ext uri="{FF2B5EF4-FFF2-40B4-BE49-F238E27FC236}">
                <a16:creationId xmlns:a16="http://schemas.microsoft.com/office/drawing/2014/main" id="{80B8F47A-89DD-40AE-871B-E4CD042C4E54}"/>
              </a:ext>
            </a:extLst>
          </p:cNvPr>
          <p:cNvSpPr>
            <a:spLocks xmlns:a="http://schemas.openxmlformats.org/drawingml/2006/main" noGrp="1"/>
          </p:cNvSpPr>
          <p:nvPr/>
        </p:nvSpPr>
        <p:spPr>
          <a:xfrm xmlns:a="http://schemas.openxmlformats.org/drawingml/2006/main">
            <a:off x="685800" y="4857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Rule examples: score 80 gets an alert; score 60 does not.</a:t>
            </a:r>
          </a:p>
        </p:txBody>
      </p:sp>
    </p:spTree>
    <p:extLst>
      <p:ext uri="{BB962C8B-B14F-4D97-AF65-F5344CB8AC3E}">
        <p14:creationId xmlns:p14="http://schemas.microsoft.com/office/powerpoint/2010/main" val="668070138"/>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027E3D-ECA0-4310-8470-EB8C47EAA540}"/>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default test result</a:t>
            </a:r>
          </a:p>
        </p:txBody>
      </p:sp>
      <p:sp>
        <p:nvSpPr>
          <p:cNvPr id="2" name="">
            <a:extLst xmlns:a="http://schemas.openxmlformats.org/drawingml/2006/main">
              <a:ext uri="{FF2B5EF4-FFF2-40B4-BE49-F238E27FC236}">
                <a16:creationId xmlns:a16="http://schemas.microsoft.com/office/drawing/2014/main" id="{36527CF1-B86E-4C45-B0B4-6081BDCB2E13}"/>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16F0F304-AED4-40D4-AEB3-0E6B868E3555}"/>
              </a:ext>
            </a:extLst>
          </p:cNvPr>
          <p:cNvGraphicFramePr/>
          <p:nvPr/>
        </p:nvGraphicFramePr>
        <p:xfrm>
          <a:off xmlns:a="http://schemas.openxmlformats.org/drawingml/2006/main" x="685800" y="1714500"/>
          <a:ext xmlns:a="http://schemas.openxmlformats.org/drawingml/2006/main" cx="6381750" cy="2857500"/>
        </p:xfrm>
        <a:graphic xmlns:a="http://schemas.openxmlformats.org/drawingml/2006/main">
          <a:graphicData uri="http://schemas.openxmlformats.org/drawingml/2006/table">
            <a:tbl>
              <a:tblPr/>
              <a:tblGrid>
                <a:gridCol w="2857500"/>
                <a:gridCol w="1762125"/>
                <a:gridCol w="1762125"/>
              </a:tblGrid>
              <a:tr h="952500">
                <a:tc>
                  <a:txBody>
                    <a:bodyPr/>
                    <a:lstStyle/>
                    <a:p>
                      <a:r>
                        <a:rPr sz="2025" b="1">
                          <a:solidFill>
                            <a:srgbClr val="FFFFFF"/>
                          </a:solidFill>
                          <a:latin typeface="Arial"/>
                          <a:ea typeface="Arial"/>
                          <a:cs typeface="Arial"/>
                        </a:rPr>
                        <a:t>Actual / decision</a:t>
                      </a:r>
                    </a:p>
                  </a:txBody>
                  <a:tcPr marL="133350" marR="114300" marT="95250" marB="95250">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No alert</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Alert</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952500">
                <a:tc>
                  <a:txBody>
                    <a:bodyPr/>
                    <a:lstStyle/>
                    <a:p>
                      <a:r>
                        <a:rPr sz="2025">
                          <a:solidFill>
                            <a:srgbClr val="173447"/>
                          </a:solidFill>
                          <a:latin typeface="Arial"/>
                          <a:ea typeface="Arial"/>
                          <a:cs typeface="Arial"/>
                        </a:rPr>
                        <a:t>Legitimate</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56,500</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172</a:t>
                      </a:r>
                    </a:p>
                  </a:txBody>
                  <a:tcPr marL="133350" marR="114300" marT="95250" marB="95250">
                    <a:lnR w="9525">
                      <a:solidFill>
                        <a:srgbClr val="DDE3E7"/>
                      </a:solidFill>
                      <a:prstDash val="solid"/>
                    </a:lnR>
                    <a:lnB w="9525">
                      <a:solidFill>
                        <a:srgbClr val="DDE3E7"/>
                      </a:solidFill>
                      <a:prstDash val="solid"/>
                    </a:lnB>
                  </a:tcPr>
                </a:tc>
              </a:tr>
              <a:tr h="952500">
                <a:tc>
                  <a:txBody>
                    <a:bodyPr/>
                    <a:lstStyle/>
                    <a:p>
                      <a:r>
                        <a:rPr sz="2025">
                          <a:solidFill>
                            <a:srgbClr val="173447"/>
                          </a:solidFill>
                          <a:latin typeface="Arial"/>
                          <a:ea typeface="Arial"/>
                          <a:cs typeface="Arial"/>
                        </a:rPr>
                        <a:t>Fraud</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37</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37</a:t>
                      </a:r>
                    </a:p>
                  </a:txBody>
                  <a:tcPr marL="133350" marR="114300" marT="95250" marB="95250">
                    <a:lnR w="9525">
                      <a:solidFill>
                        <a:srgbClr val="DDE3E7"/>
                      </a:solidFill>
                      <a:prstDash val="solid"/>
                    </a:lnR>
                    <a:lnB w="9525">
                      <a:solidFill>
                        <a:srgbClr val="DDE3E7"/>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5AA0F2FF-C1FD-47B6-B819-070721FB014E}"/>
              </a:ext>
            </a:extLst>
          </p:cNvPr>
          <p:cNvSpPr>
            <a:spLocks xmlns:a="http://schemas.openxmlformats.org/drawingml/2006/main" noGrp="1"/>
          </p:cNvSpPr>
          <p:nvPr/>
        </p:nvSpPr>
        <p:spPr>
          <a:xfrm xmlns:a="http://schemas.openxmlformats.org/drawingml/2006/main">
            <a:off x="7477125" y="1781175"/>
            <a:ext cx="4095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Recall: 37 / 74 = 50%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Precision: 37 / 209 = 17.70%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FPR: 172 / 56,672 = 0.3035%</a:t>
            </a:r>
          </a:p>
        </p:txBody>
      </p:sp>
      <p:sp>
        <p:nvSpPr>
          <p:cNvPr id="5" name="">
            <a:extLst xmlns:a="http://schemas.openxmlformats.org/drawingml/2006/main">
              <a:ext uri="{FF2B5EF4-FFF2-40B4-BE49-F238E27FC236}">
                <a16:creationId xmlns:a16="http://schemas.microsoft.com/office/drawing/2014/main" id="{F7F5F36F-A4B4-4D12-93A6-3696F5246F93}"/>
              </a:ext>
            </a:extLst>
          </p:cNvPr>
          <p:cNvSpPr>
            <a:spLocks xmlns:a="http://schemas.openxmlformats.org/drawingml/2006/main" noGrp="1"/>
          </p:cNvSpPr>
          <p:nvPr/>
        </p:nvSpPr>
        <p:spPr>
          <a:xfrm xmlns:a="http://schemas.openxmlformats.org/drawingml/2006/main">
            <a:off x="685800" y="53149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668D"/>
                </a:solidFill>
                <a:latin typeface="Arial"/>
                <a:ea typeface="Arial"/>
                <a:cs typeface="Arial"/>
              </a:defRPr>
            </a:defPPr>
            <a:lvl1pPr>
              <a:defRPr sz="2400" b="0">
                <a:solidFill>
                  <a:srgbClr val="24668D"/>
                </a:solidFill>
                <a:latin typeface="Arial"/>
                <a:ea typeface="Arial"/>
                <a:cs typeface="Arial"/>
              </a:defRPr>
            </a:lvl1pPr>
            <a:lvl2pPr>
              <a:defRPr sz="2400" b="0">
                <a:solidFill>
                  <a:srgbClr val="24668D"/>
                </a:solidFill>
                <a:latin typeface="Arial"/>
                <a:ea typeface="Arial"/>
                <a:cs typeface="Arial"/>
              </a:defRPr>
            </a:lvl2pPr>
            <a:lvl3pPr>
              <a:defRPr sz="2400" b="0">
                <a:solidFill>
                  <a:srgbClr val="24668D"/>
                </a:solidFill>
                <a:latin typeface="Arial"/>
                <a:ea typeface="Arial"/>
                <a:cs typeface="Arial"/>
              </a:defRPr>
            </a:lvl3pPr>
            <a:lvl4pPr>
              <a:defRPr sz="2400" b="0">
                <a:solidFill>
                  <a:srgbClr val="24668D"/>
                </a:solidFill>
                <a:latin typeface="Arial"/>
                <a:ea typeface="Arial"/>
                <a:cs typeface="Arial"/>
              </a:defRPr>
            </a:lvl4pPr>
            <a:lvl5pPr>
              <a:defRPr sz="2400" b="0">
                <a:solidFill>
                  <a:srgbClr val="24668D"/>
                </a:solidFill>
                <a:latin typeface="Arial"/>
                <a:ea typeface="Arial"/>
                <a:cs typeface="Arial"/>
              </a:defRPr>
            </a:lvl5pPr>
            <a:lvl6pPr>
              <a:defRPr sz="2400" b="0">
                <a:solidFill>
                  <a:srgbClr val="24668D"/>
                </a:solidFill>
                <a:latin typeface="Arial"/>
                <a:ea typeface="Arial"/>
                <a:cs typeface="Arial"/>
              </a:defRPr>
            </a:lvl6pPr>
            <a:lvl7pPr>
              <a:defRPr sz="2400" b="0">
                <a:solidFill>
                  <a:srgbClr val="24668D"/>
                </a:solidFill>
                <a:latin typeface="Arial"/>
                <a:ea typeface="Arial"/>
                <a:cs typeface="Arial"/>
              </a:defRPr>
            </a:lvl7pPr>
            <a:lvl8pPr>
              <a:defRPr sz="2400" b="0">
                <a:solidFill>
                  <a:srgbClr val="24668D"/>
                </a:solidFill>
                <a:latin typeface="Arial"/>
                <a:ea typeface="Arial"/>
                <a:cs typeface="Arial"/>
              </a:defRPr>
            </a:lvl8pPr>
            <a:lvl9pPr>
              <a:defRPr sz="2400" b="0">
                <a:solidFill>
                  <a:srgbClr val="24668D"/>
                </a:solidFill>
                <a:latin typeface="Arial"/>
                <a:ea typeface="Arial"/>
                <a:cs typeface="Arial"/>
              </a:defRPr>
            </a:lvl9pPr>
          </a:lstStyle>
          <a:p xmlns:a="http://schemas.openxmlformats.org/drawingml/2006/main">
            <a:pPr>
              <a:defRPr sz="2400" b="0">
                <a:solidFill>
                  <a:srgbClr val="24668D"/>
                </a:solidFill>
                <a:latin typeface="Arial"/>
                <a:ea typeface="Arial"/>
                <a:cs typeface="Arial"/>
              </a:defRPr>
            </a:pPr>
            <a:r>
              <a:rPr sz="2400" b="0">
                <a:solidFill>
                  <a:srgbClr val="24668D"/>
                </a:solidFill>
                <a:latin typeface="Arial"/>
                <a:ea typeface="Arial"/>
                <a:cs typeface="Arial"/>
              </a:rPr>
              <a:t>209 reviews. We find 37 frauds and miss 37.</a:t>
            </a:r>
          </a:p>
        </p:txBody>
      </p:sp>
    </p:spTree>
    <p:extLst>
      <p:ext uri="{BB962C8B-B14F-4D97-AF65-F5344CB8AC3E}">
        <p14:creationId xmlns:p14="http://schemas.microsoft.com/office/powerpoint/2010/main" val="71961533"/>
      </p:ext>
    </p:extLst>
  </p:cSld>
</p:sld>
</file>

<file path=ppt/slides/slide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E1AD6E-6340-4B09-989D-61ADC0EF5F3B}"/>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More review brings more false alerts</a:t>
            </a:r>
          </a:p>
        </p:txBody>
      </p:sp>
      <p:sp>
        <p:nvSpPr>
          <p:cNvPr id="2" name="">
            <a:extLst xmlns:a="http://schemas.openxmlformats.org/drawingml/2006/main">
              <a:ext uri="{FF2B5EF4-FFF2-40B4-BE49-F238E27FC236}">
                <a16:creationId xmlns:a16="http://schemas.microsoft.com/office/drawing/2014/main" id="{2C0EE00D-BA49-48C8-B83C-DF38B2559ED6}"/>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9</a:t>
            </a:r>
          </a:p>
        </p:txBody>
      </p:sp>
      <p:graphicFrame>
        <p:nvGraphicFramePr>
          <p:cNvPr id="3" name="Chart">
            <a:extLst xmlns:a="http://schemas.openxmlformats.org/drawingml/2006/main">
              <a:ext uri="{FF2B5EF4-FFF2-40B4-BE49-F238E27FC236}">
                <a16:creationId xmlns:a16="http://schemas.microsoft.com/office/drawing/2014/main" id="{5F48AEB2-498C-4BFE-AB8E-20C0FE3449C0}"/>
              </a:ext>
            </a:extLst>
          </p:cNvPr>
          <p:cNvGraphicFramePr/>
          <p:nvPr/>
        </p:nvGraphicFramePr>
        <p:xfrm>
          <a:off xmlns:a="http://schemas.openxmlformats.org/drawingml/2006/main" x="619125" y="157162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e961a6aec3c24102"/>
          </a:graphicData>
        </a:graphic>
      </p:graphicFrame>
      <p:sp>
        <p:nvSpPr>
          <p:cNvPr id="4" name="">
            <a:extLst xmlns:a="http://schemas.openxmlformats.org/drawingml/2006/main">
              <a:ext uri="{FF2B5EF4-FFF2-40B4-BE49-F238E27FC236}">
                <a16:creationId xmlns:a16="http://schemas.microsoft.com/office/drawing/2014/main" id="{36A78238-94F8-45BB-BCA0-079355014268}"/>
              </a:ext>
            </a:extLst>
          </p:cNvPr>
          <p:cNvSpPr>
            <a:spLocks xmlns:a="http://schemas.openxmlformats.org/drawingml/2006/main" noGrp="1"/>
          </p:cNvSpPr>
          <p:nvPr/>
        </p:nvSpPr>
        <p:spPr>
          <a:xfrm xmlns:a="http://schemas.openxmlformats.org/drawingml/2006/main">
            <a:off x="8429625" y="2047875"/>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A looser cutoff catches more fraud here.</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It also sends more legitimate transactions for review.</a:t>
            </a:r>
          </a:p>
        </p:txBody>
      </p:sp>
    </p:spTree>
    <p:extLst>
      <p:ext uri="{BB962C8B-B14F-4D97-AF65-F5344CB8AC3E}">
        <p14:creationId xmlns:p14="http://schemas.microsoft.com/office/powerpoint/2010/main" val="1212080086"/>
      </p:ext>
    </p:extLst>
  </p:cSld>
</p:sld>
</file>

<file path=ppt/slides/slide1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3FBCA9-27E8-4CE7-AC2C-FF736174F71B}"/>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Ranking quality and 100 reviews</a:t>
            </a:r>
          </a:p>
        </p:txBody>
      </p:sp>
      <p:sp>
        <p:nvSpPr>
          <p:cNvPr id="2" name="">
            <a:extLst xmlns:a="http://schemas.openxmlformats.org/drawingml/2006/main">
              <a:ext uri="{FF2B5EF4-FFF2-40B4-BE49-F238E27FC236}">
                <a16:creationId xmlns:a16="http://schemas.microsoft.com/office/drawing/2014/main" id="{A273D575-2E12-4568-956F-7F19AA84BEC7}"/>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10</a:t>
            </a:r>
          </a:p>
        </p:txBody>
      </p:sp>
      <p:graphicFrame>
        <p:nvGraphicFramePr>
          <p:cNvPr id="3" name="Chart">
            <a:extLst xmlns:a="http://schemas.openxmlformats.org/drawingml/2006/main">
              <a:ext uri="{FF2B5EF4-FFF2-40B4-BE49-F238E27FC236}">
                <a16:creationId xmlns:a16="http://schemas.microsoft.com/office/drawing/2014/main" id="{ED571873-9429-483C-BEB3-10385833D57C}"/>
              </a:ext>
            </a:extLst>
          </p:cNvPr>
          <p:cNvGraphicFramePr/>
          <p:nvPr/>
        </p:nvGraphicFramePr>
        <p:xfrm>
          <a:off xmlns:a="http://schemas.openxmlformats.org/drawingml/2006/main" x="619125" y="157162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e1dc6b6d94c74cac"/>
          </a:graphicData>
        </a:graphic>
      </p:graphicFrame>
      <p:sp>
        <p:nvSpPr>
          <p:cNvPr id="4" name="">
            <a:extLst xmlns:a="http://schemas.openxmlformats.org/drawingml/2006/main">
              <a:ext uri="{FF2B5EF4-FFF2-40B4-BE49-F238E27FC236}">
                <a16:creationId xmlns:a16="http://schemas.microsoft.com/office/drawing/2014/main" id="{D287C2F1-BD46-4D8F-AC95-A61264C848F5}"/>
              </a:ext>
            </a:extLst>
          </p:cNvPr>
          <p:cNvSpPr>
            <a:spLocks xmlns:a="http://schemas.openxmlformats.org/drawingml/2006/main" noGrp="1"/>
          </p:cNvSpPr>
          <p:nvPr/>
        </p:nvSpPr>
        <p:spPr>
          <a:xfrm xmlns:a="http://schemas.openxmlformats.org/drawingml/2006/main">
            <a:off x="8382000" y="1905000"/>
            <a:ext cx="3143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 AUC</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GMM: 0.1496</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One Gaussian: 0.0527</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Top 100 reviews:</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29 frauds, 71 legitimate</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Precision@100 = 29%</a:t>
            </a:r>
          </a:p>
        </p:txBody>
      </p:sp>
    </p:spTree>
    <p:extLst>
      <p:ext uri="{BB962C8B-B14F-4D97-AF65-F5344CB8AC3E}">
        <p14:creationId xmlns:p14="http://schemas.microsoft.com/office/powerpoint/2010/main" val="1057596646"/>
      </p:ext>
    </p:extLst>
  </p:cSld>
</p:sld>
</file>

<file path=ppt/slides/slide1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27024B-A48B-4D86-8D1D-85CF8CA3CAE7}"/>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Reproducing and explaining the project</a:t>
            </a:r>
          </a:p>
        </p:txBody>
      </p:sp>
      <p:sp>
        <p:nvSpPr>
          <p:cNvPr id="2" name="">
            <a:extLst xmlns:a="http://schemas.openxmlformats.org/drawingml/2006/main">
              <a:ext uri="{FF2B5EF4-FFF2-40B4-BE49-F238E27FC236}">
                <a16:creationId xmlns:a16="http://schemas.microsoft.com/office/drawing/2014/main" id="{C3CF76D7-523B-4C6B-AFE2-1B99D42CC283}"/>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735BBD8-49CC-43AA-8168-C78333A3143A}"/>
              </a:ext>
            </a:extLst>
          </p:cNvPr>
          <p:cNvSpPr>
            <a:spLocks xmlns:a="http://schemas.openxmlformats.org/drawingml/2006/main" noGrp="1"/>
          </p:cNvSpPr>
          <p:nvPr/>
        </p:nvSpPr>
        <p:spPr>
          <a:xfrm xmlns:a="http://schemas.openxmlformats.org/drawingml/2006/main">
            <a:off x="685800" y="1619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668D"/>
                </a:solidFill>
                <a:latin typeface="Arial"/>
                <a:ea typeface="Arial"/>
                <a:cs typeface="Arial"/>
              </a:defRPr>
            </a:defPPr>
            <a:lvl1pPr>
              <a:defRPr sz="2400" b="0">
                <a:solidFill>
                  <a:srgbClr val="24668D"/>
                </a:solidFill>
                <a:latin typeface="Arial"/>
                <a:ea typeface="Arial"/>
                <a:cs typeface="Arial"/>
              </a:defRPr>
            </a:lvl1pPr>
            <a:lvl2pPr>
              <a:defRPr sz="2400" b="0">
                <a:solidFill>
                  <a:srgbClr val="24668D"/>
                </a:solidFill>
                <a:latin typeface="Arial"/>
                <a:ea typeface="Arial"/>
                <a:cs typeface="Arial"/>
              </a:defRPr>
            </a:lvl2pPr>
            <a:lvl3pPr>
              <a:defRPr sz="2400" b="0">
                <a:solidFill>
                  <a:srgbClr val="24668D"/>
                </a:solidFill>
                <a:latin typeface="Arial"/>
                <a:ea typeface="Arial"/>
                <a:cs typeface="Arial"/>
              </a:defRPr>
            </a:lvl3pPr>
            <a:lvl4pPr>
              <a:defRPr sz="2400" b="0">
                <a:solidFill>
                  <a:srgbClr val="24668D"/>
                </a:solidFill>
                <a:latin typeface="Arial"/>
                <a:ea typeface="Arial"/>
                <a:cs typeface="Arial"/>
              </a:defRPr>
            </a:lvl4pPr>
            <a:lvl5pPr>
              <a:defRPr sz="2400" b="0">
                <a:solidFill>
                  <a:srgbClr val="24668D"/>
                </a:solidFill>
                <a:latin typeface="Arial"/>
                <a:ea typeface="Arial"/>
                <a:cs typeface="Arial"/>
              </a:defRPr>
            </a:lvl5pPr>
            <a:lvl6pPr>
              <a:defRPr sz="2400" b="0">
                <a:solidFill>
                  <a:srgbClr val="24668D"/>
                </a:solidFill>
                <a:latin typeface="Arial"/>
                <a:ea typeface="Arial"/>
                <a:cs typeface="Arial"/>
              </a:defRPr>
            </a:lvl6pPr>
            <a:lvl7pPr>
              <a:defRPr sz="2400" b="0">
                <a:solidFill>
                  <a:srgbClr val="24668D"/>
                </a:solidFill>
                <a:latin typeface="Arial"/>
                <a:ea typeface="Arial"/>
                <a:cs typeface="Arial"/>
              </a:defRPr>
            </a:lvl7pPr>
            <a:lvl8pPr>
              <a:defRPr sz="2400" b="0">
                <a:solidFill>
                  <a:srgbClr val="24668D"/>
                </a:solidFill>
                <a:latin typeface="Arial"/>
                <a:ea typeface="Arial"/>
                <a:cs typeface="Arial"/>
              </a:defRPr>
            </a:lvl8pPr>
            <a:lvl9pPr>
              <a:defRPr sz="2400" b="0">
                <a:solidFill>
                  <a:srgbClr val="24668D"/>
                </a:solidFill>
                <a:latin typeface="Arial"/>
                <a:ea typeface="Arial"/>
                <a:cs typeface="Arial"/>
              </a:defRPr>
            </a:lvl9pPr>
          </a:lstStyle>
          <a:p xmlns:a="http://schemas.openxmlformats.org/drawingml/2006/main">
            <a:pPr>
              <a:defRPr sz="2400" b="0">
                <a:solidFill>
                  <a:srgbClr val="24668D"/>
                </a:solidFill>
                <a:latin typeface="Arial"/>
                <a:ea typeface="Arial"/>
                <a:cs typeface="Arial"/>
              </a:defRPr>
            </a:pPr>
            <a:r>
              <a:rPr sz="2400" b="0">
                <a:solidFill>
                  <a:srgbClr val="24668D"/>
                </a:solidFill>
                <a:latin typeface="Arial"/>
                <a:ea typeface="Arial"/>
                <a:cs typeface="Arial"/>
              </a:rPr>
              <a:t>Read 01. Run 02 to 05 in order: restart kernel, then Run All.</a:t>
            </a:r>
          </a:p>
        </p:txBody>
      </p:sp>
      <p:sp>
        <p:nvSpPr>
          <p:cNvPr id="4" name="">
            <a:extLst xmlns:a="http://schemas.openxmlformats.org/drawingml/2006/main">
              <a:ext uri="{FF2B5EF4-FFF2-40B4-BE49-F238E27FC236}">
                <a16:creationId xmlns:a16="http://schemas.microsoft.com/office/drawing/2014/main" id="{2D20C549-BCDC-411D-B153-F0BB7852B657}"/>
              </a:ext>
            </a:extLst>
          </p:cNvPr>
          <p:cNvSpPr>
            <a:spLocks xmlns:a="http://schemas.openxmlformats.org/drawingml/2006/main" noGrp="1"/>
          </p:cNvSpPr>
          <p:nvPr/>
        </p:nvSpPr>
        <p:spPr>
          <a:xfrm xmlns:a="http://schemas.openxmlformats.org/drawingml/2006/main">
            <a:off x="685800" y="2857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Checks cover the time split, scaler fit, convergence and validation budgets.</a:t>
            </a:r>
          </a:p>
        </p:txBody>
      </p:sp>
      <p:sp>
        <p:nvSpPr>
          <p:cNvPr id="5" name="">
            <a:extLst xmlns:a="http://schemas.openxmlformats.org/drawingml/2006/main">
              <a:ext uri="{FF2B5EF4-FFF2-40B4-BE49-F238E27FC236}">
                <a16:creationId xmlns:a16="http://schemas.microsoft.com/office/drawing/2014/main" id="{12FB9369-D46F-4CC2-A5D0-CE64A28DD408}"/>
              </a:ext>
            </a:extLst>
          </p:cNvPr>
          <p:cNvSpPr>
            <a:spLocks xmlns:a="http://schemas.openxmlformats.org/drawingml/2006/main" noGrp="1"/>
          </p:cNvSpPr>
          <p:nvPr/>
        </p:nvSpPr>
        <p:spPr>
          <a:xfrm xmlns:a="http://schemas.openxmlformats.org/drawingml/2006/main">
            <a:off x="685800" y="4095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The checklist links all nine Phase 1 areas to evidence.</a:t>
            </a:r>
          </a:p>
        </p:txBody>
      </p:sp>
      <p:sp>
        <p:nvSpPr>
          <p:cNvPr id="6" name="">
            <a:extLst xmlns:a="http://schemas.openxmlformats.org/drawingml/2006/main">
              <a:ext uri="{FF2B5EF4-FFF2-40B4-BE49-F238E27FC236}">
                <a16:creationId xmlns:a16="http://schemas.microsoft.com/office/drawing/2014/main" id="{DC6E0E2F-5AED-43B1-893C-A5642E53DA39}"/>
              </a:ext>
            </a:extLst>
          </p:cNvPr>
          <p:cNvSpPr>
            <a:spLocks xmlns:a="http://schemas.openxmlformats.org/drawingml/2006/main" noGrp="1"/>
          </p:cNvSpPr>
          <p:nvPr/>
        </p:nvSpPr>
        <p:spPr>
          <a:xfrm xmlns:a="http://schemas.openxmlformats.org/drawingml/2006/main">
            <a:off x="685800" y="5238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E6472"/>
                </a:solidFill>
                <a:latin typeface="Arial"/>
                <a:ea typeface="Arial"/>
                <a:cs typeface="Arial"/>
              </a:defRPr>
            </a:defPPr>
            <a:lvl1pPr>
              <a:defRPr sz="2175" b="0">
                <a:solidFill>
                  <a:srgbClr val="4E6472"/>
                </a:solidFill>
                <a:latin typeface="Arial"/>
                <a:ea typeface="Arial"/>
                <a:cs typeface="Arial"/>
              </a:defRPr>
            </a:lvl1pPr>
            <a:lvl2pPr>
              <a:defRPr sz="2175" b="0">
                <a:solidFill>
                  <a:srgbClr val="4E6472"/>
                </a:solidFill>
                <a:latin typeface="Arial"/>
                <a:ea typeface="Arial"/>
                <a:cs typeface="Arial"/>
              </a:defRPr>
            </a:lvl2pPr>
            <a:lvl3pPr>
              <a:defRPr sz="2175" b="0">
                <a:solidFill>
                  <a:srgbClr val="4E6472"/>
                </a:solidFill>
                <a:latin typeface="Arial"/>
                <a:ea typeface="Arial"/>
                <a:cs typeface="Arial"/>
              </a:defRPr>
            </a:lvl3pPr>
            <a:lvl4pPr>
              <a:defRPr sz="2175" b="0">
                <a:solidFill>
                  <a:srgbClr val="4E6472"/>
                </a:solidFill>
                <a:latin typeface="Arial"/>
                <a:ea typeface="Arial"/>
                <a:cs typeface="Arial"/>
              </a:defRPr>
            </a:lvl4pPr>
            <a:lvl5pPr>
              <a:defRPr sz="2175" b="0">
                <a:solidFill>
                  <a:srgbClr val="4E6472"/>
                </a:solidFill>
                <a:latin typeface="Arial"/>
                <a:ea typeface="Arial"/>
                <a:cs typeface="Arial"/>
              </a:defRPr>
            </a:lvl5pPr>
            <a:lvl6pPr>
              <a:defRPr sz="2175" b="0">
                <a:solidFill>
                  <a:srgbClr val="4E6472"/>
                </a:solidFill>
                <a:latin typeface="Arial"/>
                <a:ea typeface="Arial"/>
                <a:cs typeface="Arial"/>
              </a:defRPr>
            </a:lvl6pPr>
            <a:lvl7pPr>
              <a:defRPr sz="2175" b="0">
                <a:solidFill>
                  <a:srgbClr val="4E6472"/>
                </a:solidFill>
                <a:latin typeface="Arial"/>
                <a:ea typeface="Arial"/>
                <a:cs typeface="Arial"/>
              </a:defRPr>
            </a:lvl7pPr>
            <a:lvl8pPr>
              <a:defRPr sz="2175" b="0">
                <a:solidFill>
                  <a:srgbClr val="4E6472"/>
                </a:solidFill>
                <a:latin typeface="Arial"/>
                <a:ea typeface="Arial"/>
                <a:cs typeface="Arial"/>
              </a:defRPr>
            </a:lvl8pPr>
            <a:lvl9pPr>
              <a:defRPr sz="2175" b="0">
                <a:solidFill>
                  <a:srgbClr val="4E6472"/>
                </a:solidFill>
                <a:latin typeface="Arial"/>
                <a:ea typeface="Arial"/>
                <a:cs typeface="Arial"/>
              </a:defRPr>
            </a:lvl9pPr>
          </a:lstStyle>
          <a:p xmlns:a="http://schemas.openxmlformats.org/drawingml/2006/main">
            <a:pPr>
              <a:defRPr sz="2175" b="0">
                <a:solidFill>
                  <a:srgbClr val="4E6472"/>
                </a:solidFill>
                <a:latin typeface="Arial"/>
                <a:ea typeface="Arial"/>
                <a:cs typeface="Arial"/>
              </a:defRPr>
            </a:pPr>
            <a:r>
              <a:rPr sz="2175" b="0">
                <a:solidFill>
                  <a:srgbClr val="4E6472"/>
                </a:solidFill>
                <a:latin typeface="Arial"/>
                <a:ea typeface="Arial"/>
                <a:cs typeface="Arial"/>
              </a:rPr>
              <a:t>Every member must explain the full project and record actual contributions.</a:t>
            </a:r>
          </a:p>
        </p:txBody>
      </p:sp>
    </p:spTree>
    <p:extLst>
      <p:ext uri="{BB962C8B-B14F-4D97-AF65-F5344CB8AC3E}">
        <p14:creationId xmlns:p14="http://schemas.microsoft.com/office/powerpoint/2010/main" val="770498229"/>
      </p:ext>
    </p:extLst>
  </p:cSld>
</p:sld>
</file>

<file path=ppt/slides/slide1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541486-E892-4E02-95FD-60B486BCCBFC}"/>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What we can conclude</a:t>
            </a:r>
          </a:p>
        </p:txBody>
      </p:sp>
      <p:sp>
        <p:nvSpPr>
          <p:cNvPr id="2" name="">
            <a:extLst xmlns:a="http://schemas.openxmlformats.org/drawingml/2006/main">
              <a:ext uri="{FF2B5EF4-FFF2-40B4-BE49-F238E27FC236}">
                <a16:creationId xmlns:a16="http://schemas.microsoft.com/office/drawing/2014/main" id="{5169CF79-BE1F-4FD9-891F-0C1AB07C5B7D}"/>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A01FF59D-8DDD-4C0E-BE66-FBE081DBB2D7}"/>
              </a:ext>
            </a:extLst>
          </p:cNvPr>
          <p:cNvSpPr>
            <a:spLocks xmlns:a="http://schemas.openxmlformats.org/drawingml/2006/main" noGrp="1"/>
          </p:cNvSpPr>
          <p:nvPr/>
        </p:nvSpPr>
        <p:spPr>
          <a:xfrm xmlns:a="http://schemas.openxmlformats.org/drawingml/2006/main">
            <a:off x="685800" y="1619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668D"/>
                </a:solidFill>
                <a:latin typeface="Arial"/>
                <a:ea typeface="Arial"/>
                <a:cs typeface="Arial"/>
              </a:defRPr>
            </a:defPPr>
            <a:lvl1pPr>
              <a:defRPr sz="2550" b="0">
                <a:solidFill>
                  <a:srgbClr val="24668D"/>
                </a:solidFill>
                <a:latin typeface="Arial"/>
                <a:ea typeface="Arial"/>
                <a:cs typeface="Arial"/>
              </a:defRPr>
            </a:lvl1pPr>
            <a:lvl2pPr>
              <a:defRPr sz="2550" b="0">
                <a:solidFill>
                  <a:srgbClr val="24668D"/>
                </a:solidFill>
                <a:latin typeface="Arial"/>
                <a:ea typeface="Arial"/>
                <a:cs typeface="Arial"/>
              </a:defRPr>
            </a:lvl2pPr>
            <a:lvl3pPr>
              <a:defRPr sz="2550" b="0">
                <a:solidFill>
                  <a:srgbClr val="24668D"/>
                </a:solidFill>
                <a:latin typeface="Arial"/>
                <a:ea typeface="Arial"/>
                <a:cs typeface="Arial"/>
              </a:defRPr>
            </a:lvl3pPr>
            <a:lvl4pPr>
              <a:defRPr sz="2550" b="0">
                <a:solidFill>
                  <a:srgbClr val="24668D"/>
                </a:solidFill>
                <a:latin typeface="Arial"/>
                <a:ea typeface="Arial"/>
                <a:cs typeface="Arial"/>
              </a:defRPr>
            </a:lvl4pPr>
            <a:lvl5pPr>
              <a:defRPr sz="2550" b="0">
                <a:solidFill>
                  <a:srgbClr val="24668D"/>
                </a:solidFill>
                <a:latin typeface="Arial"/>
                <a:ea typeface="Arial"/>
                <a:cs typeface="Arial"/>
              </a:defRPr>
            </a:lvl5pPr>
            <a:lvl6pPr>
              <a:defRPr sz="2550" b="0">
                <a:solidFill>
                  <a:srgbClr val="24668D"/>
                </a:solidFill>
                <a:latin typeface="Arial"/>
                <a:ea typeface="Arial"/>
                <a:cs typeface="Arial"/>
              </a:defRPr>
            </a:lvl6pPr>
            <a:lvl7pPr>
              <a:defRPr sz="2550" b="0">
                <a:solidFill>
                  <a:srgbClr val="24668D"/>
                </a:solidFill>
                <a:latin typeface="Arial"/>
                <a:ea typeface="Arial"/>
                <a:cs typeface="Arial"/>
              </a:defRPr>
            </a:lvl7pPr>
            <a:lvl8pPr>
              <a:defRPr sz="2550" b="0">
                <a:solidFill>
                  <a:srgbClr val="24668D"/>
                </a:solidFill>
                <a:latin typeface="Arial"/>
                <a:ea typeface="Arial"/>
                <a:cs typeface="Arial"/>
              </a:defRPr>
            </a:lvl8pPr>
            <a:lvl9pPr>
              <a:defRPr sz="2550" b="0">
                <a:solidFill>
                  <a:srgbClr val="24668D"/>
                </a:solidFill>
                <a:latin typeface="Arial"/>
                <a:ea typeface="Arial"/>
                <a:cs typeface="Arial"/>
              </a:defRPr>
            </a:lvl9pPr>
          </a:lstStyle>
          <a:p xmlns:a="http://schemas.openxmlformats.org/drawingml/2006/main">
            <a:pPr>
              <a:defRPr sz="2550" b="0">
                <a:solidFill>
                  <a:srgbClr val="24668D"/>
                </a:solidFill>
                <a:latin typeface="Arial"/>
                <a:ea typeface="Arial"/>
                <a:cs typeface="Arial"/>
              </a:defRPr>
            </a:pPr>
            <a:r>
              <a:rPr sz="2550" b="0">
                <a:solidFill>
                  <a:srgbClr val="24668D"/>
                </a:solidFill>
                <a:latin typeface="Arial"/>
                <a:ea typeface="Arial"/>
                <a:cs typeface="Arial"/>
              </a:rPr>
              <a:t>The GMM gives us a clear order for reviewing transactions.</a:t>
            </a:r>
          </a:p>
        </p:txBody>
      </p:sp>
      <p:sp>
        <p:nvSpPr>
          <p:cNvPr id="4" name="">
            <a:extLst xmlns:a="http://schemas.openxmlformats.org/drawingml/2006/main">
              <a:ext uri="{FF2B5EF4-FFF2-40B4-BE49-F238E27FC236}">
                <a16:creationId xmlns:a16="http://schemas.microsoft.com/office/drawing/2014/main" id="{EA4E71CD-F137-42A3-A587-37971CADA056}"/>
              </a:ext>
            </a:extLst>
          </p:cNvPr>
          <p:cNvSpPr>
            <a:spLocks xmlns:a="http://schemas.openxmlformats.org/drawingml/2006/main" noGrp="1"/>
          </p:cNvSpPr>
          <p:nvPr/>
        </p:nvSpPr>
        <p:spPr>
          <a:xfrm xmlns:a="http://schemas.openxmlformats.org/drawingml/2006/main">
            <a:off x="685800" y="2762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At our default cutoff, it finds half the test fraud and creates 172 false alerts.</a:t>
            </a:r>
          </a:p>
        </p:txBody>
      </p:sp>
      <p:sp>
        <p:nvSpPr>
          <p:cNvPr id="5" name="">
            <a:extLst xmlns:a="http://schemas.openxmlformats.org/drawingml/2006/main">
              <a:ext uri="{FF2B5EF4-FFF2-40B4-BE49-F238E27FC236}">
                <a16:creationId xmlns:a16="http://schemas.microsoft.com/office/drawing/2014/main" id="{E8BF00AF-06BD-4535-8011-320633C8ADD0}"/>
              </a:ext>
            </a:extLst>
          </p:cNvPr>
          <p:cNvSpPr>
            <a:spLocks xmlns:a="http://schemas.openxmlformats.org/drawingml/2006/main" noGrp="1"/>
          </p:cNvSpPr>
          <p:nvPr/>
        </p:nvSpPr>
        <p:spPr>
          <a:xfrm xmlns:a="http://schemas.openxmlformats.org/drawingml/2006/main">
            <a:off x="685800" y="4000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Only 74 test frauds. Short historical data. Hidden feature meanings.</a:t>
            </a:r>
          </a:p>
        </p:txBody>
      </p:sp>
      <p:sp>
        <p:nvSpPr>
          <p:cNvPr id="6" name="">
            <a:extLst xmlns:a="http://schemas.openxmlformats.org/drawingml/2006/main">
              <a:ext uri="{FF2B5EF4-FFF2-40B4-BE49-F238E27FC236}">
                <a16:creationId xmlns:a16="http://schemas.microsoft.com/office/drawing/2014/main" id="{D6B9DFC3-9CCE-4B07-95BE-3D948AAA7AEF}"/>
              </a:ext>
            </a:extLst>
          </p:cNvPr>
          <p:cNvSpPr>
            <a:spLocks xmlns:a="http://schemas.openxmlformats.org/drawingml/2006/main" noGrp="1"/>
          </p:cNvSpPr>
          <p:nvPr/>
        </p:nvSpPr>
        <p:spPr>
          <a:xfrm xmlns:a="http://schemas.openxmlformats.org/drawingml/2006/main">
            <a:off x="685800" y="5238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E6472"/>
                </a:solidFill>
                <a:latin typeface="Arial"/>
                <a:ea typeface="Arial"/>
                <a:cs typeface="Arial"/>
              </a:defRPr>
            </a:defPPr>
            <a:lvl1pPr>
              <a:defRPr sz="2250" b="0">
                <a:solidFill>
                  <a:srgbClr val="4E6472"/>
                </a:solidFill>
                <a:latin typeface="Arial"/>
                <a:ea typeface="Arial"/>
                <a:cs typeface="Arial"/>
              </a:defRPr>
            </a:lvl1pPr>
            <a:lvl2pPr>
              <a:defRPr sz="2250" b="0">
                <a:solidFill>
                  <a:srgbClr val="4E6472"/>
                </a:solidFill>
                <a:latin typeface="Arial"/>
                <a:ea typeface="Arial"/>
                <a:cs typeface="Arial"/>
              </a:defRPr>
            </a:lvl2pPr>
            <a:lvl3pPr>
              <a:defRPr sz="2250" b="0">
                <a:solidFill>
                  <a:srgbClr val="4E6472"/>
                </a:solidFill>
                <a:latin typeface="Arial"/>
                <a:ea typeface="Arial"/>
                <a:cs typeface="Arial"/>
              </a:defRPr>
            </a:lvl3pPr>
            <a:lvl4pPr>
              <a:defRPr sz="2250" b="0">
                <a:solidFill>
                  <a:srgbClr val="4E6472"/>
                </a:solidFill>
                <a:latin typeface="Arial"/>
                <a:ea typeface="Arial"/>
                <a:cs typeface="Arial"/>
              </a:defRPr>
            </a:lvl4pPr>
            <a:lvl5pPr>
              <a:defRPr sz="2250" b="0">
                <a:solidFill>
                  <a:srgbClr val="4E6472"/>
                </a:solidFill>
                <a:latin typeface="Arial"/>
                <a:ea typeface="Arial"/>
                <a:cs typeface="Arial"/>
              </a:defRPr>
            </a:lvl5pPr>
            <a:lvl6pPr>
              <a:defRPr sz="2250" b="0">
                <a:solidFill>
                  <a:srgbClr val="4E6472"/>
                </a:solidFill>
                <a:latin typeface="Arial"/>
                <a:ea typeface="Arial"/>
                <a:cs typeface="Arial"/>
              </a:defRPr>
            </a:lvl6pPr>
            <a:lvl7pPr>
              <a:defRPr sz="2250" b="0">
                <a:solidFill>
                  <a:srgbClr val="4E6472"/>
                </a:solidFill>
                <a:latin typeface="Arial"/>
                <a:ea typeface="Arial"/>
                <a:cs typeface="Arial"/>
              </a:defRPr>
            </a:lvl7pPr>
            <a:lvl8pPr>
              <a:defRPr sz="2250" b="0">
                <a:solidFill>
                  <a:srgbClr val="4E6472"/>
                </a:solidFill>
                <a:latin typeface="Arial"/>
                <a:ea typeface="Arial"/>
                <a:cs typeface="Arial"/>
              </a:defRPr>
            </a:lvl8pPr>
            <a:lvl9pPr>
              <a:defRPr sz="2250" b="0">
                <a:solidFill>
                  <a:srgbClr val="4E6472"/>
                </a:solidFill>
                <a:latin typeface="Arial"/>
                <a:ea typeface="Arial"/>
                <a:cs typeface="Arial"/>
              </a:defRPr>
            </a:lvl9pPr>
          </a:lstStyle>
          <a:p xmlns:a="http://schemas.openxmlformats.org/drawingml/2006/main">
            <a:pPr>
              <a:defRPr sz="2250" b="0">
                <a:solidFill>
                  <a:srgbClr val="4E6472"/>
                </a:solidFill>
                <a:latin typeface="Arial"/>
                <a:ea typeface="Arial"/>
                <a:cs typeface="Arial"/>
              </a:defRPr>
            </a:pPr>
            <a:r>
              <a:rPr sz="2250" b="0">
                <a:solidFill>
                  <a:srgbClr val="4E6472"/>
                </a:solidFill>
                <a:latin typeface="Arial"/>
                <a:ea typeface="Arial"/>
                <a:cs typeface="Arial"/>
              </a:rPr>
              <a:t>Phase 1 covers the GMM. The autoencoder belongs to Phase 2.</a:t>
            </a:r>
          </a:p>
        </p:txBody>
      </p:sp>
    </p:spTree>
    <p:extLst>
      <p:ext uri="{BB962C8B-B14F-4D97-AF65-F5344CB8AC3E}">
        <p14:creationId xmlns:p14="http://schemas.microsoft.com/office/powerpoint/2010/main" val="1732659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2026-10-21T06:15:38.8180000Z</dcterms:created>
  <dcterms:modified xsi:type="dcterms:W3CDTF">2026-10-21T06:15:38.8180000Z</dcterms:modified>
</coreProperties>
</file>