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4a3339ffe1491f" /><Relationship Type="http://schemas.openxmlformats.org/officeDocument/2006/relationships/extended-properties" Target="/docProps/app.xml" Id="R0ff25e6a597341cb" /><Relationship Type="http://schemas.openxmlformats.org/officeDocument/2006/relationships/officeDocument" Target="/ppt/presentation.xml" Id="Rfe577179195b44dc" /></Relationships>
</file>

<file path=ppt/presentation.xml><?xml version="1.0" encoding="utf-8"?>
<p:presentation xmlns:p="http://schemas.openxmlformats.org/presentationml/2006/main">
  <p:sldMasterIdLst>
    <p:sldMasterId xmlns:r="http://schemas.openxmlformats.org/officeDocument/2006/relationships" id="2147483648" r:id="R13f92678a621463c"/>
  </p:sldMasterIdLst>
  <p:notesMasterIdLst>
    <p:notesMasterId xmlns:r="http://schemas.openxmlformats.org/officeDocument/2006/relationships" r:id="R72d786bae828482f"/>
  </p:notesMasterIdLst>
  <p:sldIdLst>
    <p:sldId xmlns:r="http://schemas.openxmlformats.org/officeDocument/2006/relationships" id="256" r:id="Rd1364261ca5642b1"/>
    <p:sldId xmlns:r="http://schemas.openxmlformats.org/officeDocument/2006/relationships" id="257" r:id="R7f7511f2f5474c8f"/>
    <p:sldId xmlns:r="http://schemas.openxmlformats.org/officeDocument/2006/relationships" id="258" r:id="Ra3e233c080c242c5"/>
    <p:sldId xmlns:r="http://schemas.openxmlformats.org/officeDocument/2006/relationships" id="259" r:id="R08c85c3cfc1b4088"/>
    <p:sldId xmlns:r="http://schemas.openxmlformats.org/officeDocument/2006/relationships" id="260" r:id="R509cce79f278478a"/>
    <p:sldId xmlns:r="http://schemas.openxmlformats.org/officeDocument/2006/relationships" id="261" r:id="Rbdbf9210383046ba"/>
    <p:sldId xmlns:r="http://schemas.openxmlformats.org/officeDocument/2006/relationships" id="262" r:id="R27fa7fd8dc304c4c"/>
    <p:sldId xmlns:r="http://schemas.openxmlformats.org/officeDocument/2006/relationships" id="263" r:id="R875318e7140f4881"/>
    <p:sldId xmlns:r="http://schemas.openxmlformats.org/officeDocument/2006/relationships" id="264" r:id="R8b617d768a7f42fa"/>
    <p:sldId xmlns:r="http://schemas.openxmlformats.org/officeDocument/2006/relationships" id="265" r:id="R7d307cba42ff4a25"/>
    <p:sldId xmlns:r="http://schemas.openxmlformats.org/officeDocument/2006/relationships" id="266" r:id="Ra347f040f156430c"/>
    <p:sldId xmlns:r="http://schemas.openxmlformats.org/officeDocument/2006/relationships" id="267" r:id="R2d4f4f2972384df8"/>
    <p:sldId xmlns:r="http://schemas.openxmlformats.org/officeDocument/2006/relationships" id="268" r:id="R958c9b4e1e9646e3"/>
    <p:sldId xmlns:r="http://schemas.openxmlformats.org/officeDocument/2006/relationships" id="269" r:id="Rcd5d9d35ce6348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876b5a84bf4acc" /><Relationship Type="http://schemas.openxmlformats.org/officeDocument/2006/relationships/slideMaster" Target="/ppt/slideMasters/slideMaster1.xml" Id="R13f92678a621463c" /><Relationship Type="http://schemas.openxmlformats.org/officeDocument/2006/relationships/notesMaster" Target="/ppt/notesMasters/notesMaster1.xml" Id="R72d786bae828482f" /><Relationship Type="http://schemas.openxmlformats.org/officeDocument/2006/relationships/presProps" Target="/ppt/presProps.xml" Id="R848f708d3590468c" /><Relationship Type="http://schemas.openxmlformats.org/officeDocument/2006/relationships/tableStyles" Target="/ppt/tableStyles.xml" Id="Reb55a69ad2b3441c" /><Relationship Type="http://schemas.openxmlformats.org/officeDocument/2006/relationships/slide" Target="/ppt/slides/slide1.xml" Id="Rd1364261ca5642b1" /><Relationship Type="http://schemas.openxmlformats.org/officeDocument/2006/relationships/slide" Target="/ppt/slides/slide2.xml" Id="R7f7511f2f5474c8f" /><Relationship Type="http://schemas.openxmlformats.org/officeDocument/2006/relationships/slide" Target="/ppt/slides/slide3.xml" Id="Ra3e233c080c242c5" /><Relationship Type="http://schemas.openxmlformats.org/officeDocument/2006/relationships/slide" Target="/ppt/slides/slide4.xml" Id="R08c85c3cfc1b4088" /><Relationship Type="http://schemas.openxmlformats.org/officeDocument/2006/relationships/slide" Target="/ppt/slides/slide5.xml" Id="R509cce79f278478a" /><Relationship Type="http://schemas.openxmlformats.org/officeDocument/2006/relationships/slide" Target="/ppt/slides/slide6.xml" Id="Rbdbf9210383046ba" /><Relationship Type="http://schemas.openxmlformats.org/officeDocument/2006/relationships/slide" Target="/ppt/slides/slide7.xml" Id="R27fa7fd8dc304c4c" /><Relationship Type="http://schemas.openxmlformats.org/officeDocument/2006/relationships/slide" Target="/ppt/slides/slide8.xml" Id="R875318e7140f4881" /><Relationship Type="http://schemas.openxmlformats.org/officeDocument/2006/relationships/slide" Target="/ppt/slides/slide9.xml" Id="R8b617d768a7f42fa" /><Relationship Type="http://schemas.openxmlformats.org/officeDocument/2006/relationships/slide" Target="/ppt/slides/slide10.xml" Id="R7d307cba42ff4a25" /><Relationship Type="http://schemas.openxmlformats.org/officeDocument/2006/relationships/slide" Target="/ppt/slides/slide11.xml" Id="Ra347f040f156430c" /><Relationship Type="http://schemas.openxmlformats.org/officeDocument/2006/relationships/slide" Target="/ppt/slides/slide12.xml" Id="R2d4f4f2972384df8" /><Relationship Type="http://schemas.openxmlformats.org/officeDocument/2006/relationships/slide" Target="/ppt/slides/slide13.xml" Id="R958c9b4e1e9646e3" /><Relationship Type="http://schemas.openxmlformats.org/officeDocument/2006/relationships/slide" Target="/ppt/slides/slide14.xml" Id="Rcd5d9d35ce6348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ded354dca148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8107f71e94610" /><Relationship Type="http://schemas.openxmlformats.org/officeDocument/2006/relationships/notesMaster" Target="/ppt/notesMasters/notesMaster1.xml" Id="Ra59ba21ff6ac4b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a36ac154b94e21" /><Relationship Type="http://schemas.openxmlformats.org/officeDocument/2006/relationships/notesMaster" Target="/ppt/notesMasters/notesMaster1.xml" Id="Rb17a0155a88148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d07e5f0016439d" /><Relationship Type="http://schemas.openxmlformats.org/officeDocument/2006/relationships/notesMaster" Target="/ppt/notesMasters/notesMaster1.xml" Id="R7420f3bd32c5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efa807bd3345b3" /><Relationship Type="http://schemas.openxmlformats.org/officeDocument/2006/relationships/notesMaster" Target="/ppt/notesMasters/notesMaster1.xml" Id="R77ba1fb1efd241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d0f393f468457d" /><Relationship Type="http://schemas.openxmlformats.org/officeDocument/2006/relationships/notesMaster" Target="/ppt/notesMasters/notesMaster1.xml" Id="Rb8833d37768648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214984523b49e4" /><Relationship Type="http://schemas.openxmlformats.org/officeDocument/2006/relationships/notesMaster" Target="/ppt/notesMasters/notesMaster1.xml" Id="Re3179cfcc76544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3c164529204d07" /><Relationship Type="http://schemas.openxmlformats.org/officeDocument/2006/relationships/notesMaster" Target="/ppt/notesMasters/notesMaster1.xml" Id="Ra274f6154c7942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166487b85f48be" /><Relationship Type="http://schemas.openxmlformats.org/officeDocument/2006/relationships/notesMaster" Target="/ppt/notesMasters/notesMaster1.xml" Id="R2eee79e794a14b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c7aa5dd5e4b96" /><Relationship Type="http://schemas.openxmlformats.org/officeDocument/2006/relationships/notesMaster" Target="/ppt/notesMasters/notesMaster1.xml" Id="Ra16c5041037546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249a0b9204433c" /><Relationship Type="http://schemas.openxmlformats.org/officeDocument/2006/relationships/notesMaster" Target="/ppt/notesMasters/notesMaster1.xml" Id="R79e51d81ebce4f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ea4441ae46436a" /><Relationship Type="http://schemas.openxmlformats.org/officeDocument/2006/relationships/notesMaster" Target="/ppt/notesMasters/notesMaster1.xml" Id="R3e34ed318be74b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5f950a3c0d4bfe" /><Relationship Type="http://schemas.openxmlformats.org/officeDocument/2006/relationships/notesMaster" Target="/ppt/notesMasters/notesMaster1.xml" Id="Reace2ca46e014f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2d674c23e44dbd" /><Relationship Type="http://schemas.openxmlformats.org/officeDocument/2006/relationships/notesMaster" Target="/ppt/notesMasters/notesMaster1.xml" Id="Rd2cb808f84554c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c11e75ecc24bad" /><Relationship Type="http://schemas.openxmlformats.org/officeDocument/2006/relationships/notesMaster" Target="/ppt/notesMasters/notesMaster1.xml" Id="R0cf5c89055f84a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T011, Section A. H Maheshwari 2401010174, Vaibhav 2401010486, Mayank 2401010267, Keshav 2401010222, Mitul Bhatia 2401010279. Explain that this deck presents Phase 1 only. Source: supplied allocation email and course 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We learn the normal patterns of known legitimate transactions. We rank later transactions by unusualness and send a limited number for manual review. A high anomaly score does not prove fraud. Course PDF page 2 restricts this evaluation to ML. No autoencoder or hybrid model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Dempster, Laird and Rubin (1977), JRSS B 39(1), pp 1-22, DOI https://doi.org/10.1111/j.2517-6161.1977.tb01600.x. Saito and Rehmsmeier (2015), PLOS ONE 10(3), e0118432, https://journals.plos.org/plosone/article?id=10.1371/journal.pone.0118432. scikit-learn mixture guide https://scikit-learn.org/stable/modules/mixture.html and selection example https://scikit-learn.org/stable/auto_examples/mixture/plot_gmm_selection.html. These sources explain methods and evaluation, not our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ULB/Worldline dataset https://www.kaggle.com/datasets/mlg-ulb/creditcardfraud and documented CSV mirror https://www.tensorflow.org/tutorials/structured_data/imbalanced_data. Actual file measurements are in results/data_quality.json. We found 0 missing and infinite cells. Remove exact full-row repeats and keep the first. There is no transaction ID, so this is an assumption. Do not call all repeated rows verified duplicate purchases. V1-V28 are anonymous provider PCA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results/splits.csv. Split around 60/20/20 of cleaned rows. Ties in Time stay within one period. Train Time &lt;120393 seconds, validation 120393-145233, test 145234-172792. Scaler and GMM use only 169893 legitimate training rows. Thresholds use validation scores. Test labels do not choose features, K or thresholds. Base-rate reporting does not fit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training rows after the documented split and cleaning, generated by scripts/build_presentation_data.py. Native chart shows fraction within each class per 0.5-wide log-amount bin from 0 to 12. Density shapes are normalized separately, so curve heights do not show class counts. Amount uses EUR. log(1+Amount) accepts zero and reduces the long tail. All model inputs remain untrimmed.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V1-V28 plus log(1+Amount). No added PCA. StandardScaler fits only known legitimate training rows. V1-V28 were already processed by the provider, whose original PCA fit we cannot audit. Filtering legitimate history uses labels, although GMM fitting itself is unsupervised. Explain this nuance if asked. Source: src/project.py make_features and prepare_features.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 equations in report/phase1_report.tex, implementation in src/project.py, and https://scikit-learn.org/stable/modules/mixture.html. A weighted sum of Gaussian densities allows multiple centers. E-step estimates responsibilities, M-step updates means, diagonal variances and weights. Three starts and variance regularization improve practical fitting but do not guarantee a global optimum. The mixture can express overall dependence despite diagonal within-component covariance.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results/gmm_selection.csv. AIC=2q-2L and BIC=q log N-2L. All candidates fit the same 169893 legitimate training rows, with diagonal covariance. Select minimum training BIC among converged candidates. Every candidate converged. K=8 has 471 free parameters for d=29. Both criteria still decrease at the upper grid boundary. Better legitimate density fit does not guarantee better fraud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results/ranking_metrics.csv and test_scores.csv. The native chart connects retained PR points from sklearn precision_recall_curve(drop_intermediate=True). Values are actual held-out mixed-test results. AP is step-weighted, trapezoidal PR AUC uses linear integration, and neither is accuracy. The reference one-Gaussian model uses the same legitimate training rows and scaler. Test prevalence is 74/56746=0.1304%.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results/test_operating_points.csv and validation_thresholds.csv. Budgets refer to empirical validation FPR, never guaranteed future rates. Thresholds come from legitimate validation scores, with strict score &gt; threshold and conservative ties. Default 0.5% was fixed as an illustrative classroom policy before test outcomes. Precision at the three thresholds is 13.33%,17.70%,12.01%. Do not suggest that 0.5% was selected by maximizing test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results/test_operating_points.csv, default fpr_budget=.005. TN56500, FP172, FN37, TP37, alerts209. Recall=37/(37+37)=50%, precision=37/(37+172)=17.70%, FPR=172/(172+56500)=0.3035%. The model misses 37 frauds and most alerts are legitimate. Say these limits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results/test_review_capacity.csv. Review the highest scoring K rows of this entire test batch. Break score ties by existing chronological order. At K=100, 29/100 fraud, 29/74 recall=39.19%. At K50 precision=.16, K100=.29, K200=.185, K500=.106. Precision need not decrease monotonically because the next block can have different fraud prevalence. Capacity is an alternative to a fixed score threshold, not a daily live queue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measured GMM improves PR ranking over one Gaussian in this run. It is an educational baseline, not a production claim. Limits: only 74 test frauds (1 fraud changes recall by about1.35 percentage points), short historical dataset, anonymous PCA inputs, no audit of provider PCA, duplicate-removal assumption, diagonal covariance, largest-K grid boundary, no repeated-window uncertainty estimate. Phase 2 only: train an autoencoder on the same legitimate training rows and compare under the same split, validation policy and metrics. Source: measured tables and report limitations. End with a short notebook demo and individual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68053584c643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891de03b7147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9303b5ebed43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3381e754f542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92eecdbe0944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5991f289ce4f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0FC92B-9DE1-494D-94E7-5EA0570EF9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F89ED9-4EBA-44C7-BE4F-D43B56DD1C1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756861-BC7D-4D88-A518-07090273EB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64CB27-037F-4772-A362-5035BB2987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14A621-6130-4081-9AF6-EBB3740178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BC171E-73F4-4EBD-B141-1B1EB86B82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D41795-1294-4D21-A8E3-AAC7629589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FA9156-A21C-49C7-83F7-645BAF73AC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E5E7D-F004-405B-8960-A26E3422F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F39E69-67A7-471B-BC4D-6735940231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98d8cc68754e30" /><Relationship Type="http://schemas.openxmlformats.org/officeDocument/2006/relationships/slideLayout" Target="/ppt/slideLayouts/slideLayout1.xml" Id="R58e9030da6db4845" /><Relationship Type="http://schemas.openxmlformats.org/officeDocument/2006/relationships/slideLayout" Target="/ppt/slideLayouts/slideLayout2.xml" Id="R971dff17e60d457a" /><Relationship Type="http://schemas.openxmlformats.org/officeDocument/2006/relationships/slideLayout" Target="/ppt/slideLayouts/slideLayout3.xml" Id="R34e0ca2e28db456a" /><Relationship Type="http://schemas.openxmlformats.org/officeDocument/2006/relationships/slideLayout" Target="/ppt/slideLayouts/slideLayout4.xml" Id="R3b85b5a418c544cf" /><Relationship Type="http://schemas.openxmlformats.org/officeDocument/2006/relationships/slideLayout" Target="/ppt/slideLayouts/slideLayout5.xml" Id="Rf170b13b572747e3" /><Relationship Type="http://schemas.openxmlformats.org/officeDocument/2006/relationships/slideLayout" Target="/ppt/slideLayouts/slideLayout6.xml" Id="Rd5a337cda61c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e9030da6db4845"/>
    <p:sldLayoutId xmlns:r="http://schemas.openxmlformats.org/officeDocument/2006/relationships" id="2147483650" r:id="R971dff17e60d457a"/>
    <p:sldLayoutId xmlns:r="http://schemas.openxmlformats.org/officeDocument/2006/relationships" id="2147483651" r:id="R34e0ca2e28db456a"/>
    <p:sldLayoutId xmlns:r="http://schemas.openxmlformats.org/officeDocument/2006/relationships" id="2147483652" r:id="R3b85b5a418c544cf"/>
    <p:sldLayoutId xmlns:r="http://schemas.openxmlformats.org/officeDocument/2006/relationships" id="2147483653" r:id="Rf170b13b572747e3"/>
    <p:sldLayoutId xmlns:r="http://schemas.openxmlformats.org/officeDocument/2006/relationships" id="2147483654" r:id="Rd5a337cda61c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440a3e243845b8" /><Relationship Type="http://schemas.openxmlformats.org/officeDocument/2006/relationships/notesSlide" Target="/ppt/notesSlides/notesSlide1.xml" Id="R2abb1a8b9d9c4d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067a1783f94ee2" /><Relationship Type="http://schemas.openxmlformats.org/officeDocument/2006/relationships/notesSlide" Target="/ppt/notesSlides/notesSlide2.xml" Id="R4c0730833a9646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fe1ec04edf4af0" /><Relationship Type="http://schemas.openxmlformats.org/officeDocument/2006/relationships/notesSlide" Target="/ppt/notesSlides/notesSlide3.xml" Id="R69ddb2e749494f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077e91e4d14b5e" /><Relationship Type="http://schemas.openxmlformats.org/officeDocument/2006/relationships/notesSlide" Target="/ppt/notesSlides/notesSlide4.xml" Id="R1a523f9a1d9241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1fbc7a34184b10" /><Relationship Type="http://schemas.openxmlformats.org/officeDocument/2006/relationships/notesSlide" Target="/ppt/notesSlides/notesSlide5.xml" Id="R1f28889d0cc144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13210b78bf41d5" /><Relationship Type="http://schemas.openxmlformats.org/officeDocument/2006/relationships/chart" Target="/ppt/slides/charts/chart1.xml" Id="Reda79bbf39234fd4" /><Relationship Type="http://schemas.openxmlformats.org/officeDocument/2006/relationships/notesSlide" Target="/ppt/notesSlides/notesSlide6.xml" Id="Rf260977a704b46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9ab17fdc6c404e" /><Relationship Type="http://schemas.openxmlformats.org/officeDocument/2006/relationships/notesSlide" Target="/ppt/notesSlides/notesSlide7.xml" Id="Rfc349eb3554245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01901d4da24975" /><Relationship Type="http://schemas.openxmlformats.org/officeDocument/2006/relationships/notesSlide" Target="/ppt/notesSlides/notesSlide8.xml" Id="R328747640baf4e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676096842774f24" /><Relationship Type="http://schemas.openxmlformats.org/officeDocument/2006/relationships/chart" Target="/ppt/slides/charts/chart2.xml" Id="Racc9137c6f224464" /><Relationship Type="http://schemas.openxmlformats.org/officeDocument/2006/relationships/notesSlide" Target="/ppt/notesSlides/notesSlide9.xml" Id="R27fffdd258ee45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58de52a7fd40e3" /><Relationship Type="http://schemas.openxmlformats.org/officeDocument/2006/relationships/chart" Target="/ppt/slides/charts/chart3.xml" Id="R8fd106fcacea445a" /><Relationship Type="http://schemas.openxmlformats.org/officeDocument/2006/relationships/notesSlide" Target="/ppt/notesSlides/notesSlide10.xml" Id="Rbce568b153a34f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3d6ffb7a694caa" /><Relationship Type="http://schemas.openxmlformats.org/officeDocument/2006/relationships/notesSlide" Target="/ppt/notesSlides/notesSlide11.xml" Id="R04bf3202e6eb41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1922dda8514861" /><Relationship Type="http://schemas.openxmlformats.org/officeDocument/2006/relationships/chart" Target="/ppt/slides/charts/chart4.xml" Id="Rd00ed8af19da4909" /><Relationship Type="http://schemas.openxmlformats.org/officeDocument/2006/relationships/notesSlide" Target="/ppt/notesSlides/notesSlide12.xml" Id="R1791341afd844e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68a84d8b004f7f" /><Relationship Type="http://schemas.openxmlformats.org/officeDocument/2006/relationships/chart" Target="/ppt/slides/charts/chart5.xml" Id="Rfa2cef2717904be3" /><Relationship Type="http://schemas.openxmlformats.org/officeDocument/2006/relationships/notesSlide" Target="/ppt/notesSlides/notesSlide13.xml" Id="Re9af9017d1024d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10b82bf77c4b50" /><Relationship Type="http://schemas.openxmlformats.org/officeDocument/2006/relationships/notesSlide" Target="/ppt/notesSlides/notesSlide14.xml" Id="R4a0dfac2d96240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7"/>
                </a:solidFill>
                <a:latin typeface="Arial"/>
                <a:ea typeface="Arial"/>
                <a:cs typeface="Arial"/>
              </a:rPr>
              <a:t>Share within each class by log-amount bin</a:t>
            </a:r>
          </a:p>
        </c:rich>
      </c:tx>
      <c:overlay val="0"/>
      <c:txPr>
        <a:bodyPr xmlns:a="http://schemas.openxmlformats.org/drawingml/2006/main" anchorCtr="1"/>
        <a:lstStyle xmlns:a="http://schemas.openxmlformats.org/drawingml/2006/main"/>
        <a:p xmlns:a="http://schemas.openxmlformats.org/drawingml/2006/main">
          <a:pPr>
            <a:defRPr sz="1875" b="1">
              <a:solidFill>
                <a:srgbClr val="173447"/>
              </a:solidFill>
              <a:latin typeface="Arial"/>
              <a:ea typeface="Arial"/>
              <a:cs typeface="Arial"/>
            </a:defRPr>
          </a:pPr>
        </a:p>
      </c:txPr>
    </c:title>
    <c:plotArea>
      <c:lineChart>
        <c:grouping val="standard"/>
        <c:varyColors val="0"/>
        <c:ser>
          <c:idx val="0"/>
          <c:order val="0"/>
          <c:tx>
            <c:v>Legitimate</c:v>
          </c:tx>
          <c:spPr>
            <a:ln xmlns:a="http://schemas.openxmlformats.org/drawingml/2006/main" w="28575">
              <a:solidFill>
                <a:srgbClr val="24668D"/>
              </a:solidFill>
            </a:ln>
          </c:spPr>
          <c:marker>
            <c:symbol val="none"/>
          </c:marker>
          <c:cat>
            <c:numRef>
              <c:f>'Chart Data'!$A$2:$A$25</c:f>
              <c:numCache>
                <c:formatCode>General</c:formatCode>
                <c:ptCount val="24"/>
                <c:pt idx="0">
                  <c:v>0.25</c:v>
                </c:pt>
                <c:pt idx="1">
                  <c:v>0.75</c:v>
                </c:pt>
                <c:pt idx="2">
                  <c:v>1.25</c:v>
                </c:pt>
                <c:pt idx="3">
                  <c:v>1.75</c:v>
                </c:pt>
                <c:pt idx="4">
                  <c:v>2.25</c:v>
                </c:pt>
                <c:pt idx="5">
                  <c:v>2.75</c:v>
                </c:pt>
                <c:pt idx="6">
                  <c:v>3.25</c:v>
                </c:pt>
                <c:pt idx="7">
                  <c:v>3.75</c:v>
                </c:pt>
                <c:pt idx="8">
                  <c:v>4.25</c:v>
                </c:pt>
                <c:pt idx="9">
                  <c:v>4.75</c:v>
                </c:pt>
                <c:pt idx="10">
                  <c:v>5.25</c:v>
                </c:pt>
                <c:pt idx="11">
                  <c:v>5.75</c:v>
                </c:pt>
                <c:pt idx="12">
                  <c:v>6.25</c:v>
                </c:pt>
                <c:pt idx="13">
                  <c:v>6.75</c:v>
                </c:pt>
                <c:pt idx="14">
                  <c:v>7.25</c:v>
                </c:pt>
                <c:pt idx="15">
                  <c:v>7.75</c:v>
                </c:pt>
                <c:pt idx="16">
                  <c:v>8.25</c:v>
                </c:pt>
                <c:pt idx="17">
                  <c:v>8.75</c:v>
                </c:pt>
                <c:pt idx="18">
                  <c:v>9.25</c:v>
                </c:pt>
                <c:pt idx="19">
                  <c:v>9.75</c:v>
                </c:pt>
                <c:pt idx="20">
                  <c:v>10.25</c:v>
                </c:pt>
                <c:pt idx="21">
                  <c:v>10.75</c:v>
                </c:pt>
                <c:pt idx="22">
                  <c:v>11.25</c:v>
                </c:pt>
                <c:pt idx="23">
                  <c:v>11.75</c:v>
                </c:pt>
              </c:numCache>
            </c:numRef>
          </c:cat>
          <c:val>
            <c:numRef>
              <c:f>'Chart Data'!$B$2:$B$25</c:f>
              <c:numCache>
                <c:formatCode>0%</c:formatCode>
                <c:ptCount val="24"/>
                <c:pt idx="0">
                  <c:v>0.01297287116</c:v>
                </c:pt>
                <c:pt idx="1">
                  <c:v>0.1179095077</c:v>
                </c:pt>
                <c:pt idx="2">
                  <c:v>0.06806048513</c:v>
                </c:pt>
                <c:pt idx="3">
                  <c:v>0.06574726445</c:v>
                </c:pt>
                <c:pt idx="4">
                  <c:v>0.0998569688</c:v>
                </c:pt>
                <c:pt idx="5">
                  <c:v>0.1074735275</c:v>
                </c:pt>
                <c:pt idx="6">
                  <c:v>0.1040301837</c:v>
                </c:pt>
                <c:pt idx="7">
                  <c:v>0.1045834731</c:v>
                </c:pt>
                <c:pt idx="8">
                  <c:v>0.09579558899</c:v>
                </c:pt>
                <c:pt idx="9">
                  <c:v>0.08264025004</c:v>
                </c:pt>
                <c:pt idx="10">
                  <c:v>0.06006721878</c:v>
                </c:pt>
                <c:pt idx="11">
                  <c:v>0.03779437646</c:v>
                </c:pt>
                <c:pt idx="12">
                  <c:v>0.02229050049</c:v>
                </c:pt>
                <c:pt idx="13">
                  <c:v>0.01207819039</c:v>
                </c:pt>
                <c:pt idx="14">
                  <c:v>0.005674159618</c:v>
                </c:pt>
                <c:pt idx="15">
                  <c:v>0.002001259616</c:v>
                </c:pt>
                <c:pt idx="16">
                  <c:v>0.0008417062504</c:v>
                </c:pt>
                <c:pt idx="17">
                  <c:v>0.0001471514424</c:v>
                </c:pt>
                <c:pt idx="18">
                  <c:v>2.354423078E-05</c:v>
                </c:pt>
                <c:pt idx="19">
                  <c:v>1.177211539E-05</c:v>
                </c:pt>
                <c:pt idx="20">
                  <c:v>0</c:v>
                </c:pt>
                <c:pt idx="21">
                  <c:v>0</c:v>
                </c:pt>
                <c:pt idx="22">
                  <c:v>0</c:v>
                </c:pt>
                <c:pt idx="23">
                  <c:v>0</c:v>
                </c:pt>
              </c:numCache>
            </c:numRef>
          </c:val>
          <c:smooth val="0"/>
        </c:ser>
        <c:ser>
          <c:idx val="1"/>
          <c:order val="1"/>
          <c:tx>
            <c:v>Fraud</c:v>
          </c:tx>
          <c:spPr>
            <a:ln xmlns:a="http://schemas.openxmlformats.org/drawingml/2006/main" w="28575">
              <a:solidFill>
                <a:srgbClr val="C44945"/>
              </a:solidFill>
            </a:ln>
          </c:spPr>
          <c:marker>
            <c:symbol val="none"/>
          </c:marker>
          <c:cat>
            <c:numRef>
              <c:f>'Chart Data'!$C$2:$C$25</c:f>
              <c:numCache>
                <c:formatCode>General</c:formatCode>
                <c:ptCount val="24"/>
                <c:pt idx="0">
                  <c:v>0.25</c:v>
                </c:pt>
                <c:pt idx="1">
                  <c:v>0.75</c:v>
                </c:pt>
                <c:pt idx="2">
                  <c:v>1.25</c:v>
                </c:pt>
                <c:pt idx="3">
                  <c:v>1.75</c:v>
                </c:pt>
                <c:pt idx="4">
                  <c:v>2.25</c:v>
                </c:pt>
                <c:pt idx="5">
                  <c:v>2.75</c:v>
                </c:pt>
                <c:pt idx="6">
                  <c:v>3.25</c:v>
                </c:pt>
                <c:pt idx="7">
                  <c:v>3.75</c:v>
                </c:pt>
                <c:pt idx="8">
                  <c:v>4.25</c:v>
                </c:pt>
                <c:pt idx="9">
                  <c:v>4.75</c:v>
                </c:pt>
                <c:pt idx="10">
                  <c:v>5.25</c:v>
                </c:pt>
                <c:pt idx="11">
                  <c:v>5.75</c:v>
                </c:pt>
                <c:pt idx="12">
                  <c:v>6.25</c:v>
                </c:pt>
                <c:pt idx="13">
                  <c:v>6.75</c:v>
                </c:pt>
                <c:pt idx="14">
                  <c:v>7.25</c:v>
                </c:pt>
                <c:pt idx="15">
                  <c:v>7.75</c:v>
                </c:pt>
                <c:pt idx="16">
                  <c:v>8.25</c:v>
                </c:pt>
                <c:pt idx="17">
                  <c:v>8.75</c:v>
                </c:pt>
                <c:pt idx="18">
                  <c:v>9.25</c:v>
                </c:pt>
                <c:pt idx="19">
                  <c:v>9.75</c:v>
                </c:pt>
                <c:pt idx="20">
                  <c:v>10.25</c:v>
                </c:pt>
                <c:pt idx="21">
                  <c:v>10.75</c:v>
                </c:pt>
                <c:pt idx="22">
                  <c:v>11.25</c:v>
                </c:pt>
                <c:pt idx="23">
                  <c:v>11.75</c:v>
                </c:pt>
              </c:numCache>
            </c:numRef>
          </c:cat>
          <c:val>
            <c:numRef>
              <c:f>'Chart Data'!$D$2:$D$25</c:f>
              <c:numCache>
                <c:formatCode>0%</c:formatCode>
                <c:ptCount val="24"/>
                <c:pt idx="0">
                  <c:v>0.05263157895</c:v>
                </c:pt>
                <c:pt idx="1">
                  <c:v>0.3391812865</c:v>
                </c:pt>
                <c:pt idx="2">
                  <c:v>0.02339181287</c:v>
                </c:pt>
                <c:pt idx="3">
                  <c:v>0.0350877193</c:v>
                </c:pt>
                <c:pt idx="4">
                  <c:v>0.04385964912</c:v>
                </c:pt>
                <c:pt idx="5">
                  <c:v>0.04385964912</c:v>
                </c:pt>
                <c:pt idx="6">
                  <c:v>0.0350877193</c:v>
                </c:pt>
                <c:pt idx="7">
                  <c:v>0.03801169591</c:v>
                </c:pt>
                <c:pt idx="8">
                  <c:v>0.04093567251</c:v>
                </c:pt>
                <c:pt idx="9">
                  <c:v>0.1549707602</c:v>
                </c:pt>
                <c:pt idx="10">
                  <c:v>0.05263157895</c:v>
                </c:pt>
                <c:pt idx="11">
                  <c:v>0.06140350877</c:v>
                </c:pt>
                <c:pt idx="12">
                  <c:v>0.04093567251</c:v>
                </c:pt>
                <c:pt idx="13">
                  <c:v>0.02339181287</c:v>
                </c:pt>
                <c:pt idx="14">
                  <c:v>0.01169590643</c:v>
                </c:pt>
                <c:pt idx="15">
                  <c:v>0.002923976608</c:v>
                </c:pt>
                <c:pt idx="16">
                  <c:v>0</c:v>
                </c:pt>
                <c:pt idx="17">
                  <c:v>0</c:v>
                </c:pt>
                <c:pt idx="18">
                  <c:v>0</c:v>
                </c:pt>
                <c:pt idx="19">
                  <c:v>0</c:v>
                </c:pt>
                <c:pt idx="20">
                  <c:v>0</c:v>
                </c:pt>
                <c:pt idx="21">
                  <c:v>0</c:v>
                </c:pt>
                <c:pt idx="22">
                  <c:v>0</c:v>
                </c:pt>
                <c:pt idx="23">
                  <c:v>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log(1 + Amount), bin midpoint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4E6472"/>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Share within class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4E6472"/>
              </a:solidFill>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7"/>
                </a:solidFill>
                <a:latin typeface="Arial"/>
                <a:ea typeface="Arial"/>
                <a:cs typeface="Arial"/>
              </a:rPr>
              <a:t>Training criteria, lower is better</a:t>
            </a:r>
          </a:p>
        </c:rich>
      </c:tx>
      <c:overlay val="0"/>
      <c:txPr>
        <a:bodyPr xmlns:a="http://schemas.openxmlformats.org/drawingml/2006/main" anchorCtr="1"/>
        <a:lstStyle xmlns:a="http://schemas.openxmlformats.org/drawingml/2006/main"/>
        <a:p xmlns:a="http://schemas.openxmlformats.org/drawingml/2006/main">
          <a:pPr>
            <a:defRPr sz="1875" b="1">
              <a:solidFill>
                <a:srgbClr val="173447"/>
              </a:solidFill>
              <a:latin typeface="Arial"/>
              <a:ea typeface="Arial"/>
              <a:cs typeface="Arial"/>
            </a:defRPr>
          </a:pPr>
        </a:p>
      </c:txPr>
    </c:title>
    <c:plotArea>
      <c:lineChart>
        <c:grouping val="standard"/>
        <c:varyColors val="0"/>
        <c:ser>
          <c:idx val="0"/>
          <c:order val="0"/>
          <c:tx>
            <c:v>AIC / 1 million</c:v>
          </c:tx>
          <c:spPr>
            <a:ln xmlns:a="http://schemas.openxmlformats.org/drawingml/2006/main" w="28575">
              <a:solidFill>
                <a:srgbClr val="24668D"/>
              </a:solidFill>
            </a:ln>
          </c:spPr>
          <c:marker>
            <c:symbol val="none"/>
          </c:marker>
          <c:cat>
            <c:numRef>
              <c:f>'Chart Data'!$A$2:$A$5</c:f>
              <c:numCache>
                <c:formatCode>General</c:formatCode>
                <c:ptCount val="4"/>
                <c:pt idx="0">
                  <c:v>1</c:v>
                </c:pt>
                <c:pt idx="1">
                  <c:v>2</c:v>
                </c:pt>
                <c:pt idx="2">
                  <c:v>4</c:v>
                </c:pt>
                <c:pt idx="3">
                  <c:v>8</c:v>
                </c:pt>
              </c:numCache>
            </c:numRef>
          </c:cat>
          <c:val>
            <c:numRef>
              <c:f>'Chart Data'!$B$2:$B$5</c:f>
              <c:numCache>
                <c:formatCode>General</c:formatCode>
                <c:ptCount val="4"/>
                <c:pt idx="0">
                  <c:v>13.982044</c:v>
                </c:pt>
                <c:pt idx="1">
                  <c:v>11.93483957</c:v>
                </c:pt>
                <c:pt idx="2">
                  <c:v>10.89440126</c:v>
                </c:pt>
                <c:pt idx="3">
                  <c:v>10.14018495</c:v>
                </c:pt>
              </c:numCache>
            </c:numRef>
          </c:val>
          <c:smooth val="0"/>
        </c:ser>
        <c:ser>
          <c:idx val="1"/>
          <c:order val="1"/>
          <c:tx>
            <c:v>BIC / 1 million</c:v>
          </c:tx>
          <c:spPr>
            <a:ln xmlns:a="http://schemas.openxmlformats.org/drawingml/2006/main" w="28575">
              <a:solidFill>
                <a:srgbClr val="C44945"/>
              </a:solidFill>
            </a:ln>
          </c:spPr>
          <c:marker>
            <c:symbol val="none"/>
          </c:marker>
          <c:cat>
            <c:numRef>
              <c:f>'Chart Data'!$C$2:$C$5</c:f>
              <c:numCache>
                <c:formatCode>General</c:formatCode>
                <c:ptCount val="4"/>
                <c:pt idx="0">
                  <c:v>1</c:v>
                </c:pt>
                <c:pt idx="1">
                  <c:v>2</c:v>
                </c:pt>
                <c:pt idx="2">
                  <c:v>4</c:v>
                </c:pt>
                <c:pt idx="3">
                  <c:v>8</c:v>
                </c:pt>
              </c:numCache>
            </c:numRef>
          </c:cat>
          <c:val>
            <c:numRef>
              <c:f>'Chart Data'!$D$2:$D$5</c:f>
              <c:numCache>
                <c:formatCode>General</c:formatCode>
                <c:ptCount val="4"/>
                <c:pt idx="0">
                  <c:v>13.98262649</c:v>
                </c:pt>
                <c:pt idx="1">
                  <c:v>11.9360146</c:v>
                </c:pt>
                <c:pt idx="2">
                  <c:v>10.89676134</c:v>
                </c:pt>
                <c:pt idx="3">
                  <c:v>10.14491517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Number of Gaussian components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Criterion / 1 million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4E6472"/>
              </a:solidFill>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7"/>
                </a:solidFill>
                <a:latin typeface="Arial"/>
                <a:ea typeface="Arial"/>
                <a:cs typeface="Arial"/>
              </a:rPr>
              <a:t>Selected GMM precision-recall curve</a:t>
            </a:r>
          </a:p>
        </c:rich>
      </c:tx>
      <c:overlay val="0"/>
      <c:txPr>
        <a:bodyPr xmlns:a="http://schemas.openxmlformats.org/drawingml/2006/main" anchorCtr="1"/>
        <a:lstStyle xmlns:a="http://schemas.openxmlformats.org/drawingml/2006/main"/>
        <a:p xmlns:a="http://schemas.openxmlformats.org/drawingml/2006/main">
          <a:pPr>
            <a:defRPr sz="1875" b="1">
              <a:solidFill>
                <a:srgbClr val="173447"/>
              </a:solidFill>
              <a:latin typeface="Arial"/>
              <a:ea typeface="Arial"/>
              <a:cs typeface="Arial"/>
            </a:defRPr>
          </a:pPr>
        </a:p>
      </c:txPr>
    </c:title>
    <c:plotArea>
      <c:scatterChart>
        <c:scatterStyle val="line"/>
        <c:varyColors val="0"/>
        <c:ser>
          <c:idx val="0"/>
          <c:order val="0"/>
          <c:tx>
            <c:v>GMM</c:v>
          </c:tx>
          <c:spPr>
            <a:ln xmlns:a="http://schemas.openxmlformats.org/drawingml/2006/main" w="23813">
              <a:solidFill>
                <a:srgbClr val="24668D"/>
              </a:solidFill>
            </a:ln>
          </c:spPr>
          <c:marker>
            <c:symbol val="none"/>
          </c:marker>
          <c:xVal>
            <c:numRef>
              <c:f>'Chart Data'!$A$2:$A$140</c:f>
              <c:numCache>
                <c:formatCode>General</c:formatCode>
                <c:ptCount val="139"/>
                <c:pt idx="0">
                  <c:v>1</c:v>
                </c:pt>
                <c:pt idx="1">
                  <c:v>1</c:v>
                </c:pt>
                <c:pt idx="2">
                  <c:v>0.9864864865</c:v>
                </c:pt>
                <c:pt idx="3">
                  <c:v>0.9864864865</c:v>
                </c:pt>
                <c:pt idx="4">
                  <c:v>0.972972973</c:v>
                </c:pt>
                <c:pt idx="5">
                  <c:v>0.972972973</c:v>
                </c:pt>
                <c:pt idx="6">
                  <c:v>0.9594594595</c:v>
                </c:pt>
                <c:pt idx="7">
                  <c:v>0.9594594595</c:v>
                </c:pt>
                <c:pt idx="8">
                  <c:v>0.9459459459</c:v>
                </c:pt>
                <c:pt idx="9">
                  <c:v>0.9459459459</c:v>
                </c:pt>
                <c:pt idx="10">
                  <c:v>0.9324324324</c:v>
                </c:pt>
                <c:pt idx="11">
                  <c:v>0.9324324324</c:v>
                </c:pt>
                <c:pt idx="12">
                  <c:v>0.9189189189</c:v>
                </c:pt>
                <c:pt idx="13">
                  <c:v>0.9189189189</c:v>
                </c:pt>
                <c:pt idx="14">
                  <c:v>0.9054054054</c:v>
                </c:pt>
                <c:pt idx="15">
                  <c:v>0.9054054054</c:v>
                </c:pt>
                <c:pt idx="16">
                  <c:v>0.8918918919</c:v>
                </c:pt>
                <c:pt idx="17">
                  <c:v>0.8918918919</c:v>
                </c:pt>
                <c:pt idx="18">
                  <c:v>0.8783783784</c:v>
                </c:pt>
                <c:pt idx="19">
                  <c:v>0.8783783784</c:v>
                </c:pt>
                <c:pt idx="20">
                  <c:v>0.8648648649</c:v>
                </c:pt>
                <c:pt idx="21">
                  <c:v>0.8648648649</c:v>
                </c:pt>
                <c:pt idx="22">
                  <c:v>0.8513513514</c:v>
                </c:pt>
                <c:pt idx="23">
                  <c:v>0.8513513514</c:v>
                </c:pt>
                <c:pt idx="24">
                  <c:v>0.8378378378</c:v>
                </c:pt>
                <c:pt idx="25">
                  <c:v>0.8378378378</c:v>
                </c:pt>
                <c:pt idx="26">
                  <c:v>0.8243243243</c:v>
                </c:pt>
                <c:pt idx="27">
                  <c:v>0.8243243243</c:v>
                </c:pt>
                <c:pt idx="28">
                  <c:v>0.8108108108</c:v>
                </c:pt>
                <c:pt idx="29">
                  <c:v>0.8108108108</c:v>
                </c:pt>
                <c:pt idx="30">
                  <c:v>0.7972972973</c:v>
                </c:pt>
                <c:pt idx="31">
                  <c:v>0.7972972973</c:v>
                </c:pt>
                <c:pt idx="32">
                  <c:v>0.7837837838</c:v>
                </c:pt>
                <c:pt idx="33">
                  <c:v>0.7837837838</c:v>
                </c:pt>
                <c:pt idx="34">
                  <c:v>0.7702702703</c:v>
                </c:pt>
                <c:pt idx="35">
                  <c:v>0.7702702703</c:v>
                </c:pt>
                <c:pt idx="36">
                  <c:v>0.7567567568</c:v>
                </c:pt>
                <c:pt idx="37">
                  <c:v>0.7567567568</c:v>
                </c:pt>
                <c:pt idx="38">
                  <c:v>0.7432432432</c:v>
                </c:pt>
                <c:pt idx="39">
                  <c:v>0.7432432432</c:v>
                </c:pt>
                <c:pt idx="40">
                  <c:v>0.7297297297</c:v>
                </c:pt>
                <c:pt idx="41">
                  <c:v>0.7297297297</c:v>
                </c:pt>
                <c:pt idx="42">
                  <c:v>0.7162162162</c:v>
                </c:pt>
                <c:pt idx="43">
                  <c:v>0.7162162162</c:v>
                </c:pt>
                <c:pt idx="44">
                  <c:v>0.7027027027</c:v>
                </c:pt>
                <c:pt idx="45">
                  <c:v>0.7027027027</c:v>
                </c:pt>
                <c:pt idx="46">
                  <c:v>0.6891891892</c:v>
                </c:pt>
                <c:pt idx="47">
                  <c:v>0.6891891892</c:v>
                </c:pt>
                <c:pt idx="48">
                  <c:v>0.6756756757</c:v>
                </c:pt>
                <c:pt idx="49">
                  <c:v>0.6756756757</c:v>
                </c:pt>
                <c:pt idx="50">
                  <c:v>0.6621621622</c:v>
                </c:pt>
                <c:pt idx="51">
                  <c:v>0.6621621622</c:v>
                </c:pt>
                <c:pt idx="52">
                  <c:v>0.6486486486</c:v>
                </c:pt>
                <c:pt idx="53">
                  <c:v>0.6351351351</c:v>
                </c:pt>
                <c:pt idx="54">
                  <c:v>0.6351351351</c:v>
                </c:pt>
                <c:pt idx="55">
                  <c:v>0.6216216216</c:v>
                </c:pt>
                <c:pt idx="56">
                  <c:v>0.6216216216</c:v>
                </c:pt>
                <c:pt idx="57">
                  <c:v>0.6081081081</c:v>
                </c:pt>
                <c:pt idx="58">
                  <c:v>0.6081081081</c:v>
                </c:pt>
                <c:pt idx="59">
                  <c:v>0.5945945946</c:v>
                </c:pt>
                <c:pt idx="60">
                  <c:v>0.5945945946</c:v>
                </c:pt>
                <c:pt idx="61">
                  <c:v>0.5810810811</c:v>
                </c:pt>
                <c:pt idx="62">
                  <c:v>0.5810810811</c:v>
                </c:pt>
                <c:pt idx="63">
                  <c:v>0.5675675676</c:v>
                </c:pt>
                <c:pt idx="64">
                  <c:v>0.5675675676</c:v>
                </c:pt>
                <c:pt idx="65">
                  <c:v>0.5540540541</c:v>
                </c:pt>
                <c:pt idx="66">
                  <c:v>0.5405405405</c:v>
                </c:pt>
                <c:pt idx="67">
                  <c:v>0.5405405405</c:v>
                </c:pt>
                <c:pt idx="68">
                  <c:v>0.527027027</c:v>
                </c:pt>
                <c:pt idx="69">
                  <c:v>0.527027027</c:v>
                </c:pt>
                <c:pt idx="70">
                  <c:v>0.5135135135</c:v>
                </c:pt>
                <c:pt idx="71">
                  <c:v>0.5135135135</c:v>
                </c:pt>
                <c:pt idx="72">
                  <c:v>0.5</c:v>
                </c:pt>
                <c:pt idx="73">
                  <c:v>0.5</c:v>
                </c:pt>
                <c:pt idx="74">
                  <c:v>0.4864864865</c:v>
                </c:pt>
                <c:pt idx="75">
                  <c:v>0.4864864865</c:v>
                </c:pt>
                <c:pt idx="76">
                  <c:v>0.472972973</c:v>
                </c:pt>
                <c:pt idx="77">
                  <c:v>0.472972973</c:v>
                </c:pt>
                <c:pt idx="78">
                  <c:v>0.4594594595</c:v>
                </c:pt>
                <c:pt idx="79">
                  <c:v>0.4594594595</c:v>
                </c:pt>
                <c:pt idx="80">
                  <c:v>0.4459459459</c:v>
                </c:pt>
                <c:pt idx="81">
                  <c:v>0.4459459459</c:v>
                </c:pt>
                <c:pt idx="82">
                  <c:v>0.4324324324</c:v>
                </c:pt>
                <c:pt idx="83">
                  <c:v>0.4324324324</c:v>
                </c:pt>
                <c:pt idx="84">
                  <c:v>0.4189189189</c:v>
                </c:pt>
                <c:pt idx="85">
                  <c:v>0.4189189189</c:v>
                </c:pt>
                <c:pt idx="86">
                  <c:v>0.4054054054</c:v>
                </c:pt>
                <c:pt idx="87">
                  <c:v>0.4054054054</c:v>
                </c:pt>
                <c:pt idx="88">
                  <c:v>0.3918918919</c:v>
                </c:pt>
                <c:pt idx="89">
                  <c:v>0.3783783784</c:v>
                </c:pt>
                <c:pt idx="90">
                  <c:v>0.3783783784</c:v>
                </c:pt>
                <c:pt idx="91">
                  <c:v>0.3648648649</c:v>
                </c:pt>
                <c:pt idx="92">
                  <c:v>0.3648648649</c:v>
                </c:pt>
                <c:pt idx="93">
                  <c:v>0.3513513514</c:v>
                </c:pt>
                <c:pt idx="94">
                  <c:v>0.3513513514</c:v>
                </c:pt>
                <c:pt idx="95">
                  <c:v>0.3378378378</c:v>
                </c:pt>
                <c:pt idx="96">
                  <c:v>0.3378378378</c:v>
                </c:pt>
                <c:pt idx="97">
                  <c:v>0.3243243243</c:v>
                </c:pt>
                <c:pt idx="98">
                  <c:v>0.3243243243</c:v>
                </c:pt>
                <c:pt idx="99">
                  <c:v>0.3108108108</c:v>
                </c:pt>
                <c:pt idx="100">
                  <c:v>0.3108108108</c:v>
                </c:pt>
                <c:pt idx="101">
                  <c:v>0.2972972973</c:v>
                </c:pt>
                <c:pt idx="102">
                  <c:v>0.2972972973</c:v>
                </c:pt>
                <c:pt idx="103">
                  <c:v>0.2837837838</c:v>
                </c:pt>
                <c:pt idx="104">
                  <c:v>0.2702702703</c:v>
                </c:pt>
                <c:pt idx="105">
                  <c:v>0.2702702703</c:v>
                </c:pt>
                <c:pt idx="106">
                  <c:v>0.2567567568</c:v>
                </c:pt>
                <c:pt idx="107">
                  <c:v>0.2432432432</c:v>
                </c:pt>
                <c:pt idx="108">
                  <c:v>0.2432432432</c:v>
                </c:pt>
                <c:pt idx="109">
                  <c:v>0.2297297297</c:v>
                </c:pt>
                <c:pt idx="110">
                  <c:v>0.2297297297</c:v>
                </c:pt>
                <c:pt idx="111">
                  <c:v>0.2162162162</c:v>
                </c:pt>
                <c:pt idx="112">
                  <c:v>0.2027027027</c:v>
                </c:pt>
                <c:pt idx="113">
                  <c:v>0.1891891892</c:v>
                </c:pt>
                <c:pt idx="114">
                  <c:v>0.1756756757</c:v>
                </c:pt>
                <c:pt idx="115">
                  <c:v>0.1621621622</c:v>
                </c:pt>
                <c:pt idx="116">
                  <c:v>0.1621621622</c:v>
                </c:pt>
                <c:pt idx="117">
                  <c:v>0.1486486486</c:v>
                </c:pt>
                <c:pt idx="118">
                  <c:v>0.1486486486</c:v>
                </c:pt>
                <c:pt idx="119">
                  <c:v>0.1351351351</c:v>
                </c:pt>
                <c:pt idx="120">
                  <c:v>0.1216216216</c:v>
                </c:pt>
                <c:pt idx="121">
                  <c:v>0.1216216216</c:v>
                </c:pt>
                <c:pt idx="122">
                  <c:v>0.1081081081</c:v>
                </c:pt>
                <c:pt idx="123">
                  <c:v>0.1081081081</c:v>
                </c:pt>
                <c:pt idx="124">
                  <c:v>0.09459459459</c:v>
                </c:pt>
                <c:pt idx="125">
                  <c:v>0.08108108108</c:v>
                </c:pt>
                <c:pt idx="126">
                  <c:v>0.08108108108</c:v>
                </c:pt>
                <c:pt idx="127">
                  <c:v>0.06756756757</c:v>
                </c:pt>
                <c:pt idx="128">
                  <c:v>0.06756756757</c:v>
                </c:pt>
                <c:pt idx="129">
                  <c:v>0.05405405405</c:v>
                </c:pt>
                <c:pt idx="130">
                  <c:v>0.05405405405</c:v>
                </c:pt>
                <c:pt idx="131">
                  <c:v>0.04054054054</c:v>
                </c:pt>
                <c:pt idx="132">
                  <c:v>0.04054054054</c:v>
                </c:pt>
                <c:pt idx="133">
                  <c:v>0.02702702703</c:v>
                </c:pt>
                <c:pt idx="134">
                  <c:v>0.02702702703</c:v>
                </c:pt>
                <c:pt idx="135">
                  <c:v>0.01351351351</c:v>
                </c:pt>
                <c:pt idx="136">
                  <c:v>0</c:v>
                </c:pt>
                <c:pt idx="137">
                  <c:v>0</c:v>
                </c:pt>
                <c:pt idx="138">
                  <c:v>0</c:v>
                </c:pt>
              </c:numCache>
            </c:numRef>
          </c:xVal>
          <c:yVal>
            <c:numRef>
              <c:f>'Chart Data'!$B$2:$B$140</c:f>
              <c:numCache>
                <c:formatCode>0%</c:formatCode>
                <c:ptCount val="139"/>
                <c:pt idx="0">
                  <c:v>0.001304056674</c:v>
                </c:pt>
                <c:pt idx="1">
                  <c:v>0.002504908266</c:v>
                </c:pt>
                <c:pt idx="2">
                  <c:v>0.002471141803</c:v>
                </c:pt>
                <c:pt idx="3">
                  <c:v>0.00292315701</c:v>
                </c:pt>
                <c:pt idx="4">
                  <c:v>0.002883229217</c:v>
                </c:pt>
                <c:pt idx="5">
                  <c:v>0.003583515827</c:v>
                </c:pt>
                <c:pt idx="6">
                  <c:v>0.003533920661</c:v>
                </c:pt>
                <c:pt idx="7">
                  <c:v>0.004773751093</c:v>
                </c:pt>
                <c:pt idx="8">
                  <c:v>0.00470683163</c:v>
                </c:pt>
                <c:pt idx="9">
                  <c:v>0.007265933153</c:v>
                </c:pt>
                <c:pt idx="10">
                  <c:v>0.007162877608</c:v>
                </c:pt>
                <c:pt idx="11">
                  <c:v>0.007371007371</c:v>
                </c:pt>
                <c:pt idx="12">
                  <c:v>0.007264957265</c:v>
                </c:pt>
                <c:pt idx="13">
                  <c:v>0.008198697854</c:v>
                </c:pt>
                <c:pt idx="14">
                  <c:v>0.008079102858</c:v>
                </c:pt>
                <c:pt idx="15">
                  <c:v>0.01036991178</c:v>
                </c:pt>
                <c:pt idx="16">
                  <c:v>0.01021671827</c:v>
                </c:pt>
                <c:pt idx="17">
                  <c:v>0.01034969421</c:v>
                </c:pt>
                <c:pt idx="18">
                  <c:v>0.0101944793</c:v>
                </c:pt>
                <c:pt idx="19">
                  <c:v>0.01547619048</c:v>
                </c:pt>
                <c:pt idx="20">
                  <c:v>0.01524172422</c:v>
                </c:pt>
                <c:pt idx="21">
                  <c:v>0.01939981813</c:v>
                </c:pt>
                <c:pt idx="22">
                  <c:v>0.01910248636</c:v>
                </c:pt>
                <c:pt idx="23">
                  <c:v>0.02060170046</c:v>
                </c:pt>
                <c:pt idx="24">
                  <c:v>0.02028132156</c:v>
                </c:pt>
                <c:pt idx="25">
                  <c:v>0.02557755776</c:v>
                </c:pt>
                <c:pt idx="26">
                  <c:v>0.02517540239</c:v>
                </c:pt>
                <c:pt idx="27">
                  <c:v>0.02944015444</c:v>
                </c:pt>
                <c:pt idx="28">
                  <c:v>0.02897151135</c:v>
                </c:pt>
                <c:pt idx="29">
                  <c:v>0.03351955307</c:v>
                </c:pt>
                <c:pt idx="30">
                  <c:v>0.03297931805</c:v>
                </c:pt>
                <c:pt idx="31">
                  <c:v>0.0397574124</c:v>
                </c:pt>
                <c:pt idx="32">
                  <c:v>0.03910991234</c:v>
                </c:pt>
                <c:pt idx="33">
                  <c:v>0.07621550591</c:v>
                </c:pt>
                <c:pt idx="34">
                  <c:v>0.075</c:v>
                </c:pt>
                <c:pt idx="35">
                  <c:v>0.09018987342</c:v>
                </c:pt>
                <c:pt idx="36">
                  <c:v>0.08874801902</c:v>
                </c:pt>
                <c:pt idx="37">
                  <c:v>0.09893992933</c:v>
                </c:pt>
                <c:pt idx="38">
                  <c:v>0.09734513274</c:v>
                </c:pt>
                <c:pt idx="39">
                  <c:v>0.1086956522</c:v>
                </c:pt>
                <c:pt idx="40">
                  <c:v>0.1069306931</c:v>
                </c:pt>
                <c:pt idx="41">
                  <c:v>0.1071428571</c:v>
                </c:pt>
                <c:pt idx="42">
                  <c:v>0.1053677932</c:v>
                </c:pt>
                <c:pt idx="43">
                  <c:v>0.1130063966</c:v>
                </c:pt>
                <c:pt idx="44">
                  <c:v>0.1111111111</c:v>
                </c:pt>
                <c:pt idx="45">
                  <c:v>0.1244019139</c:v>
                </c:pt>
                <c:pt idx="46">
                  <c:v>0.1223021583</c:v>
                </c:pt>
                <c:pt idx="47">
                  <c:v>0.1256157635</c:v>
                </c:pt>
                <c:pt idx="48">
                  <c:v>0.1234567901</c:v>
                </c:pt>
                <c:pt idx="49">
                  <c:v>0.146627566</c:v>
                </c:pt>
                <c:pt idx="50">
                  <c:v>0.1441176471</c:v>
                </c:pt>
                <c:pt idx="51">
                  <c:v>0.1471471471</c:v>
                </c:pt>
                <c:pt idx="52">
                  <c:v>0.1445783133</c:v>
                </c:pt>
                <c:pt idx="53">
                  <c:v>0.1419939577</c:v>
                </c:pt>
                <c:pt idx="54">
                  <c:v>0.1577181208</c:v>
                </c:pt>
                <c:pt idx="55">
                  <c:v>0.1548821549</c:v>
                </c:pt>
                <c:pt idx="56">
                  <c:v>0.1586206897</c:v>
                </c:pt>
                <c:pt idx="57">
                  <c:v>0.1557093426</c:v>
                </c:pt>
                <c:pt idx="58">
                  <c:v>0.1691729323</c:v>
                </c:pt>
                <c:pt idx="59">
                  <c:v>0.1660377358</c:v>
                </c:pt>
                <c:pt idx="60">
                  <c:v>0.1705426357</c:v>
                </c:pt>
                <c:pt idx="61">
                  <c:v>0.1673151751</c:v>
                </c:pt>
                <c:pt idx="62">
                  <c:v>0.171314741</c:v>
                </c:pt>
                <c:pt idx="63">
                  <c:v>0.168</c:v>
                </c:pt>
                <c:pt idx="64">
                  <c:v>0.173553719</c:v>
                </c:pt>
                <c:pt idx="65">
                  <c:v>0.1701244813</c:v>
                </c:pt>
                <c:pt idx="66">
                  <c:v>0.1666666667</c:v>
                </c:pt>
                <c:pt idx="67">
                  <c:v>0.1762114537</c:v>
                </c:pt>
                <c:pt idx="68">
                  <c:v>0.1725663717</c:v>
                </c:pt>
                <c:pt idx="69">
                  <c:v>0.1822429907</c:v>
                </c:pt>
                <c:pt idx="70">
                  <c:v>0.1784037559</c:v>
                </c:pt>
                <c:pt idx="71">
                  <c:v>0.180952381</c:v>
                </c:pt>
                <c:pt idx="72">
                  <c:v>0.1770334928</c:v>
                </c:pt>
                <c:pt idx="73">
                  <c:v>0.1887755102</c:v>
                </c:pt>
                <c:pt idx="74">
                  <c:v>0.1846153846</c:v>
                </c:pt>
                <c:pt idx="75">
                  <c:v>0.1956521739</c:v>
                </c:pt>
                <c:pt idx="76">
                  <c:v>0.1912568306</c:v>
                </c:pt>
                <c:pt idx="77">
                  <c:v>0.2258064516</c:v>
                </c:pt>
                <c:pt idx="78">
                  <c:v>0.2207792208</c:v>
                </c:pt>
                <c:pt idx="79">
                  <c:v>0.2518518519</c:v>
                </c:pt>
                <c:pt idx="80">
                  <c:v>0.2462686567</c:v>
                </c:pt>
                <c:pt idx="81">
                  <c:v>0.2619047619</c:v>
                </c:pt>
                <c:pt idx="82">
                  <c:v>0.256</c:v>
                </c:pt>
                <c:pt idx="83">
                  <c:v>0.2807017544</c:v>
                </c:pt>
                <c:pt idx="84">
                  <c:v>0.2743362832</c:v>
                </c:pt>
                <c:pt idx="85">
                  <c:v>0.2818181818</c:v>
                </c:pt>
                <c:pt idx="86">
                  <c:v>0.2752293578</c:v>
                </c:pt>
                <c:pt idx="87">
                  <c:v>0.297029703</c:v>
                </c:pt>
                <c:pt idx="88">
                  <c:v>0.29</c:v>
                </c:pt>
                <c:pt idx="89">
                  <c:v>0.2828282828</c:v>
                </c:pt>
                <c:pt idx="90">
                  <c:v>0.2857142857</c:v>
                </c:pt>
                <c:pt idx="91">
                  <c:v>0.2783505155</c:v>
                </c:pt>
                <c:pt idx="92">
                  <c:v>0.2872340426</c:v>
                </c:pt>
                <c:pt idx="93">
                  <c:v>0.2795698925</c:v>
                </c:pt>
                <c:pt idx="94">
                  <c:v>0.2857142857</c:v>
                </c:pt>
                <c:pt idx="95">
                  <c:v>0.2777777778</c:v>
                </c:pt>
                <c:pt idx="96">
                  <c:v>0.2873563218</c:v>
                </c:pt>
                <c:pt idx="97">
                  <c:v>0.2790697674</c:v>
                </c:pt>
                <c:pt idx="98">
                  <c:v>0.2857142857</c:v>
                </c:pt>
                <c:pt idx="99">
                  <c:v>0.2771084337</c:v>
                </c:pt>
                <c:pt idx="100">
                  <c:v>0.2875</c:v>
                </c:pt>
                <c:pt idx="101">
                  <c:v>0.2784810127</c:v>
                </c:pt>
                <c:pt idx="102">
                  <c:v>0.2820512821</c:v>
                </c:pt>
                <c:pt idx="103">
                  <c:v>0.2727272727</c:v>
                </c:pt>
                <c:pt idx="104">
                  <c:v>0.2631578947</c:v>
                </c:pt>
                <c:pt idx="105">
                  <c:v>0.2666666667</c:v>
                </c:pt>
                <c:pt idx="106">
                  <c:v>0.2567567568</c:v>
                </c:pt>
                <c:pt idx="107">
                  <c:v>0.2465753425</c:v>
                </c:pt>
                <c:pt idx="108">
                  <c:v>0.2571428571</c:v>
                </c:pt>
                <c:pt idx="109">
                  <c:v>0.2463768116</c:v>
                </c:pt>
                <c:pt idx="110">
                  <c:v>0.2575757576</c:v>
                </c:pt>
                <c:pt idx="111">
                  <c:v>0.2461538462</c:v>
                </c:pt>
                <c:pt idx="112">
                  <c:v>0.234375</c:v>
                </c:pt>
                <c:pt idx="113">
                  <c:v>0.2222222222</c:v>
                </c:pt>
                <c:pt idx="114">
                  <c:v>0.2096774194</c:v>
                </c:pt>
                <c:pt idx="115">
                  <c:v>0.1967213115</c:v>
                </c:pt>
                <c:pt idx="116">
                  <c:v>0.2</c:v>
                </c:pt>
                <c:pt idx="117">
                  <c:v>0.186440678</c:v>
                </c:pt>
                <c:pt idx="118">
                  <c:v>0.1896551724</c:v>
                </c:pt>
                <c:pt idx="119">
                  <c:v>0.1754385965</c:v>
                </c:pt>
                <c:pt idx="120">
                  <c:v>0.1607142857</c:v>
                </c:pt>
                <c:pt idx="121">
                  <c:v>0.1698113208</c:v>
                </c:pt>
                <c:pt idx="122">
                  <c:v>0.1538461538</c:v>
                </c:pt>
                <c:pt idx="123">
                  <c:v>0.1632653061</c:v>
                </c:pt>
                <c:pt idx="124">
                  <c:v>0.1458333333</c:v>
                </c:pt>
                <c:pt idx="125">
                  <c:v>0.1276595745</c:v>
                </c:pt>
                <c:pt idx="126">
                  <c:v>0.1363636364</c:v>
                </c:pt>
                <c:pt idx="127">
                  <c:v>0.1162790698</c:v>
                </c:pt>
                <c:pt idx="128">
                  <c:v>0.1219512195</c:v>
                </c:pt>
                <c:pt idx="129">
                  <c:v>0.1</c:v>
                </c:pt>
                <c:pt idx="130">
                  <c:v>0.1111111111</c:v>
                </c:pt>
                <c:pt idx="131">
                  <c:v>0.08571428571</c:v>
                </c:pt>
                <c:pt idx="132">
                  <c:v>0.09090909091</c:v>
                </c:pt>
                <c:pt idx="133">
                  <c:v>0.0625</c:v>
                </c:pt>
                <c:pt idx="134">
                  <c:v>0.06451612903</c:v>
                </c:pt>
                <c:pt idx="135">
                  <c:v>0.03333333333</c:v>
                </c:pt>
                <c:pt idx="136">
                  <c:v>0</c:v>
                </c:pt>
                <c:pt idx="137">
                  <c:v>0</c:v>
                </c:pt>
                <c:pt idx="138">
                  <c:v>1</c:v>
                </c:pt>
              </c:numCache>
            </c:numRef>
          </c:yVal>
        </c:ser>
        <c:ser>
          <c:idx val="1"/>
          <c:order val="1"/>
          <c:tx>
            <c:v>Test prevalence</c:v>
          </c:tx>
          <c:spPr>
            <a:ln xmlns:a="http://schemas.openxmlformats.org/drawingml/2006/main" w="14288">
              <a:solidFill>
                <a:srgbClr val="C44945"/>
              </a:solidFill>
            </a:ln>
          </c:spPr>
          <c:marker>
            <c:symbol val="none"/>
          </c:marker>
          <c:xVal>
            <c:numRef>
              <c:f>'Chart Data'!$C$2:$C$3</c:f>
              <c:numCache>
                <c:formatCode>General</c:formatCode>
                <c:ptCount val="2"/>
                <c:pt idx="0">
                  <c:v>0</c:v>
                </c:pt>
                <c:pt idx="1">
                  <c:v>1</c:v>
                </c:pt>
              </c:numCache>
            </c:numRef>
          </c:xVal>
          <c:yVal>
            <c:numRef>
              <c:f>'Chart Data'!$D$2:$D$3</c:f>
              <c:numCache>
                <c:formatCode>0%</c:formatCode>
                <c:ptCount val="2"/>
                <c:pt idx="0">
                  <c:v>0.001304056674</c:v>
                </c:pt>
                <c:pt idx="1">
                  <c:v>0.001304056674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Precision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majorUnit val="0.2"/>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4E6472"/>
              </a:solidFill>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7"/>
                </a:solidFill>
                <a:latin typeface="Arial"/>
                <a:ea typeface="Arial"/>
                <a:cs typeface="Arial"/>
              </a:rPr>
              <a:t>Outcomes among 209 test alerts</a:t>
            </a:r>
          </a:p>
        </c:rich>
      </c:tx>
      <c:overlay val="0"/>
      <c:txPr>
        <a:bodyPr xmlns:a="http://schemas.openxmlformats.org/drawingml/2006/main" anchorCtr="1"/>
        <a:lstStyle xmlns:a="http://schemas.openxmlformats.org/drawingml/2006/main"/>
        <a:p xmlns:a="http://schemas.openxmlformats.org/drawingml/2006/main">
          <a:pPr>
            <a:defRPr sz="1875" b="1">
              <a:solidFill>
                <a:srgbClr val="173447"/>
              </a:solidFill>
              <a:latin typeface="Arial"/>
              <a:ea typeface="Arial"/>
              <a:cs typeface="Arial"/>
            </a:defRPr>
          </a:pPr>
        </a:p>
      </c:txPr>
    </c:title>
    <c:plotArea>
      <c:barChart>
        <c:barDir val="col"/>
        <c:varyColors val="0"/>
        <c:ser>
          <c:idx val="0"/>
          <c:order val="0"/>
          <c:tx>
            <c:v>Transactions</c:v>
          </c:tx>
          <c:spPr>
            <a:solidFill xmlns:a="http://schemas.openxmlformats.org/drawingml/2006/main">
              <a:srgbClr val="24668D"/>
            </a:solidFill>
          </c:spPr>
          <c:invertIfNegative val="0"/>
          <c:cat>
            <c:strRef>
              <c:f>'Chart Data'!$A$2:$A$3</c:f>
              <c:strCache>
                <c:ptCount val="2"/>
                <c:pt idx="0">
                  <c:v>Fraud found</c:v>
                </c:pt>
                <c:pt idx="1">
                  <c:v>Legitimate alerted</c:v>
                </c:pt>
              </c:strCache>
            </c:strRef>
          </c:cat>
          <c:val>
            <c:numRef>
              <c:f>'Chart Data'!$B$2:$B$3</c:f>
              <c:numCache>
                <c:formatCode>General</c:formatCode>
                <c:ptCount val="2"/>
                <c:pt idx="0">
                  <c:v>37</c:v>
                </c:pt>
                <c:pt idx="1">
                  <c:v>172</c:v>
                </c:pt>
              </c:numCache>
            </c:numRef>
          </c:val>
        </c:ser>
        <c:dLbls>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Transactions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plotVisOnly val="1"/>
  </c:chart>
  <c:spPr>
    <a:solidFill xmlns:a="http://schemas.openxmlformats.org/drawingml/2006/main">
      <a:srgbClr val="FAFBF9"/>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7"/>
                </a:solidFill>
                <a:latin typeface="Arial"/>
                <a:ea typeface="Arial"/>
                <a:cs typeface="Arial"/>
              </a:rPr>
              <a:t>Precision at a fixed test-batch capacity</a:t>
            </a:r>
          </a:p>
        </c:rich>
      </c:tx>
      <c:overlay val="0"/>
      <c:txPr>
        <a:bodyPr xmlns:a="http://schemas.openxmlformats.org/drawingml/2006/main" anchorCtr="1"/>
        <a:lstStyle xmlns:a="http://schemas.openxmlformats.org/drawingml/2006/main"/>
        <a:p xmlns:a="http://schemas.openxmlformats.org/drawingml/2006/main">
          <a:pPr>
            <a:defRPr sz="1875" b="1">
              <a:solidFill>
                <a:srgbClr val="173447"/>
              </a:solidFill>
              <a:latin typeface="Arial"/>
              <a:ea typeface="Arial"/>
              <a:cs typeface="Arial"/>
            </a:defRPr>
          </a:pPr>
        </a:p>
      </c:txPr>
    </c:title>
    <c:plotArea>
      <c:lineChart>
        <c:grouping val="standard"/>
        <c:varyColors val="0"/>
        <c:ser>
          <c:idx val="0"/>
          <c:order val="0"/>
          <c:tx>
            <c:v>Precision@K</c:v>
          </c:tx>
          <c:spPr>
            <a:ln xmlns:a="http://schemas.openxmlformats.org/drawingml/2006/main" w="28575">
              <a:solidFill>
                <a:srgbClr val="24668D"/>
              </a:solidFill>
            </a:ln>
          </c:spPr>
          <c:marker>
            <c:symbol val="circle"/>
            <c:size val="8"/>
            <c:spPr>
              <a:solidFill xmlns:a="http://schemas.openxmlformats.org/drawingml/2006/main">
                <a:srgbClr val="24668D"/>
              </a:solidFill>
            </c:spPr>
          </c:marker>
          <c:cat>
            <c:numRef>
              <c:f>'Chart Data'!$A$2:$A$5</c:f>
              <c:numCache>
                <c:formatCode>General</c:formatCode>
                <c:ptCount val="4"/>
                <c:pt idx="0">
                  <c:v>50</c:v>
                </c:pt>
                <c:pt idx="1">
                  <c:v>100</c:v>
                </c:pt>
                <c:pt idx="2">
                  <c:v>200</c:v>
                </c:pt>
                <c:pt idx="3">
                  <c:v>500</c:v>
                </c:pt>
              </c:numCache>
            </c:numRef>
          </c:cat>
          <c:val>
            <c:numRef>
              <c:f>'Chart Data'!$B$2:$B$5</c:f>
              <c:numCache>
                <c:formatCode>0%</c:formatCode>
                <c:ptCount val="4"/>
                <c:pt idx="0">
                  <c:v>0.16</c:v>
                </c:pt>
                <c:pt idx="1">
                  <c:v>0.29</c:v>
                </c:pt>
                <c:pt idx="2">
                  <c:v>0.185</c:v>
                </c:pt>
                <c:pt idx="3">
                  <c:v>0.106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Transactions reviewed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Precision@K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EE107C-3373-49D5-8F7E-C07C505F10C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Card fraud triage</a:t>
            </a:r>
          </a:p>
        </p:txBody>
      </p:sp>
      <p:sp>
        <p:nvSpPr>
          <p:cNvPr id="2" name="">
            <a:extLst xmlns:a="http://schemas.openxmlformats.org/drawingml/2006/main">
              <a:ext uri="{FF2B5EF4-FFF2-40B4-BE49-F238E27FC236}">
                <a16:creationId xmlns:a16="http://schemas.microsoft.com/office/drawing/2014/main" id="{215ADF6F-C650-4573-B28B-FA65497B7DD5}"/>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004B885-6996-4799-A30C-3A8A49AA5036}"/>
              </a:ext>
            </a:extLst>
          </p:cNvPr>
          <p:cNvSpPr>
            <a:spLocks xmlns:a="http://schemas.openxmlformats.org/drawingml/2006/main" noGrp="1"/>
          </p:cNvSpPr>
          <p:nvPr/>
        </p:nvSpPr>
        <p:spPr>
          <a:xfrm xmlns:a="http://schemas.openxmlformats.org/drawingml/2006/main">
            <a:off x="685800" y="2038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900" b="1">
                <a:solidFill>
                  <a:srgbClr val="24668D"/>
                </a:solidFill>
                <a:latin typeface="Arial"/>
                <a:ea typeface="Arial"/>
                <a:cs typeface="Arial"/>
              </a:defRPr>
            </a:defPPr>
            <a:lvl1pPr>
              <a:defRPr sz="3900" b="1">
                <a:solidFill>
                  <a:srgbClr val="24668D"/>
                </a:solidFill>
                <a:latin typeface="Arial"/>
                <a:ea typeface="Arial"/>
                <a:cs typeface="Arial"/>
              </a:defRPr>
            </a:lvl1pPr>
            <a:lvl2pPr>
              <a:defRPr sz="3900" b="1">
                <a:solidFill>
                  <a:srgbClr val="24668D"/>
                </a:solidFill>
                <a:latin typeface="Arial"/>
                <a:ea typeface="Arial"/>
                <a:cs typeface="Arial"/>
              </a:defRPr>
            </a:lvl2pPr>
            <a:lvl3pPr>
              <a:defRPr sz="3900" b="1">
                <a:solidFill>
                  <a:srgbClr val="24668D"/>
                </a:solidFill>
                <a:latin typeface="Arial"/>
                <a:ea typeface="Arial"/>
                <a:cs typeface="Arial"/>
              </a:defRPr>
            </a:lvl3pPr>
            <a:lvl4pPr>
              <a:defRPr sz="3900" b="1">
                <a:solidFill>
                  <a:srgbClr val="24668D"/>
                </a:solidFill>
                <a:latin typeface="Arial"/>
                <a:ea typeface="Arial"/>
                <a:cs typeface="Arial"/>
              </a:defRPr>
            </a:lvl4pPr>
            <a:lvl5pPr>
              <a:defRPr sz="3900" b="1">
                <a:solidFill>
                  <a:srgbClr val="24668D"/>
                </a:solidFill>
                <a:latin typeface="Arial"/>
                <a:ea typeface="Arial"/>
                <a:cs typeface="Arial"/>
              </a:defRPr>
            </a:lvl5pPr>
            <a:lvl6pPr>
              <a:defRPr sz="3900" b="1">
                <a:solidFill>
                  <a:srgbClr val="24668D"/>
                </a:solidFill>
                <a:latin typeface="Arial"/>
                <a:ea typeface="Arial"/>
                <a:cs typeface="Arial"/>
              </a:defRPr>
            </a:lvl6pPr>
            <a:lvl7pPr>
              <a:defRPr sz="3900" b="1">
                <a:solidFill>
                  <a:srgbClr val="24668D"/>
                </a:solidFill>
                <a:latin typeface="Arial"/>
                <a:ea typeface="Arial"/>
                <a:cs typeface="Arial"/>
              </a:defRPr>
            </a:lvl7pPr>
            <a:lvl8pPr>
              <a:defRPr sz="3900" b="1">
                <a:solidFill>
                  <a:srgbClr val="24668D"/>
                </a:solidFill>
                <a:latin typeface="Arial"/>
                <a:ea typeface="Arial"/>
                <a:cs typeface="Arial"/>
              </a:defRPr>
            </a:lvl8pPr>
            <a:lvl9pPr>
              <a:defRPr sz="3900" b="1">
                <a:solidFill>
                  <a:srgbClr val="24668D"/>
                </a:solidFill>
                <a:latin typeface="Arial"/>
                <a:ea typeface="Arial"/>
                <a:cs typeface="Arial"/>
              </a:defRPr>
            </a:lvl9pPr>
          </a:lstStyle>
          <a:p xmlns:a="http://schemas.openxmlformats.org/drawingml/2006/main">
            <a:pPr>
              <a:defRPr sz="3900" b="1">
                <a:solidFill>
                  <a:srgbClr val="24668D"/>
                </a:solidFill>
                <a:latin typeface="Arial"/>
                <a:ea typeface="Arial"/>
                <a:cs typeface="Arial"/>
              </a:defRPr>
            </a:pPr>
            <a:r>
              <a:rPr sz="3900" b="1">
                <a:solidFill>
                  <a:srgbClr val="24668D"/>
                </a:solidFill>
                <a:latin typeface="Arial"/>
                <a:ea typeface="Arial"/>
                <a:cs typeface="Arial"/>
              </a:rPr>
              <a:t>Gaussian mixture density scoring</a:t>
            </a:r>
          </a:p>
        </p:txBody>
      </p:sp>
      <p:sp>
        <p:nvSpPr>
          <p:cNvPr id="4" name="">
            <a:extLst xmlns:a="http://schemas.openxmlformats.org/drawingml/2006/main">
              <a:ext uri="{FF2B5EF4-FFF2-40B4-BE49-F238E27FC236}">
                <a16:creationId xmlns:a16="http://schemas.microsoft.com/office/drawing/2014/main" id="{63E9A550-2D6C-4537-B1AE-64D9F9A55B83}"/>
              </a:ext>
            </a:extLst>
          </p:cNvPr>
          <p:cNvSpPr>
            <a:spLocks xmlns:a="http://schemas.openxmlformats.org/drawingml/2006/main" noGrp="1"/>
          </p:cNvSpPr>
          <p:nvPr/>
        </p:nvSpPr>
        <p:spPr>
          <a:xfrm xmlns:a="http://schemas.openxmlformats.org/drawingml/2006/main">
            <a:off x="685800" y="3181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173447"/>
                </a:solidFill>
                <a:latin typeface="Arial"/>
                <a:ea typeface="Arial"/>
                <a:cs typeface="Arial"/>
              </a:defRPr>
            </a:defPPr>
            <a:lvl1pPr>
              <a:defRPr sz="2550" b="0">
                <a:solidFill>
                  <a:srgbClr val="173447"/>
                </a:solidFill>
                <a:latin typeface="Arial"/>
                <a:ea typeface="Arial"/>
                <a:cs typeface="Arial"/>
              </a:defRPr>
            </a:lvl1pPr>
            <a:lvl2pPr>
              <a:defRPr sz="2550" b="0">
                <a:solidFill>
                  <a:srgbClr val="173447"/>
                </a:solidFill>
                <a:latin typeface="Arial"/>
                <a:ea typeface="Arial"/>
                <a:cs typeface="Arial"/>
              </a:defRPr>
            </a:lvl2pPr>
            <a:lvl3pPr>
              <a:defRPr sz="2550" b="0">
                <a:solidFill>
                  <a:srgbClr val="173447"/>
                </a:solidFill>
                <a:latin typeface="Arial"/>
                <a:ea typeface="Arial"/>
                <a:cs typeface="Arial"/>
              </a:defRPr>
            </a:lvl3pPr>
            <a:lvl4pPr>
              <a:defRPr sz="2550" b="0">
                <a:solidFill>
                  <a:srgbClr val="173447"/>
                </a:solidFill>
                <a:latin typeface="Arial"/>
                <a:ea typeface="Arial"/>
                <a:cs typeface="Arial"/>
              </a:defRPr>
            </a:lvl4pPr>
            <a:lvl5pPr>
              <a:defRPr sz="2550" b="0">
                <a:solidFill>
                  <a:srgbClr val="173447"/>
                </a:solidFill>
                <a:latin typeface="Arial"/>
                <a:ea typeface="Arial"/>
                <a:cs typeface="Arial"/>
              </a:defRPr>
            </a:lvl5pPr>
            <a:lvl6pPr>
              <a:defRPr sz="2550" b="0">
                <a:solidFill>
                  <a:srgbClr val="173447"/>
                </a:solidFill>
                <a:latin typeface="Arial"/>
                <a:ea typeface="Arial"/>
                <a:cs typeface="Arial"/>
              </a:defRPr>
            </a:lvl6pPr>
            <a:lvl7pPr>
              <a:defRPr sz="2550" b="0">
                <a:solidFill>
                  <a:srgbClr val="173447"/>
                </a:solidFill>
                <a:latin typeface="Arial"/>
                <a:ea typeface="Arial"/>
                <a:cs typeface="Arial"/>
              </a:defRPr>
            </a:lvl7pPr>
            <a:lvl8pPr>
              <a:defRPr sz="2550" b="0">
                <a:solidFill>
                  <a:srgbClr val="173447"/>
                </a:solidFill>
                <a:latin typeface="Arial"/>
                <a:ea typeface="Arial"/>
                <a:cs typeface="Arial"/>
              </a:defRPr>
            </a:lvl8pPr>
            <a:lvl9pPr>
              <a:defRPr sz="2550" b="0">
                <a:solidFill>
                  <a:srgbClr val="173447"/>
                </a:solidFill>
                <a:latin typeface="Arial"/>
                <a:ea typeface="Arial"/>
                <a:cs typeface="Arial"/>
              </a:defRPr>
            </a:lvl9pPr>
          </a:lstStyle>
          <a:p xmlns:a="http://schemas.openxmlformats.org/drawingml/2006/main">
            <a:pPr>
              <a:defRPr sz="2550" b="0">
                <a:solidFill>
                  <a:srgbClr val="173447"/>
                </a:solidFill>
                <a:latin typeface="Arial"/>
                <a:ea typeface="Arial"/>
                <a:cs typeface="Arial"/>
              </a:defRPr>
            </a:pPr>
            <a:r>
              <a:rPr sz="2550" b="0">
                <a:solidFill>
                  <a:srgbClr val="173447"/>
                </a:solidFill>
                <a:latin typeface="Arial"/>
                <a:ea typeface="Arial"/>
                <a:cs typeface="Arial"/>
              </a:rPr>
              <a:t>Phase 1: Machine Learning</a:t>
            </a:r>
          </a:p>
        </p:txBody>
      </p:sp>
      <p:sp>
        <p:nvSpPr>
          <p:cNvPr id="5" name="">
            <a:extLst xmlns:a="http://schemas.openxmlformats.org/drawingml/2006/main">
              <a:ext uri="{FF2B5EF4-FFF2-40B4-BE49-F238E27FC236}">
                <a16:creationId xmlns:a16="http://schemas.microsoft.com/office/drawing/2014/main" id="{8F33515E-BF62-45E5-8DC9-840100D7B816}"/>
              </a:ext>
            </a:extLst>
          </p:cNvPr>
          <p:cNvSpPr>
            <a:spLocks xmlns:a="http://schemas.openxmlformats.org/drawingml/2006/main" noGrp="1"/>
          </p:cNvSpPr>
          <p:nvPr/>
        </p:nvSpPr>
        <p:spPr>
          <a:xfrm xmlns:a="http://schemas.openxmlformats.org/drawingml/2006/main">
            <a:off x="685800" y="4448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Team T011, Section A, Project 26</a:t>
            </a:r>
          </a:p>
        </p:txBody>
      </p:sp>
      <p:sp>
        <p:nvSpPr>
          <p:cNvPr id="6" name="">
            <a:extLst xmlns:a="http://schemas.openxmlformats.org/drawingml/2006/main">
              <a:ext uri="{FF2B5EF4-FFF2-40B4-BE49-F238E27FC236}">
                <a16:creationId xmlns:a16="http://schemas.microsoft.com/office/drawing/2014/main" id="{EFE7381B-9F66-4D1A-AFDE-F6EAE4771946}"/>
              </a:ext>
            </a:extLst>
          </p:cNvPr>
          <p:cNvSpPr>
            <a:spLocks xmlns:a="http://schemas.openxmlformats.org/drawingml/2006/main" noGrp="1"/>
          </p:cNvSpPr>
          <p:nvPr/>
        </p:nvSpPr>
        <p:spPr>
          <a:xfrm xmlns:a="http://schemas.openxmlformats.org/drawingml/2006/main">
            <a:off x="685800" y="5095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4E6472"/>
                </a:solidFill>
                <a:latin typeface="Arial"/>
                <a:ea typeface="Arial"/>
                <a:cs typeface="Arial"/>
              </a:defRPr>
            </a:defPPr>
            <a:lvl1pPr>
              <a:defRPr sz="1950" b="0">
                <a:solidFill>
                  <a:srgbClr val="4E6472"/>
                </a:solidFill>
                <a:latin typeface="Arial"/>
                <a:ea typeface="Arial"/>
                <a:cs typeface="Arial"/>
              </a:defRPr>
            </a:lvl1pPr>
            <a:lvl2pPr>
              <a:defRPr sz="1950" b="0">
                <a:solidFill>
                  <a:srgbClr val="4E6472"/>
                </a:solidFill>
                <a:latin typeface="Arial"/>
                <a:ea typeface="Arial"/>
                <a:cs typeface="Arial"/>
              </a:defRPr>
            </a:lvl2pPr>
            <a:lvl3pPr>
              <a:defRPr sz="1950" b="0">
                <a:solidFill>
                  <a:srgbClr val="4E6472"/>
                </a:solidFill>
                <a:latin typeface="Arial"/>
                <a:ea typeface="Arial"/>
                <a:cs typeface="Arial"/>
              </a:defRPr>
            </a:lvl3pPr>
            <a:lvl4pPr>
              <a:defRPr sz="1950" b="0">
                <a:solidFill>
                  <a:srgbClr val="4E6472"/>
                </a:solidFill>
                <a:latin typeface="Arial"/>
                <a:ea typeface="Arial"/>
                <a:cs typeface="Arial"/>
              </a:defRPr>
            </a:lvl4pPr>
            <a:lvl5pPr>
              <a:defRPr sz="1950" b="0">
                <a:solidFill>
                  <a:srgbClr val="4E6472"/>
                </a:solidFill>
                <a:latin typeface="Arial"/>
                <a:ea typeface="Arial"/>
                <a:cs typeface="Arial"/>
              </a:defRPr>
            </a:lvl5pPr>
            <a:lvl6pPr>
              <a:defRPr sz="1950" b="0">
                <a:solidFill>
                  <a:srgbClr val="4E6472"/>
                </a:solidFill>
                <a:latin typeface="Arial"/>
                <a:ea typeface="Arial"/>
                <a:cs typeface="Arial"/>
              </a:defRPr>
            </a:lvl6pPr>
            <a:lvl7pPr>
              <a:defRPr sz="1950" b="0">
                <a:solidFill>
                  <a:srgbClr val="4E6472"/>
                </a:solidFill>
                <a:latin typeface="Arial"/>
                <a:ea typeface="Arial"/>
                <a:cs typeface="Arial"/>
              </a:defRPr>
            </a:lvl7pPr>
            <a:lvl8pPr>
              <a:defRPr sz="1950" b="0">
                <a:solidFill>
                  <a:srgbClr val="4E6472"/>
                </a:solidFill>
                <a:latin typeface="Arial"/>
                <a:ea typeface="Arial"/>
                <a:cs typeface="Arial"/>
              </a:defRPr>
            </a:lvl8pPr>
            <a:lvl9pPr>
              <a:defRPr sz="1950" b="0">
                <a:solidFill>
                  <a:srgbClr val="4E6472"/>
                </a:solidFill>
                <a:latin typeface="Arial"/>
                <a:ea typeface="Arial"/>
                <a:cs typeface="Arial"/>
              </a:defRPr>
            </a:lvl9pPr>
          </a:lstStyle>
          <a:p xmlns:a="http://schemas.openxmlformats.org/drawingml/2006/main">
            <a:pPr>
              <a:defRPr sz="1950" b="0">
                <a:solidFill>
                  <a:srgbClr val="4E6472"/>
                </a:solidFill>
                <a:latin typeface="Arial"/>
                <a:ea typeface="Arial"/>
                <a:cs typeface="Arial"/>
              </a:defRPr>
            </a:pPr>
            <a:r>
              <a:rPr sz="1950" b="0">
                <a:solidFill>
                  <a:srgbClr val="4E6472"/>
                </a:solidFill>
                <a:latin typeface="Arial"/>
                <a:ea typeface="Arial"/>
                <a:cs typeface="Arial"/>
              </a:rPr>
              <a:t>Newton School of Technology, Rishihood University</a:t>
            </a:r>
          </a:p>
        </p:txBody>
      </p:sp>
    </p:spTree>
    <p:extLst>
      <p:ext uri="{BB962C8B-B14F-4D97-AF65-F5344CB8AC3E}">
        <p14:creationId xmlns:p14="http://schemas.microsoft.com/office/powerpoint/2010/main" val="461585832"/>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E2289C-179B-4E58-84B5-F13790C4533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review task</a:t>
            </a:r>
          </a:p>
        </p:txBody>
      </p:sp>
      <p:sp>
        <p:nvSpPr>
          <p:cNvPr id="2" name="">
            <a:extLst xmlns:a="http://schemas.openxmlformats.org/drawingml/2006/main">
              <a:ext uri="{FF2B5EF4-FFF2-40B4-BE49-F238E27FC236}">
                <a16:creationId xmlns:a16="http://schemas.microsoft.com/office/drawing/2014/main" id="{D37F8AEB-A248-4AE5-9BF3-3819EB46B890}"/>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5C0E181-04F1-4738-A7FA-76BC48FA7925}"/>
              </a:ext>
            </a:extLst>
          </p:cNvPr>
          <p:cNvSpPr>
            <a:spLocks xmlns:a="http://schemas.openxmlformats.org/drawingml/2006/main" noGrp="1"/>
          </p:cNvSpPr>
          <p:nvPr/>
        </p:nvSpPr>
        <p:spPr>
          <a:xfrm xmlns:a="http://schemas.openxmlformats.org/drawingml/2006/main">
            <a:off x="685800" y="17145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Learn normal activity from earlier legitimate transactions.</a:t>
            </a:r>
          </a:p>
        </p:txBody>
      </p:sp>
      <p:sp>
        <p:nvSpPr>
          <p:cNvPr id="4" name="">
            <a:extLst xmlns:a="http://schemas.openxmlformats.org/drawingml/2006/main">
              <a:ext uri="{FF2B5EF4-FFF2-40B4-BE49-F238E27FC236}">
                <a16:creationId xmlns:a16="http://schemas.microsoft.com/office/drawing/2014/main" id="{3B18B1E1-B4C9-49E8-AA44-9402C4786514}"/>
              </a:ext>
            </a:extLst>
          </p:cNvPr>
          <p:cNvSpPr>
            <a:spLocks xmlns:a="http://schemas.openxmlformats.org/drawingml/2006/main" noGrp="1"/>
          </p:cNvSpPr>
          <p:nvPr/>
        </p:nvSpPr>
        <p:spPr>
          <a:xfrm xmlns:a="http://schemas.openxmlformats.org/drawingml/2006/main">
            <a:off x="685800" y="2714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Give less typical transactions a larger anomaly score.</a:t>
            </a:r>
          </a:p>
        </p:txBody>
      </p:sp>
      <p:sp>
        <p:nvSpPr>
          <p:cNvPr id="5" name="">
            <a:extLst xmlns:a="http://schemas.openxmlformats.org/drawingml/2006/main">
              <a:ext uri="{FF2B5EF4-FFF2-40B4-BE49-F238E27FC236}">
                <a16:creationId xmlns:a16="http://schemas.microsoft.com/office/drawing/2014/main" id="{80FACC11-597D-4F1E-B618-332FBBF4A49C}"/>
              </a:ext>
            </a:extLst>
          </p:cNvPr>
          <p:cNvSpPr>
            <a:spLocks xmlns:a="http://schemas.openxmlformats.org/drawingml/2006/main" noGrp="1"/>
          </p:cNvSpPr>
          <p:nvPr/>
        </p:nvSpPr>
        <p:spPr>
          <a:xfrm xmlns:a="http://schemas.openxmlformats.org/drawingml/2006/main">
            <a:off x="685800" y="37147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Measure fraud found and legitimate transactions sent for review.</a:t>
            </a:r>
          </a:p>
        </p:txBody>
      </p:sp>
      <p:sp>
        <p:nvSpPr>
          <p:cNvPr id="6" name="">
            <a:extLst xmlns:a="http://schemas.openxmlformats.org/drawingml/2006/main">
              <a:ext uri="{FF2B5EF4-FFF2-40B4-BE49-F238E27FC236}">
                <a16:creationId xmlns:a16="http://schemas.microsoft.com/office/drawing/2014/main" id="{79467888-CA46-4813-8266-FD2EE94C917B}"/>
              </a:ext>
            </a:extLst>
          </p:cNvPr>
          <p:cNvSpPr>
            <a:spLocks xmlns:a="http://schemas.openxmlformats.org/drawingml/2006/main" noGrp="1"/>
          </p:cNvSpPr>
          <p:nvPr/>
        </p:nvSpPr>
        <p:spPr>
          <a:xfrm xmlns:a="http://schemas.openxmlformats.org/drawingml/2006/main">
            <a:off x="685800" y="50958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4E6472"/>
                </a:solidFill>
                <a:latin typeface="Arial"/>
                <a:ea typeface="Arial"/>
                <a:cs typeface="Arial"/>
              </a:defRPr>
            </a:defPPr>
            <a:lvl1pPr>
              <a:defRPr sz="2025" b="0">
                <a:solidFill>
                  <a:srgbClr val="4E6472"/>
                </a:solidFill>
                <a:latin typeface="Arial"/>
                <a:ea typeface="Arial"/>
                <a:cs typeface="Arial"/>
              </a:defRPr>
            </a:lvl1pPr>
            <a:lvl2pPr>
              <a:defRPr sz="2025" b="0">
                <a:solidFill>
                  <a:srgbClr val="4E6472"/>
                </a:solidFill>
                <a:latin typeface="Arial"/>
                <a:ea typeface="Arial"/>
                <a:cs typeface="Arial"/>
              </a:defRPr>
            </a:lvl2pPr>
            <a:lvl3pPr>
              <a:defRPr sz="2025" b="0">
                <a:solidFill>
                  <a:srgbClr val="4E6472"/>
                </a:solidFill>
                <a:latin typeface="Arial"/>
                <a:ea typeface="Arial"/>
                <a:cs typeface="Arial"/>
              </a:defRPr>
            </a:lvl3pPr>
            <a:lvl4pPr>
              <a:defRPr sz="2025" b="0">
                <a:solidFill>
                  <a:srgbClr val="4E6472"/>
                </a:solidFill>
                <a:latin typeface="Arial"/>
                <a:ea typeface="Arial"/>
                <a:cs typeface="Arial"/>
              </a:defRPr>
            </a:lvl4pPr>
            <a:lvl5pPr>
              <a:defRPr sz="2025" b="0">
                <a:solidFill>
                  <a:srgbClr val="4E6472"/>
                </a:solidFill>
                <a:latin typeface="Arial"/>
                <a:ea typeface="Arial"/>
                <a:cs typeface="Arial"/>
              </a:defRPr>
            </a:lvl5pPr>
            <a:lvl6pPr>
              <a:defRPr sz="2025" b="0">
                <a:solidFill>
                  <a:srgbClr val="4E6472"/>
                </a:solidFill>
                <a:latin typeface="Arial"/>
                <a:ea typeface="Arial"/>
                <a:cs typeface="Arial"/>
              </a:defRPr>
            </a:lvl6pPr>
            <a:lvl7pPr>
              <a:defRPr sz="2025" b="0">
                <a:solidFill>
                  <a:srgbClr val="4E6472"/>
                </a:solidFill>
                <a:latin typeface="Arial"/>
                <a:ea typeface="Arial"/>
                <a:cs typeface="Arial"/>
              </a:defRPr>
            </a:lvl7pPr>
            <a:lvl8pPr>
              <a:defRPr sz="2025" b="0">
                <a:solidFill>
                  <a:srgbClr val="4E6472"/>
                </a:solidFill>
                <a:latin typeface="Arial"/>
                <a:ea typeface="Arial"/>
                <a:cs typeface="Arial"/>
              </a:defRPr>
            </a:lvl8pPr>
            <a:lvl9pPr>
              <a:defRPr sz="2025" b="0">
                <a:solidFill>
                  <a:srgbClr val="4E6472"/>
                </a:solidFill>
                <a:latin typeface="Arial"/>
                <a:ea typeface="Arial"/>
                <a:cs typeface="Arial"/>
              </a:defRPr>
            </a:lvl9pPr>
          </a:lstStyle>
          <a:p xmlns:a="http://schemas.openxmlformats.org/drawingml/2006/main">
            <a:pPr>
              <a:defRPr sz="2025" b="0">
                <a:solidFill>
                  <a:srgbClr val="4E6472"/>
                </a:solidFill>
                <a:latin typeface="Arial"/>
                <a:ea typeface="Arial"/>
                <a:cs typeface="Arial"/>
              </a:defRPr>
            </a:pPr>
            <a:r>
              <a:rPr sz="2025" b="0">
                <a:solidFill>
                  <a:srgbClr val="4E6472"/>
                </a:solidFill>
                <a:latin typeface="Arial"/>
                <a:ea typeface="Arial"/>
                <a:cs typeface="Arial"/>
              </a:rPr>
              <a:t>Phase 1 model: GMM. Autoencoder comparison belongs to Phase 2.</a:t>
            </a:r>
          </a:p>
        </p:txBody>
      </p:sp>
    </p:spTree>
    <p:extLst>
      <p:ext uri="{BB962C8B-B14F-4D97-AF65-F5344CB8AC3E}">
        <p14:creationId xmlns:p14="http://schemas.microsoft.com/office/powerpoint/2010/main" val="1145364369"/>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551BFC-3B2C-4DE5-B5E4-4D28C8154CE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Literature behind our choices</a:t>
            </a:r>
          </a:p>
        </p:txBody>
      </p:sp>
      <p:sp>
        <p:nvSpPr>
          <p:cNvPr id="2" name="">
            <a:extLst xmlns:a="http://schemas.openxmlformats.org/drawingml/2006/main">
              <a:ext uri="{FF2B5EF4-FFF2-40B4-BE49-F238E27FC236}">
                <a16:creationId xmlns:a16="http://schemas.microsoft.com/office/drawing/2014/main" id="{FA2AD832-543D-4762-8DD8-B02F7812FCFA}"/>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9BF70A09-EFA3-4508-996F-AB3DF9412F5C}"/>
              </a:ext>
            </a:extLst>
          </p:cNvPr>
          <p:cNvGraphicFramePr/>
          <p:nvPr/>
        </p:nvGraphicFramePr>
        <p:xfrm>
          <a:off xmlns:a="http://schemas.openxmlformats.org/drawingml/2006/main" x="685800" y="1676400"/>
          <a:ext xmlns:a="http://schemas.openxmlformats.org/drawingml/2006/main" cx="10668000" cy="3143250"/>
        </p:xfrm>
        <a:graphic xmlns:a="http://schemas.openxmlformats.org/drawingml/2006/main">
          <a:graphicData uri="http://schemas.openxmlformats.org/drawingml/2006/table">
            <a:tbl>
              <a:tblPr/>
              <a:tblGrid>
                <a:gridCol w="3143250"/>
                <a:gridCol w="3762375"/>
                <a:gridCol w="3762375"/>
              </a:tblGrid>
              <a:tr h="785813">
                <a:tc>
                  <a:txBody>
                    <a:bodyPr/>
                    <a:lstStyle/>
                    <a:p>
                      <a:r>
                        <a:rPr sz="1875" b="1">
                          <a:solidFill>
                            <a:srgbClr val="FFFFFF"/>
                          </a:solidFill>
                          <a:latin typeface="Arial"/>
                          <a:ea typeface="Arial"/>
                          <a:cs typeface="Arial"/>
                        </a:rPr>
                        <a:t>Source</a:t>
                      </a:r>
                    </a:p>
                  </a:txBody>
                  <a:tcPr marL="133350" marR="114300" marT="114300" marB="114300" anchor="ctr">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Idea</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Use in our project</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785813">
                <a:tc>
                  <a:txBody>
                    <a:bodyPr/>
                    <a:lstStyle/>
                    <a:p>
                      <a:r>
                        <a:rPr sz="1875">
                          <a:solidFill>
                            <a:srgbClr val="173447"/>
                          </a:solidFill>
                          <a:latin typeface="Arial"/>
                          <a:ea typeface="Arial"/>
                          <a:cs typeface="Arial"/>
                        </a:rPr>
                        <a:t>Dempster et al., 1977</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EM estimates hidden memberships</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Fit the Gaussian components</a:t>
                      </a:r>
                    </a:p>
                  </a:txBody>
                  <a:tcPr marL="133350" marR="114300" marT="114300" marB="114300" anchor="ctr">
                    <a:lnR w="9525">
                      <a:solidFill>
                        <a:srgbClr val="DDE3E7"/>
                      </a:solidFill>
                      <a:prstDash val="solid"/>
                    </a:lnR>
                    <a:lnB w="9525">
                      <a:solidFill>
                        <a:srgbClr val="DDE3E7"/>
                      </a:solidFill>
                      <a:prstDash val="solid"/>
                    </a:lnB>
                  </a:tcPr>
                </a:tc>
              </a:tr>
              <a:tr h="785813">
                <a:tc>
                  <a:txBody>
                    <a:bodyPr/>
                    <a:lstStyle/>
                    <a:p>
                      <a:r>
                        <a:rPr sz="1875">
                          <a:solidFill>
                            <a:srgbClr val="173447"/>
                          </a:solidFill>
                          <a:latin typeface="Arial"/>
                          <a:ea typeface="Arial"/>
                          <a:cs typeface="Arial"/>
                        </a:rPr>
                        <a:t>Saito &amp; Rehmsmeier, 2015</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PR reveals rare-class alert burden</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Lead with PR and review metrics</a:t>
                      </a:r>
                    </a:p>
                  </a:txBody>
                  <a:tcPr marL="133350" marR="114300" marT="114300" marB="114300" anchor="ctr">
                    <a:lnR w="9525">
                      <a:solidFill>
                        <a:srgbClr val="DDE3E7"/>
                      </a:solidFill>
                      <a:prstDash val="solid"/>
                    </a:lnR>
                    <a:lnB w="9525">
                      <a:solidFill>
                        <a:srgbClr val="DDE3E7"/>
                      </a:solidFill>
                      <a:prstDash val="solid"/>
                    </a:lnB>
                  </a:tcPr>
                </a:tc>
              </a:tr>
              <a:tr h="785813">
                <a:tc>
                  <a:txBody>
                    <a:bodyPr/>
                    <a:lstStyle/>
                    <a:p>
                      <a:r>
                        <a:rPr sz="1875">
                          <a:solidFill>
                            <a:srgbClr val="173447"/>
                          </a:solidFill>
                          <a:latin typeface="Arial"/>
                          <a:ea typeface="Arial"/>
                          <a:cs typeface="Arial"/>
                        </a:rPr>
                        <a:t>scikit-learn mixture guide</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Covariance and information criteria</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Diagonal GMM, AIC and BIC</a:t>
                      </a:r>
                    </a:p>
                  </a:txBody>
                  <a:tcPr marL="133350" marR="114300" marT="114300" marB="114300" anchor="ctr">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CFB8FDDA-3506-4F64-ADD1-FF076579EE1F}"/>
              </a:ext>
            </a:extLst>
          </p:cNvPr>
          <p:cNvSpPr>
            <a:spLocks xmlns:a="http://schemas.openxmlformats.org/drawingml/2006/main" noGrp="1"/>
          </p:cNvSpPr>
          <p:nvPr/>
        </p:nvSpPr>
        <p:spPr>
          <a:xfrm xmlns:a="http://schemas.openxmlformats.org/drawingml/2006/main">
            <a:off x="685800" y="51435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4E6472"/>
                </a:solidFill>
                <a:latin typeface="Arial"/>
                <a:ea typeface="Arial"/>
                <a:cs typeface="Arial"/>
              </a:defRPr>
            </a:defPPr>
            <a:lvl1pPr>
              <a:defRPr sz="2100" b="0">
                <a:solidFill>
                  <a:srgbClr val="4E6472"/>
                </a:solidFill>
                <a:latin typeface="Arial"/>
                <a:ea typeface="Arial"/>
                <a:cs typeface="Arial"/>
              </a:defRPr>
            </a:lvl1pPr>
            <a:lvl2pPr>
              <a:defRPr sz="2100" b="0">
                <a:solidFill>
                  <a:srgbClr val="4E6472"/>
                </a:solidFill>
                <a:latin typeface="Arial"/>
                <a:ea typeface="Arial"/>
                <a:cs typeface="Arial"/>
              </a:defRPr>
            </a:lvl2pPr>
            <a:lvl3pPr>
              <a:defRPr sz="2100" b="0">
                <a:solidFill>
                  <a:srgbClr val="4E6472"/>
                </a:solidFill>
                <a:latin typeface="Arial"/>
                <a:ea typeface="Arial"/>
                <a:cs typeface="Arial"/>
              </a:defRPr>
            </a:lvl3pPr>
            <a:lvl4pPr>
              <a:defRPr sz="2100" b="0">
                <a:solidFill>
                  <a:srgbClr val="4E6472"/>
                </a:solidFill>
                <a:latin typeface="Arial"/>
                <a:ea typeface="Arial"/>
                <a:cs typeface="Arial"/>
              </a:defRPr>
            </a:lvl4pPr>
            <a:lvl5pPr>
              <a:defRPr sz="2100" b="0">
                <a:solidFill>
                  <a:srgbClr val="4E6472"/>
                </a:solidFill>
                <a:latin typeface="Arial"/>
                <a:ea typeface="Arial"/>
                <a:cs typeface="Arial"/>
              </a:defRPr>
            </a:lvl5pPr>
            <a:lvl6pPr>
              <a:defRPr sz="2100" b="0">
                <a:solidFill>
                  <a:srgbClr val="4E6472"/>
                </a:solidFill>
                <a:latin typeface="Arial"/>
                <a:ea typeface="Arial"/>
                <a:cs typeface="Arial"/>
              </a:defRPr>
            </a:lvl6pPr>
            <a:lvl7pPr>
              <a:defRPr sz="2100" b="0">
                <a:solidFill>
                  <a:srgbClr val="4E6472"/>
                </a:solidFill>
                <a:latin typeface="Arial"/>
                <a:ea typeface="Arial"/>
                <a:cs typeface="Arial"/>
              </a:defRPr>
            </a:lvl7pPr>
            <a:lvl8pPr>
              <a:defRPr sz="2100" b="0">
                <a:solidFill>
                  <a:srgbClr val="4E6472"/>
                </a:solidFill>
                <a:latin typeface="Arial"/>
                <a:ea typeface="Arial"/>
                <a:cs typeface="Arial"/>
              </a:defRPr>
            </a:lvl8pPr>
            <a:lvl9pPr>
              <a:defRPr sz="2100" b="0">
                <a:solidFill>
                  <a:srgbClr val="4E6472"/>
                </a:solidFill>
                <a:latin typeface="Arial"/>
                <a:ea typeface="Arial"/>
                <a:cs typeface="Arial"/>
              </a:defRPr>
            </a:lvl9pPr>
          </a:lstStyle>
          <a:p xmlns:a="http://schemas.openxmlformats.org/drawingml/2006/main">
            <a:pPr>
              <a:defRPr sz="2100" b="0">
                <a:solidFill>
                  <a:srgbClr val="4E6472"/>
                </a:solidFill>
                <a:latin typeface="Arial"/>
                <a:ea typeface="Arial"/>
                <a:cs typeface="Arial"/>
              </a:defRPr>
            </a:pPr>
            <a:r>
              <a:rPr sz="2100" b="0">
                <a:solidFill>
                  <a:srgbClr val="4E6472"/>
                </a:solidFill>
                <a:latin typeface="Arial"/>
                <a:ea typeface="Arial"/>
                <a:cs typeface="Arial"/>
              </a:rPr>
              <a:t>Our contribution is a clear, reproducible baseline experiment.</a:t>
            </a:r>
          </a:p>
        </p:txBody>
      </p:sp>
    </p:spTree>
    <p:extLst>
      <p:ext uri="{BB962C8B-B14F-4D97-AF65-F5344CB8AC3E}">
        <p14:creationId xmlns:p14="http://schemas.microsoft.com/office/powerpoint/2010/main" val="1833544292"/>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ED5DF0-0106-4962-947C-66EA1FDBE2E4}"/>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Dataset quality</a:t>
            </a:r>
          </a:p>
        </p:txBody>
      </p:sp>
      <p:sp>
        <p:nvSpPr>
          <p:cNvPr id="2" name="">
            <a:extLst xmlns:a="http://schemas.openxmlformats.org/drawingml/2006/main">
              <a:ext uri="{FF2B5EF4-FFF2-40B4-BE49-F238E27FC236}">
                <a16:creationId xmlns:a16="http://schemas.microsoft.com/office/drawing/2014/main" id="{80B7511E-0511-4BC8-993A-9ADECFF4ECA6}"/>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DE2FC7FA-6BC7-4E44-9601-BC8A7AA2D882}"/>
              </a:ext>
            </a:extLst>
          </p:cNvPr>
          <p:cNvGraphicFramePr/>
          <p:nvPr/>
        </p:nvGraphicFramePr>
        <p:xfrm>
          <a:off xmlns:a="http://schemas.openxmlformats.org/drawingml/2006/main" x="685800" y="1657350"/>
          <a:ext xmlns:a="http://schemas.openxmlformats.org/drawingml/2006/main" cx="10668000" cy="2857500"/>
        </p:xfrm>
        <a:graphic xmlns:a="http://schemas.openxmlformats.org/drawingml/2006/main">
          <a:graphicData uri="http://schemas.openxmlformats.org/drawingml/2006/table">
            <a:tbl>
              <a:tblPr/>
              <a:tblGrid>
                <a:gridCol w="3524250"/>
                <a:gridCol w="2952750"/>
                <a:gridCol w="4191000"/>
              </a:tblGrid>
              <a:tr h="714375">
                <a:tc>
                  <a:txBody>
                    <a:bodyPr/>
                    <a:lstStyle/>
                    <a:p>
                      <a:r>
                        <a:rPr sz="1875" b="1">
                          <a:solidFill>
                            <a:srgbClr val="FFFFFF"/>
                          </a:solidFill>
                          <a:latin typeface="Arial"/>
                          <a:ea typeface="Arial"/>
                          <a:cs typeface="Arial"/>
                        </a:rPr>
                        <a:t>Measured quantity</a:t>
                      </a:r>
                    </a:p>
                  </a:txBody>
                  <a:tcPr marL="133350" marR="114300" marT="114300" marB="114300" anchor="ctr">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Original CSV</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After exact-repeat removal</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714375">
                <a:tc>
                  <a:txBody>
                    <a:bodyPr/>
                    <a:lstStyle/>
                    <a:p>
                      <a:r>
                        <a:rPr sz="1875">
                          <a:solidFill>
                            <a:srgbClr val="173447"/>
                          </a:solidFill>
                          <a:latin typeface="Arial"/>
                          <a:ea typeface="Arial"/>
                          <a:cs typeface="Arial"/>
                        </a:rPr>
                        <a:t>Transactions</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284,807</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283,726</a:t>
                      </a:r>
                    </a:p>
                  </a:txBody>
                  <a:tcPr marL="133350" marR="114300" marT="114300" marB="114300" anchor="ctr">
                    <a:lnR w="9525">
                      <a:solidFill>
                        <a:srgbClr val="DDE3E7"/>
                      </a:solidFill>
                      <a:prstDash val="solid"/>
                    </a:lnR>
                    <a:lnB w="9525">
                      <a:solidFill>
                        <a:srgbClr val="DDE3E7"/>
                      </a:solidFill>
                      <a:prstDash val="solid"/>
                    </a:lnB>
                  </a:tcPr>
                </a:tc>
              </a:tr>
              <a:tr h="714375">
                <a:tc>
                  <a:txBody>
                    <a:bodyPr/>
                    <a:lstStyle/>
                    <a:p>
                      <a:r>
                        <a:rPr sz="1875">
                          <a:solidFill>
                            <a:srgbClr val="173447"/>
                          </a:solidFill>
                          <a:latin typeface="Arial"/>
                          <a:ea typeface="Arial"/>
                          <a:cs typeface="Arial"/>
                        </a:rPr>
                        <a:t>Fraud labels</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492</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473</a:t>
                      </a:r>
                    </a:p>
                  </a:txBody>
                  <a:tcPr marL="133350" marR="114300" marT="114300" marB="114300" anchor="ctr">
                    <a:lnR w="9525">
                      <a:solidFill>
                        <a:srgbClr val="DDE3E7"/>
                      </a:solidFill>
                      <a:prstDash val="solid"/>
                    </a:lnR>
                    <a:lnB w="9525">
                      <a:solidFill>
                        <a:srgbClr val="DDE3E7"/>
                      </a:solidFill>
                      <a:prstDash val="solid"/>
                    </a:lnB>
                  </a:tcPr>
                </a:tc>
              </a:tr>
              <a:tr h="714375">
                <a:tc>
                  <a:txBody>
                    <a:bodyPr/>
                    <a:lstStyle/>
                    <a:p>
                      <a:r>
                        <a:rPr sz="1875">
                          <a:solidFill>
                            <a:srgbClr val="173447"/>
                          </a:solidFill>
                          <a:latin typeface="Arial"/>
                          <a:ea typeface="Arial"/>
                          <a:cs typeface="Arial"/>
                        </a:rPr>
                        <a:t>Exact repeats removed</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1,081</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19 of these carry fraud labels</a:t>
                      </a:r>
                    </a:p>
                  </a:txBody>
                  <a:tcPr marL="133350" marR="114300" marT="114300" marB="114300" anchor="ctr">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E8534C74-110B-4550-93E0-E3909DF6E8DB}"/>
              </a:ext>
            </a:extLst>
          </p:cNvPr>
          <p:cNvSpPr>
            <a:spLocks xmlns:a="http://schemas.openxmlformats.org/drawingml/2006/main" noGrp="1"/>
          </p:cNvSpPr>
          <p:nvPr/>
        </p:nvSpPr>
        <p:spPr>
          <a:xfrm xmlns:a="http://schemas.openxmlformats.org/drawingml/2006/main">
            <a:off x="685800" y="4905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73447"/>
                </a:solidFill>
                <a:latin typeface="Arial"/>
                <a:ea typeface="Arial"/>
                <a:cs typeface="Arial"/>
              </a:defRPr>
            </a:defPPr>
            <a:lvl1pPr>
              <a:defRPr sz="2025" b="0">
                <a:solidFill>
                  <a:srgbClr val="173447"/>
                </a:solidFill>
                <a:latin typeface="Arial"/>
                <a:ea typeface="Arial"/>
                <a:cs typeface="Arial"/>
              </a:defRPr>
            </a:lvl1pPr>
            <a:lvl2pPr>
              <a:defRPr sz="2025" b="0">
                <a:solidFill>
                  <a:srgbClr val="173447"/>
                </a:solidFill>
                <a:latin typeface="Arial"/>
                <a:ea typeface="Arial"/>
                <a:cs typeface="Arial"/>
              </a:defRPr>
            </a:lvl2pPr>
            <a:lvl3pPr>
              <a:defRPr sz="2025" b="0">
                <a:solidFill>
                  <a:srgbClr val="173447"/>
                </a:solidFill>
                <a:latin typeface="Arial"/>
                <a:ea typeface="Arial"/>
                <a:cs typeface="Arial"/>
              </a:defRPr>
            </a:lvl3pPr>
            <a:lvl4pPr>
              <a:defRPr sz="2025" b="0">
                <a:solidFill>
                  <a:srgbClr val="173447"/>
                </a:solidFill>
                <a:latin typeface="Arial"/>
                <a:ea typeface="Arial"/>
                <a:cs typeface="Arial"/>
              </a:defRPr>
            </a:lvl4pPr>
            <a:lvl5pPr>
              <a:defRPr sz="2025" b="0">
                <a:solidFill>
                  <a:srgbClr val="173447"/>
                </a:solidFill>
                <a:latin typeface="Arial"/>
                <a:ea typeface="Arial"/>
                <a:cs typeface="Arial"/>
              </a:defRPr>
            </a:lvl5pPr>
            <a:lvl6pPr>
              <a:defRPr sz="2025" b="0">
                <a:solidFill>
                  <a:srgbClr val="173447"/>
                </a:solidFill>
                <a:latin typeface="Arial"/>
                <a:ea typeface="Arial"/>
                <a:cs typeface="Arial"/>
              </a:defRPr>
            </a:lvl6pPr>
            <a:lvl7pPr>
              <a:defRPr sz="2025" b="0">
                <a:solidFill>
                  <a:srgbClr val="173447"/>
                </a:solidFill>
                <a:latin typeface="Arial"/>
                <a:ea typeface="Arial"/>
                <a:cs typeface="Arial"/>
              </a:defRPr>
            </a:lvl7pPr>
            <a:lvl8pPr>
              <a:defRPr sz="2025" b="0">
                <a:solidFill>
                  <a:srgbClr val="173447"/>
                </a:solidFill>
                <a:latin typeface="Arial"/>
                <a:ea typeface="Arial"/>
                <a:cs typeface="Arial"/>
              </a:defRPr>
            </a:lvl8pPr>
            <a:lvl9pPr>
              <a:defRPr sz="2025" b="0">
                <a:solidFill>
                  <a:srgbClr val="173447"/>
                </a:solidFill>
                <a:latin typeface="Arial"/>
                <a:ea typeface="Arial"/>
                <a:cs typeface="Arial"/>
              </a:defRPr>
            </a:lvl9pPr>
          </a:lstStyle>
          <a:p xmlns:a="http://schemas.openxmlformats.org/drawingml/2006/main">
            <a:pPr>
              <a:defRPr sz="2025" b="0">
                <a:solidFill>
                  <a:srgbClr val="173447"/>
                </a:solidFill>
                <a:latin typeface="Arial"/>
                <a:ea typeface="Arial"/>
                <a:cs typeface="Arial"/>
              </a:defRPr>
            </a:pPr>
            <a:r>
              <a:rPr sz="2025" b="0">
                <a:solidFill>
                  <a:srgbClr val="173447"/>
                </a:solidFill>
                <a:latin typeface="Arial"/>
                <a:ea typeface="Arial"/>
                <a:cs typeface="Arial"/>
              </a:rPr>
              <a:t>31 columns. No missing or infinite cells. Source checksum recorded.</a:t>
            </a:r>
          </a:p>
        </p:txBody>
      </p:sp>
      <p:sp>
        <p:nvSpPr>
          <p:cNvPr id="5" name="">
            <a:extLst xmlns:a="http://schemas.openxmlformats.org/drawingml/2006/main">
              <a:ext uri="{FF2B5EF4-FFF2-40B4-BE49-F238E27FC236}">
                <a16:creationId xmlns:a16="http://schemas.microsoft.com/office/drawing/2014/main" id="{B4F12FEF-C90C-4A30-A74E-AE494281847F}"/>
              </a:ext>
            </a:extLst>
          </p:cNvPr>
          <p:cNvSpPr>
            <a:spLocks xmlns:a="http://schemas.openxmlformats.org/drawingml/2006/main" noGrp="1"/>
          </p:cNvSpPr>
          <p:nvPr/>
        </p:nvSpPr>
        <p:spPr>
          <a:xfrm xmlns:a="http://schemas.openxmlformats.org/drawingml/2006/main">
            <a:off x="685800" y="56578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4E6472"/>
                </a:solidFill>
                <a:latin typeface="Arial"/>
                <a:ea typeface="Arial"/>
                <a:cs typeface="Arial"/>
              </a:defRPr>
            </a:defPPr>
            <a:lvl1pPr>
              <a:defRPr sz="1875" b="0">
                <a:solidFill>
                  <a:srgbClr val="4E6472"/>
                </a:solidFill>
                <a:latin typeface="Arial"/>
                <a:ea typeface="Arial"/>
                <a:cs typeface="Arial"/>
              </a:defRPr>
            </a:lvl1pPr>
            <a:lvl2pPr>
              <a:defRPr sz="1875" b="0">
                <a:solidFill>
                  <a:srgbClr val="4E6472"/>
                </a:solidFill>
                <a:latin typeface="Arial"/>
                <a:ea typeface="Arial"/>
                <a:cs typeface="Arial"/>
              </a:defRPr>
            </a:lvl2pPr>
            <a:lvl3pPr>
              <a:defRPr sz="1875" b="0">
                <a:solidFill>
                  <a:srgbClr val="4E6472"/>
                </a:solidFill>
                <a:latin typeface="Arial"/>
                <a:ea typeface="Arial"/>
                <a:cs typeface="Arial"/>
              </a:defRPr>
            </a:lvl3pPr>
            <a:lvl4pPr>
              <a:defRPr sz="1875" b="0">
                <a:solidFill>
                  <a:srgbClr val="4E6472"/>
                </a:solidFill>
                <a:latin typeface="Arial"/>
                <a:ea typeface="Arial"/>
                <a:cs typeface="Arial"/>
              </a:defRPr>
            </a:lvl4pPr>
            <a:lvl5pPr>
              <a:defRPr sz="1875" b="0">
                <a:solidFill>
                  <a:srgbClr val="4E6472"/>
                </a:solidFill>
                <a:latin typeface="Arial"/>
                <a:ea typeface="Arial"/>
                <a:cs typeface="Arial"/>
              </a:defRPr>
            </a:lvl5pPr>
            <a:lvl6pPr>
              <a:defRPr sz="1875" b="0">
                <a:solidFill>
                  <a:srgbClr val="4E6472"/>
                </a:solidFill>
                <a:latin typeface="Arial"/>
                <a:ea typeface="Arial"/>
                <a:cs typeface="Arial"/>
              </a:defRPr>
            </a:lvl6pPr>
            <a:lvl7pPr>
              <a:defRPr sz="1875" b="0">
                <a:solidFill>
                  <a:srgbClr val="4E6472"/>
                </a:solidFill>
                <a:latin typeface="Arial"/>
                <a:ea typeface="Arial"/>
                <a:cs typeface="Arial"/>
              </a:defRPr>
            </a:lvl7pPr>
            <a:lvl8pPr>
              <a:defRPr sz="1875" b="0">
                <a:solidFill>
                  <a:srgbClr val="4E6472"/>
                </a:solidFill>
                <a:latin typeface="Arial"/>
                <a:ea typeface="Arial"/>
                <a:cs typeface="Arial"/>
              </a:defRPr>
            </a:lvl8pPr>
            <a:lvl9pPr>
              <a:defRPr sz="1875" b="0">
                <a:solidFill>
                  <a:srgbClr val="4E6472"/>
                </a:solidFill>
                <a:latin typeface="Arial"/>
                <a:ea typeface="Arial"/>
                <a:cs typeface="Arial"/>
              </a:defRPr>
            </a:lvl9pPr>
          </a:lstStyle>
          <a:p xmlns:a="http://schemas.openxmlformats.org/drawingml/2006/main">
            <a:pPr>
              <a:defRPr sz="1875" b="0">
                <a:solidFill>
                  <a:srgbClr val="4E6472"/>
                </a:solidFill>
                <a:latin typeface="Arial"/>
                <a:ea typeface="Arial"/>
                <a:cs typeface="Arial"/>
              </a:defRPr>
            </a:pPr>
            <a:r>
              <a:rPr sz="1875" b="0">
                <a:solidFill>
                  <a:srgbClr val="4E6472"/>
                </a:solidFill>
                <a:latin typeface="Arial"/>
                <a:ea typeface="Arial"/>
                <a:cs typeface="Arial"/>
              </a:rPr>
              <a:t>V1-V28 are anonymous PCA inputs. Business meanings are unavailable.</a:t>
            </a:r>
          </a:p>
        </p:txBody>
      </p:sp>
    </p:spTree>
    <p:extLst>
      <p:ext uri="{BB962C8B-B14F-4D97-AF65-F5344CB8AC3E}">
        <p14:creationId xmlns:p14="http://schemas.microsoft.com/office/powerpoint/2010/main" val="943739426"/>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A4C6BF-C658-4A52-86BC-B21FF92F86C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Chronological evaluation</a:t>
            </a:r>
          </a:p>
        </p:txBody>
      </p:sp>
      <p:sp>
        <p:nvSpPr>
          <p:cNvPr id="2" name="">
            <a:extLst xmlns:a="http://schemas.openxmlformats.org/drawingml/2006/main">
              <a:ext uri="{FF2B5EF4-FFF2-40B4-BE49-F238E27FC236}">
                <a16:creationId xmlns:a16="http://schemas.microsoft.com/office/drawing/2014/main" id="{BD72988C-6B09-4B17-9B68-2E8CC4DB1F17}"/>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009B352-542F-4DDF-B0D7-3E7AAA1FAC5D}"/>
              </a:ext>
            </a:extLst>
          </p:cNvPr>
          <p:cNvGraphicFramePr/>
          <p:nvPr/>
        </p:nvGraphicFramePr>
        <p:xfrm>
          <a:off xmlns:a="http://schemas.openxmlformats.org/drawingml/2006/main" x="685800" y="1657350"/>
          <a:ext xmlns:a="http://schemas.openxmlformats.org/drawingml/2006/main" cx="10668000" cy="2838450"/>
        </p:xfrm>
        <a:graphic xmlns:a="http://schemas.openxmlformats.org/drawingml/2006/main">
          <a:graphicData uri="http://schemas.openxmlformats.org/drawingml/2006/table">
            <a:tbl>
              <a:tblPr/>
              <a:tblGrid>
                <a:gridCol w="3048000"/>
                <a:gridCol w="2571750"/>
                <a:gridCol w="2571750"/>
                <a:gridCol w="2476500"/>
              </a:tblGrid>
              <a:tr h="709613">
                <a:tc>
                  <a:txBody>
                    <a:bodyPr/>
                    <a:lstStyle/>
                    <a:p>
                      <a:r>
                        <a:rPr sz="1875" b="1">
                          <a:solidFill>
                            <a:srgbClr val="FFFFFF"/>
                          </a:solidFill>
                          <a:latin typeface="Arial"/>
                          <a:ea typeface="Arial"/>
                          <a:cs typeface="Arial"/>
                        </a:rPr>
                        <a:t>Period</a:t>
                      </a:r>
                    </a:p>
                  </a:txBody>
                  <a:tcPr marL="133350" marR="114300" marT="114300" marB="114300" anchor="ctr">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Rows</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Legitimate</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Fraud</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709613">
                <a:tc>
                  <a:txBody>
                    <a:bodyPr/>
                    <a:lstStyle/>
                    <a:p>
                      <a:r>
                        <a:rPr sz="1875">
                          <a:solidFill>
                            <a:srgbClr val="173447"/>
                          </a:solidFill>
                          <a:latin typeface="Arial"/>
                          <a:ea typeface="Arial"/>
                          <a:cs typeface="Arial"/>
                        </a:rPr>
                        <a:t>train</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170,235</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169,893</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342</a:t>
                      </a:r>
                    </a:p>
                  </a:txBody>
                  <a:tcPr marL="133350" marR="114300" marT="114300" marB="114300" anchor="ctr">
                    <a:lnR w="9525">
                      <a:solidFill>
                        <a:srgbClr val="DDE3E7"/>
                      </a:solidFill>
                      <a:prstDash val="solid"/>
                    </a:lnR>
                    <a:lnB w="9525">
                      <a:solidFill>
                        <a:srgbClr val="DDE3E7"/>
                      </a:solidFill>
                      <a:prstDash val="solid"/>
                    </a:lnB>
                  </a:tcPr>
                </a:tc>
              </a:tr>
              <a:tr h="709613">
                <a:tc>
                  <a:txBody>
                    <a:bodyPr/>
                    <a:lstStyle/>
                    <a:p>
                      <a:r>
                        <a:rPr sz="1875">
                          <a:solidFill>
                            <a:srgbClr val="173447"/>
                          </a:solidFill>
                          <a:latin typeface="Arial"/>
                          <a:ea typeface="Arial"/>
                          <a:cs typeface="Arial"/>
                        </a:rPr>
                        <a:t>validation</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56,745</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56,688</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57</a:t>
                      </a:r>
                    </a:p>
                  </a:txBody>
                  <a:tcPr marL="133350" marR="114300" marT="114300" marB="114300" anchor="ctr">
                    <a:lnR w="9525">
                      <a:solidFill>
                        <a:srgbClr val="DDE3E7"/>
                      </a:solidFill>
                      <a:prstDash val="solid"/>
                    </a:lnR>
                    <a:lnB w="9525">
                      <a:solidFill>
                        <a:srgbClr val="DDE3E7"/>
                      </a:solidFill>
                      <a:prstDash val="solid"/>
                    </a:lnB>
                  </a:tcPr>
                </a:tc>
              </a:tr>
              <a:tr h="709613">
                <a:tc>
                  <a:txBody>
                    <a:bodyPr/>
                    <a:lstStyle/>
                    <a:p>
                      <a:r>
                        <a:rPr sz="1875">
                          <a:solidFill>
                            <a:srgbClr val="173447"/>
                          </a:solidFill>
                          <a:latin typeface="Arial"/>
                          <a:ea typeface="Arial"/>
                          <a:cs typeface="Arial"/>
                        </a:rPr>
                        <a:t>test</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56,746</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56,672</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74</a:t>
                      </a:r>
                    </a:p>
                  </a:txBody>
                  <a:tcPr marL="133350" marR="114300" marT="114300" marB="114300" anchor="ctr">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09E8D373-51A8-4FCA-A987-A4E9C132587A}"/>
              </a:ext>
            </a:extLst>
          </p:cNvPr>
          <p:cNvSpPr>
            <a:spLocks xmlns:a="http://schemas.openxmlformats.org/drawingml/2006/main" noGrp="1"/>
          </p:cNvSpPr>
          <p:nvPr/>
        </p:nvSpPr>
        <p:spPr>
          <a:xfrm xmlns:a="http://schemas.openxmlformats.org/drawingml/2006/main">
            <a:off x="685800" y="49149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4668D"/>
                </a:solidFill>
                <a:latin typeface="Arial"/>
                <a:ea typeface="Arial"/>
                <a:cs typeface="Arial"/>
              </a:defRPr>
            </a:defPPr>
            <a:lvl1pPr>
              <a:defRPr sz="2250" b="0">
                <a:solidFill>
                  <a:srgbClr val="24668D"/>
                </a:solidFill>
                <a:latin typeface="Arial"/>
                <a:ea typeface="Arial"/>
                <a:cs typeface="Arial"/>
              </a:defRPr>
            </a:lvl1pPr>
            <a:lvl2pPr>
              <a:defRPr sz="2250" b="0">
                <a:solidFill>
                  <a:srgbClr val="24668D"/>
                </a:solidFill>
                <a:latin typeface="Arial"/>
                <a:ea typeface="Arial"/>
                <a:cs typeface="Arial"/>
              </a:defRPr>
            </a:lvl2pPr>
            <a:lvl3pPr>
              <a:defRPr sz="2250" b="0">
                <a:solidFill>
                  <a:srgbClr val="24668D"/>
                </a:solidFill>
                <a:latin typeface="Arial"/>
                <a:ea typeface="Arial"/>
                <a:cs typeface="Arial"/>
              </a:defRPr>
            </a:lvl3pPr>
            <a:lvl4pPr>
              <a:defRPr sz="2250" b="0">
                <a:solidFill>
                  <a:srgbClr val="24668D"/>
                </a:solidFill>
                <a:latin typeface="Arial"/>
                <a:ea typeface="Arial"/>
                <a:cs typeface="Arial"/>
              </a:defRPr>
            </a:lvl4pPr>
            <a:lvl5pPr>
              <a:defRPr sz="2250" b="0">
                <a:solidFill>
                  <a:srgbClr val="24668D"/>
                </a:solidFill>
                <a:latin typeface="Arial"/>
                <a:ea typeface="Arial"/>
                <a:cs typeface="Arial"/>
              </a:defRPr>
            </a:lvl5pPr>
            <a:lvl6pPr>
              <a:defRPr sz="2250" b="0">
                <a:solidFill>
                  <a:srgbClr val="24668D"/>
                </a:solidFill>
                <a:latin typeface="Arial"/>
                <a:ea typeface="Arial"/>
                <a:cs typeface="Arial"/>
              </a:defRPr>
            </a:lvl6pPr>
            <a:lvl7pPr>
              <a:defRPr sz="2250" b="0">
                <a:solidFill>
                  <a:srgbClr val="24668D"/>
                </a:solidFill>
                <a:latin typeface="Arial"/>
                <a:ea typeface="Arial"/>
                <a:cs typeface="Arial"/>
              </a:defRPr>
            </a:lvl7pPr>
            <a:lvl8pPr>
              <a:defRPr sz="2250" b="0">
                <a:solidFill>
                  <a:srgbClr val="24668D"/>
                </a:solidFill>
                <a:latin typeface="Arial"/>
                <a:ea typeface="Arial"/>
                <a:cs typeface="Arial"/>
              </a:defRPr>
            </a:lvl8pPr>
            <a:lvl9pPr>
              <a:defRPr sz="2250" b="0">
                <a:solidFill>
                  <a:srgbClr val="24668D"/>
                </a:solidFill>
                <a:latin typeface="Arial"/>
                <a:ea typeface="Arial"/>
                <a:cs typeface="Arial"/>
              </a:defRPr>
            </a:lvl9pPr>
          </a:lstStyle>
          <a:p xmlns:a="http://schemas.openxmlformats.org/drawingml/2006/main">
            <a:pPr>
              <a:defRPr sz="2250" b="0">
                <a:solidFill>
                  <a:srgbClr val="24668D"/>
                </a:solidFill>
                <a:latin typeface="Arial"/>
                <a:ea typeface="Arial"/>
                <a:cs typeface="Arial"/>
              </a:defRPr>
            </a:pPr>
            <a:r>
              <a:rPr sz="2250" b="0">
                <a:solidFill>
                  <a:srgbClr val="24668D"/>
                </a:solidFill>
                <a:latin typeface="Arial"/>
                <a:ea typeface="Arial"/>
                <a:cs typeface="Arial"/>
              </a:rPr>
              <a:t>Fit on 169,893 legitimate training rows. Freeze choices before test.</a:t>
            </a:r>
          </a:p>
        </p:txBody>
      </p:sp>
      <p:sp>
        <p:nvSpPr>
          <p:cNvPr id="5" name="">
            <a:extLst xmlns:a="http://schemas.openxmlformats.org/drawingml/2006/main">
              <a:ext uri="{FF2B5EF4-FFF2-40B4-BE49-F238E27FC236}">
                <a16:creationId xmlns:a16="http://schemas.microsoft.com/office/drawing/2014/main" id="{04C43003-08B8-4897-9C17-3EEA15A5CD18}"/>
              </a:ext>
            </a:extLst>
          </p:cNvPr>
          <p:cNvSpPr>
            <a:spLocks xmlns:a="http://schemas.openxmlformats.org/drawingml/2006/main" noGrp="1"/>
          </p:cNvSpPr>
          <p:nvPr/>
        </p:nvSpPr>
        <p:spPr>
          <a:xfrm xmlns:a="http://schemas.openxmlformats.org/drawingml/2006/main">
            <a:off x="685800" y="5686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4E6472"/>
                </a:solidFill>
                <a:latin typeface="Arial"/>
                <a:ea typeface="Arial"/>
                <a:cs typeface="Arial"/>
              </a:defRPr>
            </a:defPPr>
            <a:lvl1pPr>
              <a:defRPr sz="1950" b="0">
                <a:solidFill>
                  <a:srgbClr val="4E6472"/>
                </a:solidFill>
                <a:latin typeface="Arial"/>
                <a:ea typeface="Arial"/>
                <a:cs typeface="Arial"/>
              </a:defRPr>
            </a:lvl1pPr>
            <a:lvl2pPr>
              <a:defRPr sz="1950" b="0">
                <a:solidFill>
                  <a:srgbClr val="4E6472"/>
                </a:solidFill>
                <a:latin typeface="Arial"/>
                <a:ea typeface="Arial"/>
                <a:cs typeface="Arial"/>
              </a:defRPr>
            </a:lvl2pPr>
            <a:lvl3pPr>
              <a:defRPr sz="1950" b="0">
                <a:solidFill>
                  <a:srgbClr val="4E6472"/>
                </a:solidFill>
                <a:latin typeface="Arial"/>
                <a:ea typeface="Arial"/>
                <a:cs typeface="Arial"/>
              </a:defRPr>
            </a:lvl3pPr>
            <a:lvl4pPr>
              <a:defRPr sz="1950" b="0">
                <a:solidFill>
                  <a:srgbClr val="4E6472"/>
                </a:solidFill>
                <a:latin typeface="Arial"/>
                <a:ea typeface="Arial"/>
                <a:cs typeface="Arial"/>
              </a:defRPr>
            </a:lvl4pPr>
            <a:lvl5pPr>
              <a:defRPr sz="1950" b="0">
                <a:solidFill>
                  <a:srgbClr val="4E6472"/>
                </a:solidFill>
                <a:latin typeface="Arial"/>
                <a:ea typeface="Arial"/>
                <a:cs typeface="Arial"/>
              </a:defRPr>
            </a:lvl5pPr>
            <a:lvl6pPr>
              <a:defRPr sz="1950" b="0">
                <a:solidFill>
                  <a:srgbClr val="4E6472"/>
                </a:solidFill>
                <a:latin typeface="Arial"/>
                <a:ea typeface="Arial"/>
                <a:cs typeface="Arial"/>
              </a:defRPr>
            </a:lvl6pPr>
            <a:lvl7pPr>
              <a:defRPr sz="1950" b="0">
                <a:solidFill>
                  <a:srgbClr val="4E6472"/>
                </a:solidFill>
                <a:latin typeface="Arial"/>
                <a:ea typeface="Arial"/>
                <a:cs typeface="Arial"/>
              </a:defRPr>
            </a:lvl7pPr>
            <a:lvl8pPr>
              <a:defRPr sz="1950" b="0">
                <a:solidFill>
                  <a:srgbClr val="4E6472"/>
                </a:solidFill>
                <a:latin typeface="Arial"/>
                <a:ea typeface="Arial"/>
                <a:cs typeface="Arial"/>
              </a:defRPr>
            </a:lvl8pPr>
            <a:lvl9pPr>
              <a:defRPr sz="1950" b="0">
                <a:solidFill>
                  <a:srgbClr val="4E6472"/>
                </a:solidFill>
                <a:latin typeface="Arial"/>
                <a:ea typeface="Arial"/>
                <a:cs typeface="Arial"/>
              </a:defRPr>
            </a:lvl9pPr>
          </a:lstStyle>
          <a:p xmlns:a="http://schemas.openxmlformats.org/drawingml/2006/main">
            <a:pPr>
              <a:defRPr sz="1950" b="0">
                <a:solidFill>
                  <a:srgbClr val="4E6472"/>
                </a:solidFill>
                <a:latin typeface="Arial"/>
                <a:ea typeface="Arial"/>
                <a:cs typeface="Arial"/>
              </a:defRPr>
            </a:pPr>
            <a:r>
              <a:rPr sz="1950" b="0">
                <a:solidFill>
                  <a:srgbClr val="4E6472"/>
                </a:solidFill>
                <a:latin typeface="Arial"/>
                <a:ea typeface="Arial"/>
                <a:cs typeface="Arial"/>
              </a:rPr>
              <a:t>Equal timestamps stay together. No future rows fit preprocessing.</a:t>
            </a:r>
          </a:p>
        </p:txBody>
      </p:sp>
    </p:spTree>
    <p:extLst>
      <p:ext uri="{BB962C8B-B14F-4D97-AF65-F5344CB8AC3E}">
        <p14:creationId xmlns:p14="http://schemas.microsoft.com/office/powerpoint/2010/main" val="1291681587"/>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FF7A06-CD3F-4515-849F-16D6BFCA78C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Training amount distribution</a:t>
            </a:r>
          </a:p>
        </p:txBody>
      </p:sp>
      <p:sp>
        <p:nvSpPr>
          <p:cNvPr id="2" name="">
            <a:extLst xmlns:a="http://schemas.openxmlformats.org/drawingml/2006/main">
              <a:ext uri="{FF2B5EF4-FFF2-40B4-BE49-F238E27FC236}">
                <a16:creationId xmlns:a16="http://schemas.microsoft.com/office/drawing/2014/main" id="{7822B253-FEFC-4D7C-B1C2-2A8877F1A2FF}"/>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06</a:t>
            </a:r>
          </a:p>
        </p:txBody>
      </p:sp>
      <p:graphicFrame>
        <p:nvGraphicFramePr>
          <p:cNvPr id="3" name="Chart">
            <a:extLst xmlns:a="http://schemas.openxmlformats.org/drawingml/2006/main">
              <a:ext uri="{FF2B5EF4-FFF2-40B4-BE49-F238E27FC236}">
                <a16:creationId xmlns:a16="http://schemas.microsoft.com/office/drawing/2014/main" id="{66EB8FB7-4FBB-4F07-B70B-15A89500EE5A}"/>
              </a:ext>
            </a:extLst>
          </p:cNvPr>
          <p:cNvGraphicFramePr/>
          <p:nvPr/>
        </p:nvGraphicFramePr>
        <p:xfrm>
          <a:off xmlns:a="http://schemas.openxmlformats.org/drawingml/2006/main" x="628650" y="1524000"/>
          <a:ext xmlns:a="http://schemas.openxmlformats.org/drawingml/2006/main" cx="7429500" cy="4191000"/>
        </p:xfrm>
        <a:graphic xmlns:a="http://schemas.openxmlformats.org/drawingml/2006/main">
          <a:graphicData uri="http://schemas.openxmlformats.org/drawingml/2006/chart">
            <c:chart xmlns:r="http://schemas.openxmlformats.org/officeDocument/2006/relationships" xmlns:c="http://schemas.openxmlformats.org/drawingml/2006/chart" r:id="Reda79bbf39234fd4"/>
          </a:graphicData>
        </a:graphic>
      </p:graphicFrame>
      <p:sp>
        <p:nvSpPr>
          <p:cNvPr id="4" name="">
            <a:extLst xmlns:a="http://schemas.openxmlformats.org/drawingml/2006/main">
              <a:ext uri="{FF2B5EF4-FFF2-40B4-BE49-F238E27FC236}">
                <a16:creationId xmlns:a16="http://schemas.microsoft.com/office/drawing/2014/main" id="{53753012-5654-43D4-BD16-85FE73A2FBD2}"/>
              </a:ext>
            </a:extLst>
          </p:cNvPr>
          <p:cNvSpPr>
            <a:spLocks xmlns:a="http://schemas.openxmlformats.org/drawingml/2006/main" noGrp="1"/>
          </p:cNvSpPr>
          <p:nvPr/>
        </p:nvSpPr>
        <p:spPr>
          <a:xfrm xmlns:a="http://schemas.openxmlformats.org/drawingml/2006/main">
            <a:off x="8477250" y="2066925"/>
            <a:ext cx="295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Amount spans a wide range.</a:t>
            </a:r>
          </a:p>
          <a:p xmlns:a="http://schemas.openxmlformats.org/drawingml/2006/main">
            <a:r>
              <a:t/>
            </a:r>
          </a:p>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The log transform compresses the tail and handles zero.</a:t>
            </a:r>
          </a:p>
        </p:txBody>
      </p:sp>
    </p:spTree>
    <p:extLst>
      <p:ext uri="{BB962C8B-B14F-4D97-AF65-F5344CB8AC3E}">
        <p14:creationId xmlns:p14="http://schemas.microsoft.com/office/powerpoint/2010/main" val="1786343740"/>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C06F31-03AC-4A32-933C-EDB4B3E24A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29 model inputs</a:t>
            </a:r>
          </a:p>
        </p:txBody>
      </p:sp>
      <p:sp>
        <p:nvSpPr>
          <p:cNvPr id="2" name="">
            <a:extLst xmlns:a="http://schemas.openxmlformats.org/drawingml/2006/main">
              <a:ext uri="{FF2B5EF4-FFF2-40B4-BE49-F238E27FC236}">
                <a16:creationId xmlns:a16="http://schemas.microsoft.com/office/drawing/2014/main" id="{DD518A38-34C0-4465-B59D-3297A67A4176}"/>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C4EDF01-B690-424E-A6D3-C876C01F64D6}"/>
              </a:ext>
            </a:extLst>
          </p:cNvPr>
          <p:cNvSpPr>
            <a:spLocks xmlns:a="http://schemas.openxmlformats.org/drawingml/2006/main" noGrp="1"/>
          </p:cNvSpPr>
          <p:nvPr/>
        </p:nvSpPr>
        <p:spPr>
          <a:xfrm xmlns:a="http://schemas.openxmlformats.org/drawingml/2006/main">
            <a:off x="685800" y="1695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00" b="0">
                <a:solidFill>
                  <a:srgbClr val="24668D"/>
                </a:solidFill>
                <a:latin typeface="Arial"/>
                <a:ea typeface="Arial"/>
                <a:cs typeface="Arial"/>
              </a:defRPr>
            </a:defPPr>
            <a:lvl1pPr>
              <a:defRPr sz="2700" b="0">
                <a:solidFill>
                  <a:srgbClr val="24668D"/>
                </a:solidFill>
                <a:latin typeface="Arial"/>
                <a:ea typeface="Arial"/>
                <a:cs typeface="Arial"/>
              </a:defRPr>
            </a:lvl1pPr>
            <a:lvl2pPr>
              <a:defRPr sz="2700" b="0">
                <a:solidFill>
                  <a:srgbClr val="24668D"/>
                </a:solidFill>
                <a:latin typeface="Arial"/>
                <a:ea typeface="Arial"/>
                <a:cs typeface="Arial"/>
              </a:defRPr>
            </a:lvl2pPr>
            <a:lvl3pPr>
              <a:defRPr sz="2700" b="0">
                <a:solidFill>
                  <a:srgbClr val="24668D"/>
                </a:solidFill>
                <a:latin typeface="Arial"/>
                <a:ea typeface="Arial"/>
                <a:cs typeface="Arial"/>
              </a:defRPr>
            </a:lvl3pPr>
            <a:lvl4pPr>
              <a:defRPr sz="2700" b="0">
                <a:solidFill>
                  <a:srgbClr val="24668D"/>
                </a:solidFill>
                <a:latin typeface="Arial"/>
                <a:ea typeface="Arial"/>
                <a:cs typeface="Arial"/>
              </a:defRPr>
            </a:lvl4pPr>
            <a:lvl5pPr>
              <a:defRPr sz="2700" b="0">
                <a:solidFill>
                  <a:srgbClr val="24668D"/>
                </a:solidFill>
                <a:latin typeface="Arial"/>
                <a:ea typeface="Arial"/>
                <a:cs typeface="Arial"/>
              </a:defRPr>
            </a:lvl5pPr>
            <a:lvl6pPr>
              <a:defRPr sz="2700" b="0">
                <a:solidFill>
                  <a:srgbClr val="24668D"/>
                </a:solidFill>
                <a:latin typeface="Arial"/>
                <a:ea typeface="Arial"/>
                <a:cs typeface="Arial"/>
              </a:defRPr>
            </a:lvl6pPr>
            <a:lvl7pPr>
              <a:defRPr sz="2700" b="0">
                <a:solidFill>
                  <a:srgbClr val="24668D"/>
                </a:solidFill>
                <a:latin typeface="Arial"/>
                <a:ea typeface="Arial"/>
                <a:cs typeface="Arial"/>
              </a:defRPr>
            </a:lvl7pPr>
            <a:lvl8pPr>
              <a:defRPr sz="2700" b="0">
                <a:solidFill>
                  <a:srgbClr val="24668D"/>
                </a:solidFill>
                <a:latin typeface="Arial"/>
                <a:ea typeface="Arial"/>
                <a:cs typeface="Arial"/>
              </a:defRPr>
            </a:lvl8pPr>
            <a:lvl9pPr>
              <a:defRPr sz="2700" b="0">
                <a:solidFill>
                  <a:srgbClr val="24668D"/>
                </a:solidFill>
                <a:latin typeface="Arial"/>
                <a:ea typeface="Arial"/>
                <a:cs typeface="Arial"/>
              </a:defRPr>
            </a:lvl9pPr>
          </a:lstStyle>
          <a:p xmlns:a="http://schemas.openxmlformats.org/drawingml/2006/main">
            <a:pPr>
              <a:defRPr sz="2700" b="0">
                <a:solidFill>
                  <a:srgbClr val="24668D"/>
                </a:solidFill>
                <a:latin typeface="Arial"/>
                <a:ea typeface="Arial"/>
                <a:cs typeface="Arial"/>
              </a:defRPr>
            </a:pPr>
            <a:r>
              <a:rPr sz="2700" b="0">
                <a:solidFill>
                  <a:srgbClr val="24668D"/>
                </a:solidFill>
                <a:latin typeface="Arial"/>
                <a:ea typeface="Arial"/>
                <a:cs typeface="Arial"/>
              </a:rPr>
              <a:t>V1-V28 plus LogAmount = log(1 + Amount)</a:t>
            </a:r>
          </a:p>
        </p:txBody>
      </p:sp>
      <p:sp>
        <p:nvSpPr>
          <p:cNvPr id="4" name="">
            <a:extLst xmlns:a="http://schemas.openxmlformats.org/drawingml/2006/main">
              <a:ext uri="{FF2B5EF4-FFF2-40B4-BE49-F238E27FC236}">
                <a16:creationId xmlns:a16="http://schemas.microsoft.com/office/drawing/2014/main" id="{7D782CE4-9932-4AF0-8A0D-38CCAC7D5150}"/>
              </a:ext>
            </a:extLst>
          </p:cNvPr>
          <p:cNvSpPr>
            <a:spLocks xmlns:a="http://schemas.openxmlformats.org/drawingml/2006/main" noGrp="1"/>
          </p:cNvSpPr>
          <p:nvPr/>
        </p:nvSpPr>
        <p:spPr>
          <a:xfrm xmlns:a="http://schemas.openxmlformats.org/drawingml/2006/main">
            <a:off x="685800" y="27336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Time orders the split. Class filters legitimate history and evaluates results.</a:t>
            </a:r>
          </a:p>
        </p:txBody>
      </p:sp>
      <p:sp>
        <p:nvSpPr>
          <p:cNvPr id="5" name="">
            <a:extLst xmlns:a="http://schemas.openxmlformats.org/drawingml/2006/main">
              <a:ext uri="{FF2B5EF4-FFF2-40B4-BE49-F238E27FC236}">
                <a16:creationId xmlns:a16="http://schemas.microsoft.com/office/drawing/2014/main" id="{3957BA05-8EF3-4230-BE71-F92F0BE137A6}"/>
              </a:ext>
            </a:extLst>
          </p:cNvPr>
          <p:cNvSpPr>
            <a:spLocks xmlns:a="http://schemas.openxmlformats.org/drawingml/2006/main" noGrp="1"/>
          </p:cNvSpPr>
          <p:nvPr/>
        </p:nvSpPr>
        <p:spPr>
          <a:xfrm xmlns:a="http://schemas.openxmlformats.org/drawingml/2006/main">
            <a:off x="685800" y="38100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z = (value - legitimate training mean) / legitimate training standard deviation</a:t>
            </a:r>
          </a:p>
        </p:txBody>
      </p:sp>
      <p:sp>
        <p:nvSpPr>
          <p:cNvPr id="6" name="">
            <a:extLst xmlns:a="http://schemas.openxmlformats.org/drawingml/2006/main">
              <a:ext uri="{FF2B5EF4-FFF2-40B4-BE49-F238E27FC236}">
                <a16:creationId xmlns:a16="http://schemas.microsoft.com/office/drawing/2014/main" id="{2C8568CA-058B-491E-BBA6-71E05616D9AA}"/>
              </a:ext>
            </a:extLst>
          </p:cNvPr>
          <p:cNvSpPr>
            <a:spLocks xmlns:a="http://schemas.openxmlformats.org/drawingml/2006/main" noGrp="1"/>
          </p:cNvSpPr>
          <p:nvPr/>
        </p:nvSpPr>
        <p:spPr>
          <a:xfrm xmlns:a="http://schemas.openxmlformats.org/drawingml/2006/main">
            <a:off x="685800" y="49530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Validation and test use these saved training values.</a:t>
            </a:r>
          </a:p>
        </p:txBody>
      </p:sp>
      <p:sp>
        <p:nvSpPr>
          <p:cNvPr id="7" name="">
            <a:extLst xmlns:a="http://schemas.openxmlformats.org/drawingml/2006/main">
              <a:ext uri="{FF2B5EF4-FFF2-40B4-BE49-F238E27FC236}">
                <a16:creationId xmlns:a16="http://schemas.microsoft.com/office/drawing/2014/main" id="{01D6ACE3-BB54-4E54-B636-E3D7E19D900E}"/>
              </a:ext>
            </a:extLst>
          </p:cNvPr>
          <p:cNvSpPr>
            <a:spLocks xmlns:a="http://schemas.openxmlformats.org/drawingml/2006/main" noGrp="1"/>
          </p:cNvSpPr>
          <p:nvPr/>
        </p:nvSpPr>
        <p:spPr>
          <a:xfrm xmlns:a="http://schemas.openxmlformats.org/drawingml/2006/main">
            <a:off x="685800" y="5686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4E6472"/>
                </a:solidFill>
                <a:latin typeface="Arial"/>
                <a:ea typeface="Arial"/>
                <a:cs typeface="Arial"/>
              </a:defRPr>
            </a:defPPr>
            <a:lvl1pPr>
              <a:defRPr sz="2025" b="0">
                <a:solidFill>
                  <a:srgbClr val="4E6472"/>
                </a:solidFill>
                <a:latin typeface="Arial"/>
                <a:ea typeface="Arial"/>
                <a:cs typeface="Arial"/>
              </a:defRPr>
            </a:lvl1pPr>
            <a:lvl2pPr>
              <a:defRPr sz="2025" b="0">
                <a:solidFill>
                  <a:srgbClr val="4E6472"/>
                </a:solidFill>
                <a:latin typeface="Arial"/>
                <a:ea typeface="Arial"/>
                <a:cs typeface="Arial"/>
              </a:defRPr>
            </a:lvl2pPr>
            <a:lvl3pPr>
              <a:defRPr sz="2025" b="0">
                <a:solidFill>
                  <a:srgbClr val="4E6472"/>
                </a:solidFill>
                <a:latin typeface="Arial"/>
                <a:ea typeface="Arial"/>
                <a:cs typeface="Arial"/>
              </a:defRPr>
            </a:lvl3pPr>
            <a:lvl4pPr>
              <a:defRPr sz="2025" b="0">
                <a:solidFill>
                  <a:srgbClr val="4E6472"/>
                </a:solidFill>
                <a:latin typeface="Arial"/>
                <a:ea typeface="Arial"/>
                <a:cs typeface="Arial"/>
              </a:defRPr>
            </a:lvl4pPr>
            <a:lvl5pPr>
              <a:defRPr sz="2025" b="0">
                <a:solidFill>
                  <a:srgbClr val="4E6472"/>
                </a:solidFill>
                <a:latin typeface="Arial"/>
                <a:ea typeface="Arial"/>
                <a:cs typeface="Arial"/>
              </a:defRPr>
            </a:lvl5pPr>
            <a:lvl6pPr>
              <a:defRPr sz="2025" b="0">
                <a:solidFill>
                  <a:srgbClr val="4E6472"/>
                </a:solidFill>
                <a:latin typeface="Arial"/>
                <a:ea typeface="Arial"/>
                <a:cs typeface="Arial"/>
              </a:defRPr>
            </a:lvl6pPr>
            <a:lvl7pPr>
              <a:defRPr sz="2025" b="0">
                <a:solidFill>
                  <a:srgbClr val="4E6472"/>
                </a:solidFill>
                <a:latin typeface="Arial"/>
                <a:ea typeface="Arial"/>
                <a:cs typeface="Arial"/>
              </a:defRPr>
            </a:lvl7pPr>
            <a:lvl8pPr>
              <a:defRPr sz="2025" b="0">
                <a:solidFill>
                  <a:srgbClr val="4E6472"/>
                </a:solidFill>
                <a:latin typeface="Arial"/>
                <a:ea typeface="Arial"/>
                <a:cs typeface="Arial"/>
              </a:defRPr>
            </a:lvl8pPr>
            <a:lvl9pPr>
              <a:defRPr sz="2025" b="0">
                <a:solidFill>
                  <a:srgbClr val="4E6472"/>
                </a:solidFill>
                <a:latin typeface="Arial"/>
                <a:ea typeface="Arial"/>
                <a:cs typeface="Arial"/>
              </a:defRPr>
            </a:lvl9pPr>
          </a:lstStyle>
          <a:p xmlns:a="http://schemas.openxmlformats.org/drawingml/2006/main">
            <a:pPr>
              <a:defRPr sz="2025" b="0">
                <a:solidFill>
                  <a:srgbClr val="4E6472"/>
                </a:solidFill>
                <a:latin typeface="Arial"/>
                <a:ea typeface="Arial"/>
                <a:cs typeface="Arial"/>
              </a:defRPr>
            </a:pPr>
            <a:r>
              <a:rPr sz="2025" b="0">
                <a:solidFill>
                  <a:srgbClr val="4E6472"/>
                </a:solidFill>
                <a:latin typeface="Arial"/>
                <a:ea typeface="Arial"/>
                <a:cs typeface="Arial"/>
              </a:rPr>
              <a:t>Class and Time never enter the model feature matrix.</a:t>
            </a:r>
          </a:p>
        </p:txBody>
      </p:sp>
    </p:spTree>
    <p:extLst>
      <p:ext uri="{BB962C8B-B14F-4D97-AF65-F5344CB8AC3E}">
        <p14:creationId xmlns:p14="http://schemas.microsoft.com/office/powerpoint/2010/main" val="266661202"/>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07E76A-1736-4AE1-B12D-F8D9D870884F}"/>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How the GMM learns</a:t>
            </a:r>
          </a:p>
        </p:txBody>
      </p:sp>
      <p:sp>
        <p:nvSpPr>
          <p:cNvPr id="2" name="">
            <a:extLst xmlns:a="http://schemas.openxmlformats.org/drawingml/2006/main">
              <a:ext uri="{FF2B5EF4-FFF2-40B4-BE49-F238E27FC236}">
                <a16:creationId xmlns:a16="http://schemas.microsoft.com/office/drawing/2014/main" id="{D273571F-8646-48E2-9FF7-5185857DF83E}"/>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429DB4C-B384-4554-AFB5-5447EFDE970E}"/>
              </a:ext>
            </a:extLst>
          </p:cNvPr>
          <p:cNvSpPr>
            <a:spLocks xmlns:a="http://schemas.openxmlformats.org/drawingml/2006/main" noGrp="1"/>
          </p:cNvSpPr>
          <p:nvPr/>
        </p:nvSpPr>
        <p:spPr>
          <a:xfrm xmlns:a="http://schemas.openxmlformats.org/drawingml/2006/main">
            <a:off x="685800" y="16192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0">
                <a:solidFill>
                  <a:srgbClr val="24668D"/>
                </a:solidFill>
                <a:latin typeface="Arial"/>
                <a:ea typeface="Arial"/>
                <a:cs typeface="Arial"/>
              </a:defRPr>
            </a:defPPr>
            <a:lvl1pPr>
              <a:defRPr sz="2625" b="0">
                <a:solidFill>
                  <a:srgbClr val="24668D"/>
                </a:solidFill>
                <a:latin typeface="Arial"/>
                <a:ea typeface="Arial"/>
                <a:cs typeface="Arial"/>
              </a:defRPr>
            </a:lvl1pPr>
            <a:lvl2pPr>
              <a:defRPr sz="2625" b="0">
                <a:solidFill>
                  <a:srgbClr val="24668D"/>
                </a:solidFill>
                <a:latin typeface="Arial"/>
                <a:ea typeface="Arial"/>
                <a:cs typeface="Arial"/>
              </a:defRPr>
            </a:lvl2pPr>
            <a:lvl3pPr>
              <a:defRPr sz="2625" b="0">
                <a:solidFill>
                  <a:srgbClr val="24668D"/>
                </a:solidFill>
                <a:latin typeface="Arial"/>
                <a:ea typeface="Arial"/>
                <a:cs typeface="Arial"/>
              </a:defRPr>
            </a:lvl3pPr>
            <a:lvl4pPr>
              <a:defRPr sz="2625" b="0">
                <a:solidFill>
                  <a:srgbClr val="24668D"/>
                </a:solidFill>
                <a:latin typeface="Arial"/>
                <a:ea typeface="Arial"/>
                <a:cs typeface="Arial"/>
              </a:defRPr>
            </a:lvl4pPr>
            <a:lvl5pPr>
              <a:defRPr sz="2625" b="0">
                <a:solidFill>
                  <a:srgbClr val="24668D"/>
                </a:solidFill>
                <a:latin typeface="Arial"/>
                <a:ea typeface="Arial"/>
                <a:cs typeface="Arial"/>
              </a:defRPr>
            </a:lvl5pPr>
            <a:lvl6pPr>
              <a:defRPr sz="2625" b="0">
                <a:solidFill>
                  <a:srgbClr val="24668D"/>
                </a:solidFill>
                <a:latin typeface="Arial"/>
                <a:ea typeface="Arial"/>
                <a:cs typeface="Arial"/>
              </a:defRPr>
            </a:lvl6pPr>
            <a:lvl7pPr>
              <a:defRPr sz="2625" b="0">
                <a:solidFill>
                  <a:srgbClr val="24668D"/>
                </a:solidFill>
                <a:latin typeface="Arial"/>
                <a:ea typeface="Arial"/>
                <a:cs typeface="Arial"/>
              </a:defRPr>
            </a:lvl7pPr>
            <a:lvl8pPr>
              <a:defRPr sz="2625" b="0">
                <a:solidFill>
                  <a:srgbClr val="24668D"/>
                </a:solidFill>
                <a:latin typeface="Arial"/>
                <a:ea typeface="Arial"/>
                <a:cs typeface="Arial"/>
              </a:defRPr>
            </a:lvl8pPr>
            <a:lvl9pPr>
              <a:defRPr sz="2625" b="0">
                <a:solidFill>
                  <a:srgbClr val="24668D"/>
                </a:solidFill>
                <a:latin typeface="Arial"/>
                <a:ea typeface="Arial"/>
                <a:cs typeface="Arial"/>
              </a:defRPr>
            </a:lvl9pPr>
          </a:lstStyle>
          <a:p xmlns:a="http://schemas.openxmlformats.org/drawingml/2006/main">
            <a:pPr>
              <a:defRPr sz="2625" b="0">
                <a:solidFill>
                  <a:srgbClr val="24668D"/>
                </a:solidFill>
                <a:latin typeface="Arial"/>
                <a:ea typeface="Arial"/>
                <a:cs typeface="Arial"/>
              </a:defRPr>
            </a:pPr>
            <a:r>
              <a:rPr sz="2625" b="0">
                <a:solidFill>
                  <a:srgbClr val="24668D"/>
                </a:solidFill>
                <a:latin typeface="Arial"/>
                <a:ea typeface="Arial"/>
                <a:cs typeface="Arial"/>
              </a:rPr>
              <a:t>p(x) = sum of [component weight x Gaussian density]</a:t>
            </a:r>
          </a:p>
        </p:txBody>
      </p:sp>
      <p:sp>
        <p:nvSpPr>
          <p:cNvPr id="4" name="">
            <a:extLst xmlns:a="http://schemas.openxmlformats.org/drawingml/2006/main">
              <a:ext uri="{FF2B5EF4-FFF2-40B4-BE49-F238E27FC236}">
                <a16:creationId xmlns:a16="http://schemas.microsoft.com/office/drawing/2014/main" id="{2DFF6E96-F2DE-441E-9855-885F6185E1E4}"/>
              </a:ext>
            </a:extLst>
          </p:cNvPr>
          <p:cNvSpPr>
            <a:spLocks xmlns:a="http://schemas.openxmlformats.org/drawingml/2006/main" noGrp="1"/>
          </p:cNvSpPr>
          <p:nvPr/>
        </p:nvSpPr>
        <p:spPr>
          <a:xfrm xmlns:a="http://schemas.openxmlformats.org/drawingml/2006/main">
            <a:off x="685800" y="26479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E-step: estimate soft membership in each Gaussian.</a:t>
            </a:r>
          </a:p>
        </p:txBody>
      </p:sp>
      <p:sp>
        <p:nvSpPr>
          <p:cNvPr id="5" name="">
            <a:extLst xmlns:a="http://schemas.openxmlformats.org/drawingml/2006/main">
              <a:ext uri="{FF2B5EF4-FFF2-40B4-BE49-F238E27FC236}">
                <a16:creationId xmlns:a16="http://schemas.microsoft.com/office/drawing/2014/main" id="{0987E95C-2894-4EE9-B3EF-70746CC2FAF0}"/>
              </a:ext>
            </a:extLst>
          </p:cNvPr>
          <p:cNvSpPr>
            <a:spLocks xmlns:a="http://schemas.openxmlformats.org/drawingml/2006/main" noGrp="1"/>
          </p:cNvSpPr>
          <p:nvPr/>
        </p:nvSpPr>
        <p:spPr>
          <a:xfrm xmlns:a="http://schemas.openxmlformats.org/drawingml/2006/main">
            <a:off x="685800" y="35814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M-step: update weights, centers and diagonal variances.</a:t>
            </a:r>
          </a:p>
        </p:txBody>
      </p:sp>
      <p:sp>
        <p:nvSpPr>
          <p:cNvPr id="6" name="">
            <a:extLst xmlns:a="http://schemas.openxmlformats.org/drawingml/2006/main">
              <a:ext uri="{FF2B5EF4-FFF2-40B4-BE49-F238E27FC236}">
                <a16:creationId xmlns:a16="http://schemas.microsoft.com/office/drawing/2014/main" id="{8BE64197-4218-4790-9404-C0C484B17057}"/>
              </a:ext>
            </a:extLst>
          </p:cNvPr>
          <p:cNvSpPr>
            <a:spLocks xmlns:a="http://schemas.openxmlformats.org/drawingml/2006/main" noGrp="1"/>
          </p:cNvSpPr>
          <p:nvPr/>
        </p:nvSpPr>
        <p:spPr>
          <a:xfrm xmlns:a="http://schemas.openxmlformats.org/drawingml/2006/main">
            <a:off x="685800" y="4619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Three starts. Seed 42. Up to 200 iterations. Small variance regularization.</a:t>
            </a:r>
          </a:p>
        </p:txBody>
      </p:sp>
      <p:sp>
        <p:nvSpPr>
          <p:cNvPr id="7" name="">
            <a:extLst xmlns:a="http://schemas.openxmlformats.org/drawingml/2006/main">
              <a:ext uri="{FF2B5EF4-FFF2-40B4-BE49-F238E27FC236}">
                <a16:creationId xmlns:a16="http://schemas.microsoft.com/office/drawing/2014/main" id="{411D896D-0A8B-4628-BD39-A6F711EA3D72}"/>
              </a:ext>
            </a:extLst>
          </p:cNvPr>
          <p:cNvSpPr>
            <a:spLocks xmlns:a="http://schemas.openxmlformats.org/drawingml/2006/main" noGrp="1"/>
          </p:cNvSpPr>
          <p:nvPr/>
        </p:nvSpPr>
        <p:spPr>
          <a:xfrm xmlns:a="http://schemas.openxmlformats.org/drawingml/2006/main">
            <a:off x="685800" y="5562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4E6472"/>
                </a:solidFill>
                <a:latin typeface="Arial"/>
                <a:ea typeface="Arial"/>
                <a:cs typeface="Arial"/>
              </a:defRPr>
            </a:defPPr>
            <a:lvl1pPr>
              <a:defRPr sz="2025" b="0">
                <a:solidFill>
                  <a:srgbClr val="4E6472"/>
                </a:solidFill>
                <a:latin typeface="Arial"/>
                <a:ea typeface="Arial"/>
                <a:cs typeface="Arial"/>
              </a:defRPr>
            </a:lvl1pPr>
            <a:lvl2pPr>
              <a:defRPr sz="2025" b="0">
                <a:solidFill>
                  <a:srgbClr val="4E6472"/>
                </a:solidFill>
                <a:latin typeface="Arial"/>
                <a:ea typeface="Arial"/>
                <a:cs typeface="Arial"/>
              </a:defRPr>
            </a:lvl2pPr>
            <a:lvl3pPr>
              <a:defRPr sz="2025" b="0">
                <a:solidFill>
                  <a:srgbClr val="4E6472"/>
                </a:solidFill>
                <a:latin typeface="Arial"/>
                <a:ea typeface="Arial"/>
                <a:cs typeface="Arial"/>
              </a:defRPr>
            </a:lvl3pPr>
            <a:lvl4pPr>
              <a:defRPr sz="2025" b="0">
                <a:solidFill>
                  <a:srgbClr val="4E6472"/>
                </a:solidFill>
                <a:latin typeface="Arial"/>
                <a:ea typeface="Arial"/>
                <a:cs typeface="Arial"/>
              </a:defRPr>
            </a:lvl4pPr>
            <a:lvl5pPr>
              <a:defRPr sz="2025" b="0">
                <a:solidFill>
                  <a:srgbClr val="4E6472"/>
                </a:solidFill>
                <a:latin typeface="Arial"/>
                <a:ea typeface="Arial"/>
                <a:cs typeface="Arial"/>
              </a:defRPr>
            </a:lvl5pPr>
            <a:lvl6pPr>
              <a:defRPr sz="2025" b="0">
                <a:solidFill>
                  <a:srgbClr val="4E6472"/>
                </a:solidFill>
                <a:latin typeface="Arial"/>
                <a:ea typeface="Arial"/>
                <a:cs typeface="Arial"/>
              </a:defRPr>
            </a:lvl6pPr>
            <a:lvl7pPr>
              <a:defRPr sz="2025" b="0">
                <a:solidFill>
                  <a:srgbClr val="4E6472"/>
                </a:solidFill>
                <a:latin typeface="Arial"/>
                <a:ea typeface="Arial"/>
                <a:cs typeface="Arial"/>
              </a:defRPr>
            </a:lvl7pPr>
            <a:lvl8pPr>
              <a:defRPr sz="2025" b="0">
                <a:solidFill>
                  <a:srgbClr val="4E6472"/>
                </a:solidFill>
                <a:latin typeface="Arial"/>
                <a:ea typeface="Arial"/>
                <a:cs typeface="Arial"/>
              </a:defRPr>
            </a:lvl8pPr>
            <a:lvl9pPr>
              <a:defRPr sz="2025" b="0">
                <a:solidFill>
                  <a:srgbClr val="4E6472"/>
                </a:solidFill>
                <a:latin typeface="Arial"/>
                <a:ea typeface="Arial"/>
                <a:cs typeface="Arial"/>
              </a:defRPr>
            </a:lvl9pPr>
          </a:lstStyle>
          <a:p xmlns:a="http://schemas.openxmlformats.org/drawingml/2006/main">
            <a:pPr>
              <a:defRPr sz="2025" b="0">
                <a:solidFill>
                  <a:srgbClr val="4E6472"/>
                </a:solidFill>
                <a:latin typeface="Arial"/>
                <a:ea typeface="Arial"/>
                <a:cs typeface="Arial"/>
              </a:defRPr>
            </a:pPr>
            <a:r>
              <a:rPr sz="2025" b="0">
                <a:solidFill>
                  <a:srgbClr val="4E6472"/>
                </a:solidFill>
                <a:latin typeface="Arial"/>
                <a:ea typeface="Arial"/>
                <a:cs typeface="Arial"/>
              </a:rPr>
              <a:t>Anomaly score = -log p(x). Larger means less typical of legitimate activity.</a:t>
            </a:r>
          </a:p>
        </p:txBody>
      </p:sp>
    </p:spTree>
    <p:extLst>
      <p:ext uri="{BB962C8B-B14F-4D97-AF65-F5344CB8AC3E}">
        <p14:creationId xmlns:p14="http://schemas.microsoft.com/office/powerpoint/2010/main" val="534056436"/>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2BAE53-19EB-4DBA-A1E6-8E33D48E65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Component selection</a:t>
            </a:r>
          </a:p>
        </p:txBody>
      </p:sp>
      <p:sp>
        <p:nvSpPr>
          <p:cNvPr id="2" name="">
            <a:extLst xmlns:a="http://schemas.openxmlformats.org/drawingml/2006/main">
              <a:ext uri="{FF2B5EF4-FFF2-40B4-BE49-F238E27FC236}">
                <a16:creationId xmlns:a16="http://schemas.microsoft.com/office/drawing/2014/main" id="{F8DC8507-C193-46C6-9AE3-2882A9B42BE3}"/>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09</a:t>
            </a:r>
          </a:p>
        </p:txBody>
      </p:sp>
      <p:graphicFrame>
        <p:nvGraphicFramePr>
          <p:cNvPr id="3" name="Chart">
            <a:extLst xmlns:a="http://schemas.openxmlformats.org/drawingml/2006/main">
              <a:ext uri="{FF2B5EF4-FFF2-40B4-BE49-F238E27FC236}">
                <a16:creationId xmlns:a16="http://schemas.microsoft.com/office/drawing/2014/main" id="{8583EF04-3CC1-4779-B155-460CA2CDDE78}"/>
              </a:ext>
            </a:extLst>
          </p:cNvPr>
          <p:cNvGraphicFramePr/>
          <p:nvPr/>
        </p:nvGraphicFramePr>
        <p:xfrm>
          <a:off xmlns:a="http://schemas.openxmlformats.org/drawingml/2006/main" x="628650" y="1524000"/>
          <a:ext xmlns:a="http://schemas.openxmlformats.org/drawingml/2006/main" cx="7429500" cy="4191000"/>
        </p:xfrm>
        <a:graphic xmlns:a="http://schemas.openxmlformats.org/drawingml/2006/main">
          <a:graphicData uri="http://schemas.openxmlformats.org/drawingml/2006/chart">
            <c:chart xmlns:r="http://schemas.openxmlformats.org/officeDocument/2006/relationships" xmlns:c="http://schemas.openxmlformats.org/drawingml/2006/chart" r:id="Racc9137c6f224464"/>
          </a:graphicData>
        </a:graphic>
      </p:graphicFrame>
      <p:sp>
        <p:nvSpPr>
          <p:cNvPr id="4" name="">
            <a:extLst xmlns:a="http://schemas.openxmlformats.org/drawingml/2006/main">
              <a:ext uri="{FF2B5EF4-FFF2-40B4-BE49-F238E27FC236}">
                <a16:creationId xmlns:a16="http://schemas.microsoft.com/office/drawing/2014/main" id="{B6BB2882-37D8-4349-A239-6031590538BB}"/>
              </a:ext>
            </a:extLst>
          </p:cNvPr>
          <p:cNvSpPr>
            <a:spLocks xmlns:a="http://schemas.openxmlformats.org/drawingml/2006/main" noGrp="1"/>
          </p:cNvSpPr>
          <p:nvPr/>
        </p:nvSpPr>
        <p:spPr>
          <a:xfrm xmlns:a="http://schemas.openxmlformats.org/drawingml/2006/main">
            <a:off x="8477250" y="2000250"/>
            <a:ext cx="2952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K = 8 wins in our grid.</a:t>
            </a:r>
          </a:p>
          <a:p xmlns:a="http://schemas.openxmlformats.org/drawingml/2006/main">
            <a:r>
              <a:t/>
            </a:r>
          </a:p>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All candidates converge.</a:t>
            </a:r>
          </a:p>
          <a:p xmlns:a="http://schemas.openxmlformats.org/drawingml/2006/main">
            <a:r>
              <a:t/>
            </a:r>
          </a:p>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Eight is the largest value tested.</a:t>
            </a:r>
          </a:p>
        </p:txBody>
      </p:sp>
    </p:spTree>
    <p:extLst>
      <p:ext uri="{BB962C8B-B14F-4D97-AF65-F5344CB8AC3E}">
        <p14:creationId xmlns:p14="http://schemas.microsoft.com/office/powerpoint/2010/main" val="277107713"/>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2ACFD9-6E99-4EA8-BE5D-7F84A21545F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Final test ranking</a:t>
            </a:r>
          </a:p>
        </p:txBody>
      </p:sp>
      <p:sp>
        <p:nvSpPr>
          <p:cNvPr id="2" name="">
            <a:extLst xmlns:a="http://schemas.openxmlformats.org/drawingml/2006/main">
              <a:ext uri="{FF2B5EF4-FFF2-40B4-BE49-F238E27FC236}">
                <a16:creationId xmlns:a16="http://schemas.microsoft.com/office/drawing/2014/main" id="{2C93B505-0307-4D97-9340-C0CA580E9823}"/>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DB072D32-622F-44E6-9DB6-3B97280BD184}"/>
              </a:ext>
            </a:extLst>
          </p:cNvPr>
          <p:cNvGraphicFramePr/>
          <p:nvPr/>
        </p:nvGraphicFramePr>
        <p:xfrm>
          <a:off xmlns:a="http://schemas.openxmlformats.org/drawingml/2006/main" x="628650" y="1524000"/>
          <a:ext xmlns:a="http://schemas.openxmlformats.org/drawingml/2006/main" cx="7429500" cy="4191000"/>
        </p:xfrm>
        <a:graphic xmlns:a="http://schemas.openxmlformats.org/drawingml/2006/main">
          <a:graphicData uri="http://schemas.openxmlformats.org/drawingml/2006/chart">
            <c:chart xmlns:r="http://schemas.openxmlformats.org/officeDocument/2006/relationships" xmlns:c="http://schemas.openxmlformats.org/drawingml/2006/chart" r:id="R8fd106fcacea445a"/>
          </a:graphicData>
        </a:graphic>
      </p:graphicFrame>
      <p:sp>
        <p:nvSpPr>
          <p:cNvPr id="4" name="">
            <a:extLst xmlns:a="http://schemas.openxmlformats.org/drawingml/2006/main">
              <a:ext uri="{FF2B5EF4-FFF2-40B4-BE49-F238E27FC236}">
                <a16:creationId xmlns:a16="http://schemas.microsoft.com/office/drawing/2014/main" id="{6F7EC71A-2E08-4557-A83E-E20CF7301024}"/>
              </a:ext>
            </a:extLst>
          </p:cNvPr>
          <p:cNvSpPr>
            <a:spLocks xmlns:a="http://schemas.openxmlformats.org/drawingml/2006/main" noGrp="1"/>
          </p:cNvSpPr>
          <p:nvPr/>
        </p:nvSpPr>
        <p:spPr>
          <a:xfrm xmlns:a="http://schemas.openxmlformats.org/drawingml/2006/main">
            <a:off x="8477250" y="1924050"/>
            <a:ext cx="2952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Average precision</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GMM: 0.1532</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One Gaussian: 0.0540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 AUC: 0.1496</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Test fraud: 0.1304%</a:t>
            </a:r>
          </a:p>
        </p:txBody>
      </p:sp>
    </p:spTree>
    <p:extLst>
      <p:ext uri="{BB962C8B-B14F-4D97-AF65-F5344CB8AC3E}">
        <p14:creationId xmlns:p14="http://schemas.microsoft.com/office/powerpoint/2010/main" val="974871914"/>
      </p:ext>
    </p:extLst>
  </p:cSld>
</p:sld>
</file>

<file path=ppt/slides/slide1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1710A2-FB18-4C67-9409-7EA686144A8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Validation policies on the test period</a:t>
            </a:r>
          </a:p>
        </p:txBody>
      </p:sp>
      <p:sp>
        <p:nvSpPr>
          <p:cNvPr id="2" name="">
            <a:extLst xmlns:a="http://schemas.openxmlformats.org/drawingml/2006/main">
              <a:ext uri="{FF2B5EF4-FFF2-40B4-BE49-F238E27FC236}">
                <a16:creationId xmlns:a16="http://schemas.microsoft.com/office/drawing/2014/main" id="{813C44D4-181D-4837-95CD-BD2FC8301CD9}"/>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C79E3FC4-3258-48A7-8982-BD95020CB60D}"/>
              </a:ext>
            </a:extLst>
          </p:cNvPr>
          <p:cNvGraphicFramePr/>
          <p:nvPr/>
        </p:nvGraphicFramePr>
        <p:xfrm>
          <a:off xmlns:a="http://schemas.openxmlformats.org/drawingml/2006/main" x="685800" y="1619250"/>
          <a:ext xmlns:a="http://schemas.openxmlformats.org/drawingml/2006/main" cx="10668000" cy="2857500"/>
        </p:xfrm>
        <a:graphic xmlns:a="http://schemas.openxmlformats.org/drawingml/2006/main">
          <a:graphicData uri="http://schemas.openxmlformats.org/drawingml/2006/table">
            <a:tbl>
              <a:tblPr/>
              <a:tblGrid>
                <a:gridCol w="3095625"/>
                <a:gridCol w="2809875"/>
                <a:gridCol w="2286000"/>
                <a:gridCol w="2476500"/>
              </a:tblGrid>
              <a:tr h="714375">
                <a:tc>
                  <a:txBody>
                    <a:bodyPr/>
                    <a:lstStyle/>
                    <a:p>
                      <a:r>
                        <a:rPr sz="1875" b="1">
                          <a:solidFill>
                            <a:srgbClr val="FFFFFF"/>
                          </a:solidFill>
                          <a:latin typeface="Arial"/>
                          <a:ea typeface="Arial"/>
                          <a:cs typeface="Arial"/>
                        </a:rPr>
                        <a:t>Validation budget</a:t>
                      </a:r>
                    </a:p>
                  </a:txBody>
                  <a:tcPr marL="133350" marR="114300" marT="114300" marB="114300" anchor="ctr">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Fraud found / 74</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False alerts</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1875" b="1">
                          <a:solidFill>
                            <a:srgbClr val="FFFFFF"/>
                          </a:solidFill>
                          <a:latin typeface="Arial"/>
                          <a:ea typeface="Arial"/>
                          <a:cs typeface="Arial"/>
                        </a:rPr>
                        <a:t>Test FPR</a:t>
                      </a:r>
                    </a:p>
                  </a:txBody>
                  <a:tcPr marL="133350" marR="114300" marT="114300" marB="114300" anchor="ctr">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714375">
                <a:tc>
                  <a:txBody>
                    <a:bodyPr/>
                    <a:lstStyle/>
                    <a:p>
                      <a:r>
                        <a:rPr sz="1875">
                          <a:solidFill>
                            <a:srgbClr val="173447"/>
                          </a:solidFill>
                          <a:latin typeface="Arial"/>
                          <a:ea typeface="Arial"/>
                          <a:cs typeface="Arial"/>
                        </a:rPr>
                        <a:t>0.1%</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6</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39</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0.0688%</a:t>
                      </a:r>
                    </a:p>
                  </a:txBody>
                  <a:tcPr marL="133350" marR="114300" marT="114300" marB="114300" anchor="ctr">
                    <a:lnR w="9525">
                      <a:solidFill>
                        <a:srgbClr val="DDE3E7"/>
                      </a:solidFill>
                      <a:prstDash val="solid"/>
                    </a:lnR>
                    <a:lnB w="9525">
                      <a:solidFill>
                        <a:srgbClr val="DDE3E7"/>
                      </a:solidFill>
                      <a:prstDash val="solid"/>
                    </a:lnB>
                  </a:tcPr>
                </a:tc>
              </a:tr>
              <a:tr h="714375">
                <a:tc>
                  <a:txBody>
                    <a:bodyPr/>
                    <a:lstStyle/>
                    <a:p>
                      <a:r>
                        <a:rPr sz="1875">
                          <a:solidFill>
                            <a:srgbClr val="173447"/>
                          </a:solidFill>
                          <a:latin typeface="Arial"/>
                          <a:ea typeface="Arial"/>
                          <a:cs typeface="Arial"/>
                        </a:rPr>
                        <a:t>0.5%</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37</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172</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0.3035%</a:t>
                      </a:r>
                    </a:p>
                  </a:txBody>
                  <a:tcPr marL="133350" marR="114300" marT="114300" marB="114300" anchor="ctr">
                    <a:lnR w="9525">
                      <a:solidFill>
                        <a:srgbClr val="DDE3E7"/>
                      </a:solidFill>
                      <a:prstDash val="solid"/>
                    </a:lnR>
                    <a:lnB w="9525">
                      <a:solidFill>
                        <a:srgbClr val="DDE3E7"/>
                      </a:solidFill>
                      <a:prstDash val="solid"/>
                    </a:lnB>
                  </a:tcPr>
                </a:tc>
              </a:tr>
              <a:tr h="714375">
                <a:tc>
                  <a:txBody>
                    <a:bodyPr/>
                    <a:lstStyle/>
                    <a:p>
                      <a:r>
                        <a:rPr sz="1875">
                          <a:solidFill>
                            <a:srgbClr val="173447"/>
                          </a:solidFill>
                          <a:latin typeface="Arial"/>
                          <a:ea typeface="Arial"/>
                          <a:cs typeface="Arial"/>
                        </a:rPr>
                        <a:t>1.0%</a:t>
                      </a:r>
                    </a:p>
                  </a:txBody>
                  <a:tcPr marL="133350" marR="114300" marT="114300" marB="114300" anchor="ctr">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52</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381</a:t>
                      </a:r>
                    </a:p>
                  </a:txBody>
                  <a:tcPr marL="133350" marR="114300" marT="114300" marB="114300" anchor="ctr">
                    <a:lnR w="9525">
                      <a:solidFill>
                        <a:srgbClr val="DDE3E7"/>
                      </a:solidFill>
                      <a:prstDash val="solid"/>
                    </a:lnR>
                    <a:lnB w="9525">
                      <a:solidFill>
                        <a:srgbClr val="DDE3E7"/>
                      </a:solidFill>
                      <a:prstDash val="solid"/>
                    </a:lnB>
                  </a:tcPr>
                </a:tc>
                <a:tc>
                  <a:txBody>
                    <a:bodyPr/>
                    <a:lstStyle/>
                    <a:p>
                      <a:r>
                        <a:rPr sz="1875">
                          <a:solidFill>
                            <a:srgbClr val="173447"/>
                          </a:solidFill>
                          <a:latin typeface="Arial"/>
                          <a:ea typeface="Arial"/>
                          <a:cs typeface="Arial"/>
                        </a:rPr>
                        <a:t>0.6723%</a:t>
                      </a:r>
                    </a:p>
                  </a:txBody>
                  <a:tcPr marL="133350" marR="114300" marT="114300" marB="114300" anchor="ctr">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09EDFA1E-48D8-4CAA-BDA4-10455B07EB99}"/>
              </a:ext>
            </a:extLst>
          </p:cNvPr>
          <p:cNvSpPr>
            <a:spLocks xmlns:a="http://schemas.openxmlformats.org/drawingml/2006/main" noGrp="1"/>
          </p:cNvSpPr>
          <p:nvPr/>
        </p:nvSpPr>
        <p:spPr>
          <a:xfrm xmlns:a="http://schemas.openxmlformats.org/drawingml/2006/main">
            <a:off x="685800" y="48863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24668D"/>
                </a:solidFill>
                <a:latin typeface="Arial"/>
                <a:ea typeface="Arial"/>
                <a:cs typeface="Arial"/>
              </a:defRPr>
            </a:defPPr>
            <a:lvl1pPr>
              <a:defRPr sz="2175" b="0">
                <a:solidFill>
                  <a:srgbClr val="24668D"/>
                </a:solidFill>
                <a:latin typeface="Arial"/>
                <a:ea typeface="Arial"/>
                <a:cs typeface="Arial"/>
              </a:defRPr>
            </a:lvl1pPr>
            <a:lvl2pPr>
              <a:defRPr sz="2175" b="0">
                <a:solidFill>
                  <a:srgbClr val="24668D"/>
                </a:solidFill>
                <a:latin typeface="Arial"/>
                <a:ea typeface="Arial"/>
                <a:cs typeface="Arial"/>
              </a:defRPr>
            </a:lvl2pPr>
            <a:lvl3pPr>
              <a:defRPr sz="2175" b="0">
                <a:solidFill>
                  <a:srgbClr val="24668D"/>
                </a:solidFill>
                <a:latin typeface="Arial"/>
                <a:ea typeface="Arial"/>
                <a:cs typeface="Arial"/>
              </a:defRPr>
            </a:lvl3pPr>
            <a:lvl4pPr>
              <a:defRPr sz="2175" b="0">
                <a:solidFill>
                  <a:srgbClr val="24668D"/>
                </a:solidFill>
                <a:latin typeface="Arial"/>
                <a:ea typeface="Arial"/>
                <a:cs typeface="Arial"/>
              </a:defRPr>
            </a:lvl4pPr>
            <a:lvl5pPr>
              <a:defRPr sz="2175" b="0">
                <a:solidFill>
                  <a:srgbClr val="24668D"/>
                </a:solidFill>
                <a:latin typeface="Arial"/>
                <a:ea typeface="Arial"/>
                <a:cs typeface="Arial"/>
              </a:defRPr>
            </a:lvl5pPr>
            <a:lvl6pPr>
              <a:defRPr sz="2175" b="0">
                <a:solidFill>
                  <a:srgbClr val="24668D"/>
                </a:solidFill>
                <a:latin typeface="Arial"/>
                <a:ea typeface="Arial"/>
                <a:cs typeface="Arial"/>
              </a:defRPr>
            </a:lvl6pPr>
            <a:lvl7pPr>
              <a:defRPr sz="2175" b="0">
                <a:solidFill>
                  <a:srgbClr val="24668D"/>
                </a:solidFill>
                <a:latin typeface="Arial"/>
                <a:ea typeface="Arial"/>
                <a:cs typeface="Arial"/>
              </a:defRPr>
            </a:lvl7pPr>
            <a:lvl8pPr>
              <a:defRPr sz="2175" b="0">
                <a:solidFill>
                  <a:srgbClr val="24668D"/>
                </a:solidFill>
                <a:latin typeface="Arial"/>
                <a:ea typeface="Arial"/>
                <a:cs typeface="Arial"/>
              </a:defRPr>
            </a:lvl8pPr>
            <a:lvl9pPr>
              <a:defRPr sz="2175" b="0">
                <a:solidFill>
                  <a:srgbClr val="24668D"/>
                </a:solidFill>
                <a:latin typeface="Arial"/>
                <a:ea typeface="Arial"/>
                <a:cs typeface="Arial"/>
              </a:defRPr>
            </a:lvl9pPr>
          </a:lstStyle>
          <a:p xmlns:a="http://schemas.openxmlformats.org/drawingml/2006/main">
            <a:pPr>
              <a:defRPr sz="2175" b="0">
                <a:solidFill>
                  <a:srgbClr val="24668D"/>
                </a:solidFill>
                <a:latin typeface="Arial"/>
                <a:ea typeface="Arial"/>
                <a:cs typeface="Arial"/>
              </a:defRPr>
            </a:pPr>
            <a:r>
              <a:rPr sz="2175" b="0">
                <a:solidFill>
                  <a:srgbClr val="24668D"/>
                </a:solidFill>
                <a:latin typeface="Arial"/>
                <a:ea typeface="Arial"/>
                <a:cs typeface="Arial"/>
              </a:rPr>
              <a:t>Default 0.5% policy: threshold 75.8942, with score &gt; threshold.</a:t>
            </a:r>
          </a:p>
        </p:txBody>
      </p:sp>
      <p:sp>
        <p:nvSpPr>
          <p:cNvPr id="5" name="">
            <a:extLst xmlns:a="http://schemas.openxmlformats.org/drawingml/2006/main">
              <a:ext uri="{FF2B5EF4-FFF2-40B4-BE49-F238E27FC236}">
                <a16:creationId xmlns:a16="http://schemas.microsoft.com/office/drawing/2014/main" id="{925426C5-C2F8-4C89-A35B-F047C7D9511F}"/>
              </a:ext>
            </a:extLst>
          </p:cNvPr>
          <p:cNvSpPr>
            <a:spLocks xmlns:a="http://schemas.openxmlformats.org/drawingml/2006/main" noGrp="1"/>
          </p:cNvSpPr>
          <p:nvPr/>
        </p:nvSpPr>
        <p:spPr>
          <a:xfrm xmlns:a="http://schemas.openxmlformats.org/drawingml/2006/main">
            <a:off x="685800" y="56769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4E6472"/>
                </a:solidFill>
                <a:latin typeface="Arial"/>
                <a:ea typeface="Arial"/>
                <a:cs typeface="Arial"/>
              </a:defRPr>
            </a:defPPr>
            <a:lvl1pPr>
              <a:defRPr sz="2025" b="0">
                <a:solidFill>
                  <a:srgbClr val="4E6472"/>
                </a:solidFill>
                <a:latin typeface="Arial"/>
                <a:ea typeface="Arial"/>
                <a:cs typeface="Arial"/>
              </a:defRPr>
            </a:lvl1pPr>
            <a:lvl2pPr>
              <a:defRPr sz="2025" b="0">
                <a:solidFill>
                  <a:srgbClr val="4E6472"/>
                </a:solidFill>
                <a:latin typeface="Arial"/>
                <a:ea typeface="Arial"/>
                <a:cs typeface="Arial"/>
              </a:defRPr>
            </a:lvl2pPr>
            <a:lvl3pPr>
              <a:defRPr sz="2025" b="0">
                <a:solidFill>
                  <a:srgbClr val="4E6472"/>
                </a:solidFill>
                <a:latin typeface="Arial"/>
                <a:ea typeface="Arial"/>
                <a:cs typeface="Arial"/>
              </a:defRPr>
            </a:lvl3pPr>
            <a:lvl4pPr>
              <a:defRPr sz="2025" b="0">
                <a:solidFill>
                  <a:srgbClr val="4E6472"/>
                </a:solidFill>
                <a:latin typeface="Arial"/>
                <a:ea typeface="Arial"/>
                <a:cs typeface="Arial"/>
              </a:defRPr>
            </a:lvl4pPr>
            <a:lvl5pPr>
              <a:defRPr sz="2025" b="0">
                <a:solidFill>
                  <a:srgbClr val="4E6472"/>
                </a:solidFill>
                <a:latin typeface="Arial"/>
                <a:ea typeface="Arial"/>
                <a:cs typeface="Arial"/>
              </a:defRPr>
            </a:lvl5pPr>
            <a:lvl6pPr>
              <a:defRPr sz="2025" b="0">
                <a:solidFill>
                  <a:srgbClr val="4E6472"/>
                </a:solidFill>
                <a:latin typeface="Arial"/>
                <a:ea typeface="Arial"/>
                <a:cs typeface="Arial"/>
              </a:defRPr>
            </a:lvl6pPr>
            <a:lvl7pPr>
              <a:defRPr sz="2025" b="0">
                <a:solidFill>
                  <a:srgbClr val="4E6472"/>
                </a:solidFill>
                <a:latin typeface="Arial"/>
                <a:ea typeface="Arial"/>
                <a:cs typeface="Arial"/>
              </a:defRPr>
            </a:lvl7pPr>
            <a:lvl8pPr>
              <a:defRPr sz="2025" b="0">
                <a:solidFill>
                  <a:srgbClr val="4E6472"/>
                </a:solidFill>
                <a:latin typeface="Arial"/>
                <a:ea typeface="Arial"/>
                <a:cs typeface="Arial"/>
              </a:defRPr>
            </a:lvl8pPr>
            <a:lvl9pPr>
              <a:defRPr sz="2025" b="0">
                <a:solidFill>
                  <a:srgbClr val="4E6472"/>
                </a:solidFill>
                <a:latin typeface="Arial"/>
                <a:ea typeface="Arial"/>
                <a:cs typeface="Arial"/>
              </a:defRPr>
            </a:lvl9pPr>
          </a:lstStyle>
          <a:p xmlns:a="http://schemas.openxmlformats.org/drawingml/2006/main">
            <a:pPr>
              <a:defRPr sz="2025" b="0">
                <a:solidFill>
                  <a:srgbClr val="4E6472"/>
                </a:solidFill>
                <a:latin typeface="Arial"/>
                <a:ea typeface="Arial"/>
                <a:cs typeface="Arial"/>
              </a:defRPr>
            </a:pPr>
            <a:r>
              <a:rPr sz="2025" b="0">
                <a:solidFill>
                  <a:srgbClr val="4E6472"/>
                </a:solidFill>
                <a:latin typeface="Arial"/>
                <a:ea typeface="Arial"/>
                <a:cs typeface="Arial"/>
              </a:rPr>
              <a:t>A validation budget may give a different false-positive rate later.</a:t>
            </a:r>
          </a:p>
        </p:txBody>
      </p:sp>
    </p:spTree>
    <p:extLst>
      <p:ext uri="{BB962C8B-B14F-4D97-AF65-F5344CB8AC3E}">
        <p14:creationId xmlns:p14="http://schemas.microsoft.com/office/powerpoint/2010/main" val="1918321328"/>
      </p:ext>
    </p:extLst>
  </p:cSld>
</p:sld>
</file>

<file path=ppt/slides/slide1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60B1BA-B6F2-4B16-BA7D-4A694E7DBDA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default review workload</a:t>
            </a:r>
          </a:p>
        </p:txBody>
      </p:sp>
      <p:sp>
        <p:nvSpPr>
          <p:cNvPr id="2" name="">
            <a:extLst xmlns:a="http://schemas.openxmlformats.org/drawingml/2006/main">
              <a:ext uri="{FF2B5EF4-FFF2-40B4-BE49-F238E27FC236}">
                <a16:creationId xmlns:a16="http://schemas.microsoft.com/office/drawing/2014/main" id="{84C631FC-7AAD-422C-BA1B-7C913D594919}"/>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12</a:t>
            </a:r>
          </a:p>
        </p:txBody>
      </p:sp>
      <p:graphicFrame>
        <p:nvGraphicFramePr>
          <p:cNvPr id="3" name="Chart">
            <a:extLst xmlns:a="http://schemas.openxmlformats.org/drawingml/2006/main">
              <a:ext uri="{FF2B5EF4-FFF2-40B4-BE49-F238E27FC236}">
                <a16:creationId xmlns:a16="http://schemas.microsoft.com/office/drawing/2014/main" id="{57A3199A-BBD0-4B45-A5CB-D7D8D820E395}"/>
              </a:ext>
            </a:extLst>
          </p:cNvPr>
          <p:cNvGraphicFramePr/>
          <p:nvPr/>
        </p:nvGraphicFramePr>
        <p:xfrm>
          <a:off xmlns:a="http://schemas.openxmlformats.org/drawingml/2006/main" x="628650" y="1524000"/>
          <a:ext xmlns:a="http://schemas.openxmlformats.org/drawingml/2006/main" cx="7429500" cy="4191000"/>
        </p:xfrm>
        <a:graphic xmlns:a="http://schemas.openxmlformats.org/drawingml/2006/main">
          <a:graphicData uri="http://schemas.openxmlformats.org/drawingml/2006/chart">
            <c:chart xmlns:r="http://schemas.openxmlformats.org/officeDocument/2006/relationships" xmlns:c="http://schemas.openxmlformats.org/drawingml/2006/chart" r:id="Rd00ed8af19da4909"/>
          </a:graphicData>
        </a:graphic>
      </p:graphicFrame>
      <p:sp>
        <p:nvSpPr>
          <p:cNvPr id="4" name="">
            <a:extLst xmlns:a="http://schemas.openxmlformats.org/drawingml/2006/main">
              <a:ext uri="{FF2B5EF4-FFF2-40B4-BE49-F238E27FC236}">
                <a16:creationId xmlns:a16="http://schemas.microsoft.com/office/drawing/2014/main" id="{C5C681D3-D25F-4DA8-85D6-611D5000E443}"/>
              </a:ext>
            </a:extLst>
          </p:cNvPr>
          <p:cNvSpPr>
            <a:spLocks xmlns:a="http://schemas.openxmlformats.org/drawingml/2006/main" noGrp="1"/>
          </p:cNvSpPr>
          <p:nvPr/>
        </p:nvSpPr>
        <p:spPr>
          <a:xfrm xmlns:a="http://schemas.openxmlformats.org/drawingml/2006/main">
            <a:off x="8343900" y="2047875"/>
            <a:ext cx="3190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Recall: 37 / 74 = 50%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Precision: 37 / 209 = 17.70%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Missed frauds: 37</a:t>
            </a:r>
          </a:p>
        </p:txBody>
      </p:sp>
    </p:spTree>
    <p:extLst>
      <p:ext uri="{BB962C8B-B14F-4D97-AF65-F5344CB8AC3E}">
        <p14:creationId xmlns:p14="http://schemas.microsoft.com/office/powerpoint/2010/main" val="1984140923"/>
      </p:ext>
    </p:extLst>
  </p:cSld>
</p:sld>
</file>

<file path=ppt/slides/slide1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911FC3-0DCD-436E-87DD-51B70D18225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Fixed batch review capacity</a:t>
            </a:r>
          </a:p>
        </p:txBody>
      </p:sp>
      <p:sp>
        <p:nvSpPr>
          <p:cNvPr id="2" name="">
            <a:extLst xmlns:a="http://schemas.openxmlformats.org/drawingml/2006/main">
              <a:ext uri="{FF2B5EF4-FFF2-40B4-BE49-F238E27FC236}">
                <a16:creationId xmlns:a16="http://schemas.microsoft.com/office/drawing/2014/main" id="{D62B468C-1DB4-4C1B-B71B-9D3FC1C6CEC9}"/>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13</a:t>
            </a:r>
          </a:p>
        </p:txBody>
      </p:sp>
      <p:graphicFrame>
        <p:nvGraphicFramePr>
          <p:cNvPr id="3" name="Chart">
            <a:extLst xmlns:a="http://schemas.openxmlformats.org/drawingml/2006/main">
              <a:ext uri="{FF2B5EF4-FFF2-40B4-BE49-F238E27FC236}">
                <a16:creationId xmlns:a16="http://schemas.microsoft.com/office/drawing/2014/main" id="{C8C4BC5C-B537-4F79-83CB-2A015D9668E4}"/>
              </a:ext>
            </a:extLst>
          </p:cNvPr>
          <p:cNvGraphicFramePr/>
          <p:nvPr/>
        </p:nvGraphicFramePr>
        <p:xfrm>
          <a:off xmlns:a="http://schemas.openxmlformats.org/drawingml/2006/main" x="628650" y="1524000"/>
          <a:ext xmlns:a="http://schemas.openxmlformats.org/drawingml/2006/main" cx="7429500" cy="4191000"/>
        </p:xfrm>
        <a:graphic xmlns:a="http://schemas.openxmlformats.org/drawingml/2006/main">
          <a:graphicData uri="http://schemas.openxmlformats.org/drawingml/2006/chart">
            <c:chart xmlns:r="http://schemas.openxmlformats.org/officeDocument/2006/relationships" xmlns:c="http://schemas.openxmlformats.org/drawingml/2006/chart" r:id="Rfa2cef2717904be3"/>
          </a:graphicData>
        </a:graphic>
      </p:graphicFrame>
      <p:sp>
        <p:nvSpPr>
          <p:cNvPr id="4" name="">
            <a:extLst xmlns:a="http://schemas.openxmlformats.org/drawingml/2006/main">
              <a:ext uri="{FF2B5EF4-FFF2-40B4-BE49-F238E27FC236}">
                <a16:creationId xmlns:a16="http://schemas.microsoft.com/office/drawing/2014/main" id="{982A1E21-05FC-4627-B7BA-D1E89261782F}"/>
              </a:ext>
            </a:extLst>
          </p:cNvPr>
          <p:cNvSpPr>
            <a:spLocks xmlns:a="http://schemas.openxmlformats.org/drawingml/2006/main" noGrp="1"/>
          </p:cNvSpPr>
          <p:nvPr/>
        </p:nvSpPr>
        <p:spPr>
          <a:xfrm xmlns:a="http://schemas.openxmlformats.org/drawingml/2006/main">
            <a:off x="8477250" y="2019300"/>
            <a:ext cx="2952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Top 100 reviews</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29 frauds found</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29% precision</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39.19% recall</a:t>
            </a:r>
          </a:p>
        </p:txBody>
      </p:sp>
    </p:spTree>
    <p:extLst>
      <p:ext uri="{BB962C8B-B14F-4D97-AF65-F5344CB8AC3E}">
        <p14:creationId xmlns:p14="http://schemas.microsoft.com/office/powerpoint/2010/main" val="1125687693"/>
      </p:ext>
    </p:extLst>
  </p:cSld>
</p:sld>
</file>

<file path=ppt/slides/slide1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BC071-FB5D-4437-9424-5E7881D46B4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Limits and Phase 1 conclusion</a:t>
            </a:r>
          </a:p>
        </p:txBody>
      </p:sp>
      <p:sp>
        <p:nvSpPr>
          <p:cNvPr id="2" name="">
            <a:extLst xmlns:a="http://schemas.openxmlformats.org/drawingml/2006/main">
              <a:ext uri="{FF2B5EF4-FFF2-40B4-BE49-F238E27FC236}">
                <a16:creationId xmlns:a16="http://schemas.microsoft.com/office/drawing/2014/main" id="{EA3946D7-3F38-4196-BDFC-CA41F32C93ED}"/>
              </a:ext>
            </a:extLst>
          </p:cNvPr>
          <p:cNvSpPr>
            <a:spLocks xmlns:a="http://schemas.openxmlformats.org/drawingml/2006/main" noGrp="1"/>
          </p:cNvSpPr>
          <p:nvPr/>
        </p:nvSpPr>
        <p:spPr>
          <a:xfrm xmlns:a="http://schemas.openxmlformats.org/drawingml/2006/main">
            <a:off x="110490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FA6ABC48-6C08-4E23-9674-0196B238FE2C}"/>
              </a:ext>
            </a:extLst>
          </p:cNvPr>
          <p:cNvSpPr>
            <a:spLocks xmlns:a="http://schemas.openxmlformats.org/drawingml/2006/main" noGrp="1"/>
          </p:cNvSpPr>
          <p:nvPr/>
        </p:nvSpPr>
        <p:spPr>
          <a:xfrm xmlns:a="http://schemas.openxmlformats.org/drawingml/2006/main">
            <a:off x="685800" y="16287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24668D"/>
                </a:solidFill>
                <a:latin typeface="Arial"/>
                <a:ea typeface="Arial"/>
                <a:cs typeface="Arial"/>
              </a:defRPr>
            </a:defPPr>
            <a:lvl1pPr>
              <a:defRPr sz="2550" b="0">
                <a:solidFill>
                  <a:srgbClr val="24668D"/>
                </a:solidFill>
                <a:latin typeface="Arial"/>
                <a:ea typeface="Arial"/>
                <a:cs typeface="Arial"/>
              </a:defRPr>
            </a:lvl1pPr>
            <a:lvl2pPr>
              <a:defRPr sz="2550" b="0">
                <a:solidFill>
                  <a:srgbClr val="24668D"/>
                </a:solidFill>
                <a:latin typeface="Arial"/>
                <a:ea typeface="Arial"/>
                <a:cs typeface="Arial"/>
              </a:defRPr>
            </a:lvl2pPr>
            <a:lvl3pPr>
              <a:defRPr sz="2550" b="0">
                <a:solidFill>
                  <a:srgbClr val="24668D"/>
                </a:solidFill>
                <a:latin typeface="Arial"/>
                <a:ea typeface="Arial"/>
                <a:cs typeface="Arial"/>
              </a:defRPr>
            </a:lvl3pPr>
            <a:lvl4pPr>
              <a:defRPr sz="2550" b="0">
                <a:solidFill>
                  <a:srgbClr val="24668D"/>
                </a:solidFill>
                <a:latin typeface="Arial"/>
                <a:ea typeface="Arial"/>
                <a:cs typeface="Arial"/>
              </a:defRPr>
            </a:lvl4pPr>
            <a:lvl5pPr>
              <a:defRPr sz="2550" b="0">
                <a:solidFill>
                  <a:srgbClr val="24668D"/>
                </a:solidFill>
                <a:latin typeface="Arial"/>
                <a:ea typeface="Arial"/>
                <a:cs typeface="Arial"/>
              </a:defRPr>
            </a:lvl5pPr>
            <a:lvl6pPr>
              <a:defRPr sz="2550" b="0">
                <a:solidFill>
                  <a:srgbClr val="24668D"/>
                </a:solidFill>
                <a:latin typeface="Arial"/>
                <a:ea typeface="Arial"/>
                <a:cs typeface="Arial"/>
              </a:defRPr>
            </a:lvl6pPr>
            <a:lvl7pPr>
              <a:defRPr sz="2550" b="0">
                <a:solidFill>
                  <a:srgbClr val="24668D"/>
                </a:solidFill>
                <a:latin typeface="Arial"/>
                <a:ea typeface="Arial"/>
                <a:cs typeface="Arial"/>
              </a:defRPr>
            </a:lvl7pPr>
            <a:lvl8pPr>
              <a:defRPr sz="2550" b="0">
                <a:solidFill>
                  <a:srgbClr val="24668D"/>
                </a:solidFill>
                <a:latin typeface="Arial"/>
                <a:ea typeface="Arial"/>
                <a:cs typeface="Arial"/>
              </a:defRPr>
            </a:lvl8pPr>
            <a:lvl9pPr>
              <a:defRPr sz="2550" b="0">
                <a:solidFill>
                  <a:srgbClr val="24668D"/>
                </a:solidFill>
                <a:latin typeface="Arial"/>
                <a:ea typeface="Arial"/>
                <a:cs typeface="Arial"/>
              </a:defRPr>
            </a:lvl9pPr>
          </a:lstStyle>
          <a:p xmlns:a="http://schemas.openxmlformats.org/drawingml/2006/main">
            <a:pPr>
              <a:defRPr sz="2550" b="0">
                <a:solidFill>
                  <a:srgbClr val="24668D"/>
                </a:solidFill>
                <a:latin typeface="Arial"/>
                <a:ea typeface="Arial"/>
                <a:cs typeface="Arial"/>
              </a:defRPr>
            </a:pPr>
            <a:r>
              <a:rPr sz="2550" b="0">
                <a:solidFill>
                  <a:srgbClr val="24668D"/>
                </a:solidFill>
                <a:latin typeface="Arial"/>
                <a:ea typeface="Arial"/>
                <a:cs typeface="Arial"/>
              </a:rPr>
              <a:t>The GMM improves this ranking over one Gaussian.</a:t>
            </a:r>
          </a:p>
        </p:txBody>
      </p:sp>
      <p:sp>
        <p:nvSpPr>
          <p:cNvPr id="4" name="">
            <a:extLst xmlns:a="http://schemas.openxmlformats.org/drawingml/2006/main">
              <a:ext uri="{FF2B5EF4-FFF2-40B4-BE49-F238E27FC236}">
                <a16:creationId xmlns:a16="http://schemas.microsoft.com/office/drawing/2014/main" id="{380D96C1-1E6C-4292-9B52-203629B2AD0C}"/>
              </a:ext>
            </a:extLst>
          </p:cNvPr>
          <p:cNvSpPr>
            <a:spLocks xmlns:a="http://schemas.openxmlformats.org/drawingml/2006/main" noGrp="1"/>
          </p:cNvSpPr>
          <p:nvPr/>
        </p:nvSpPr>
        <p:spPr>
          <a:xfrm xmlns:a="http://schemas.openxmlformats.org/drawingml/2006/main">
            <a:off x="685800" y="2619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At the default policy, it catches half the test fraud and creates 172 false alerts.</a:t>
            </a:r>
          </a:p>
        </p:txBody>
      </p:sp>
      <p:sp>
        <p:nvSpPr>
          <p:cNvPr id="5" name="">
            <a:extLst xmlns:a="http://schemas.openxmlformats.org/drawingml/2006/main">
              <a:ext uri="{FF2B5EF4-FFF2-40B4-BE49-F238E27FC236}">
                <a16:creationId xmlns:a16="http://schemas.microsoft.com/office/drawing/2014/main" id="{D7312C89-8ECA-474F-B24C-4F2E6FC5CEB4}"/>
              </a:ext>
            </a:extLst>
          </p:cNvPr>
          <p:cNvSpPr>
            <a:spLocks xmlns:a="http://schemas.openxmlformats.org/drawingml/2006/main" noGrp="1"/>
          </p:cNvSpPr>
          <p:nvPr/>
        </p:nvSpPr>
        <p:spPr>
          <a:xfrm xmlns:a="http://schemas.openxmlformats.org/drawingml/2006/main">
            <a:off x="685800" y="37147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Only 74 test frauds. Anonymous inputs. Short history. Restrictive density assumptions.</a:t>
            </a:r>
          </a:p>
        </p:txBody>
      </p:sp>
      <p:sp>
        <p:nvSpPr>
          <p:cNvPr id="6" name="">
            <a:extLst xmlns:a="http://schemas.openxmlformats.org/drawingml/2006/main">
              <a:ext uri="{FF2B5EF4-FFF2-40B4-BE49-F238E27FC236}">
                <a16:creationId xmlns:a16="http://schemas.microsoft.com/office/drawing/2014/main" id="{DBCC531C-6724-4CD9-8E54-24227FDFE0E7}"/>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Phase 2: compare an autoencoder under the same data and evaluation protocol.</a:t>
            </a:r>
          </a:p>
        </p:txBody>
      </p:sp>
      <p:sp>
        <p:nvSpPr>
          <p:cNvPr id="7" name="">
            <a:extLst xmlns:a="http://schemas.openxmlformats.org/drawingml/2006/main">
              <a:ext uri="{FF2B5EF4-FFF2-40B4-BE49-F238E27FC236}">
                <a16:creationId xmlns:a16="http://schemas.microsoft.com/office/drawing/2014/main" id="{6FCC312C-90A1-4B89-A913-0679914ABDF7}"/>
              </a:ext>
            </a:extLst>
          </p:cNvPr>
          <p:cNvSpPr>
            <a:spLocks xmlns:a="http://schemas.openxmlformats.org/drawingml/2006/main" noGrp="1"/>
          </p:cNvSpPr>
          <p:nvPr/>
        </p:nvSpPr>
        <p:spPr>
          <a:xfrm xmlns:a="http://schemas.openxmlformats.org/drawingml/2006/main">
            <a:off x="685800" y="57816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4E6472"/>
                </a:solidFill>
                <a:latin typeface="Arial"/>
                <a:ea typeface="Arial"/>
                <a:cs typeface="Arial"/>
              </a:defRPr>
            </a:defPPr>
            <a:lvl1pPr>
              <a:defRPr sz="1875" b="0">
                <a:solidFill>
                  <a:srgbClr val="4E6472"/>
                </a:solidFill>
                <a:latin typeface="Arial"/>
                <a:ea typeface="Arial"/>
                <a:cs typeface="Arial"/>
              </a:defRPr>
            </a:lvl1pPr>
            <a:lvl2pPr>
              <a:defRPr sz="1875" b="0">
                <a:solidFill>
                  <a:srgbClr val="4E6472"/>
                </a:solidFill>
                <a:latin typeface="Arial"/>
                <a:ea typeface="Arial"/>
                <a:cs typeface="Arial"/>
              </a:defRPr>
            </a:lvl2pPr>
            <a:lvl3pPr>
              <a:defRPr sz="1875" b="0">
                <a:solidFill>
                  <a:srgbClr val="4E6472"/>
                </a:solidFill>
                <a:latin typeface="Arial"/>
                <a:ea typeface="Arial"/>
                <a:cs typeface="Arial"/>
              </a:defRPr>
            </a:lvl3pPr>
            <a:lvl4pPr>
              <a:defRPr sz="1875" b="0">
                <a:solidFill>
                  <a:srgbClr val="4E6472"/>
                </a:solidFill>
                <a:latin typeface="Arial"/>
                <a:ea typeface="Arial"/>
                <a:cs typeface="Arial"/>
              </a:defRPr>
            </a:lvl4pPr>
            <a:lvl5pPr>
              <a:defRPr sz="1875" b="0">
                <a:solidFill>
                  <a:srgbClr val="4E6472"/>
                </a:solidFill>
                <a:latin typeface="Arial"/>
                <a:ea typeface="Arial"/>
                <a:cs typeface="Arial"/>
              </a:defRPr>
            </a:lvl5pPr>
            <a:lvl6pPr>
              <a:defRPr sz="1875" b="0">
                <a:solidFill>
                  <a:srgbClr val="4E6472"/>
                </a:solidFill>
                <a:latin typeface="Arial"/>
                <a:ea typeface="Arial"/>
                <a:cs typeface="Arial"/>
              </a:defRPr>
            </a:lvl6pPr>
            <a:lvl7pPr>
              <a:defRPr sz="1875" b="0">
                <a:solidFill>
                  <a:srgbClr val="4E6472"/>
                </a:solidFill>
                <a:latin typeface="Arial"/>
                <a:ea typeface="Arial"/>
                <a:cs typeface="Arial"/>
              </a:defRPr>
            </a:lvl7pPr>
            <a:lvl8pPr>
              <a:defRPr sz="1875" b="0">
                <a:solidFill>
                  <a:srgbClr val="4E6472"/>
                </a:solidFill>
                <a:latin typeface="Arial"/>
                <a:ea typeface="Arial"/>
                <a:cs typeface="Arial"/>
              </a:defRPr>
            </a:lvl8pPr>
            <a:lvl9pPr>
              <a:defRPr sz="1875" b="0">
                <a:solidFill>
                  <a:srgbClr val="4E6472"/>
                </a:solidFill>
                <a:latin typeface="Arial"/>
                <a:ea typeface="Arial"/>
                <a:cs typeface="Arial"/>
              </a:defRPr>
            </a:lvl9pPr>
          </a:lstStyle>
          <a:p xmlns:a="http://schemas.openxmlformats.org/drawingml/2006/main">
            <a:pPr>
              <a:defRPr sz="1875" b="0">
                <a:solidFill>
                  <a:srgbClr val="4E6472"/>
                </a:solidFill>
                <a:latin typeface="Arial"/>
                <a:ea typeface="Arial"/>
                <a:cs typeface="Arial"/>
              </a:defRPr>
            </a:pPr>
            <a:r>
              <a:rPr sz="1875" b="0">
                <a:solidFill>
                  <a:srgbClr val="4E6472"/>
                </a:solidFill>
                <a:latin typeface="Arial"/>
                <a:ea typeface="Arial"/>
                <a:cs typeface="Arial"/>
              </a:rPr>
              <a:t>Every member should explain the split, score, threshold and exact metric counts.</a:t>
            </a:r>
          </a:p>
        </p:txBody>
      </p:sp>
    </p:spTree>
    <p:extLst>
      <p:ext uri="{BB962C8B-B14F-4D97-AF65-F5344CB8AC3E}">
        <p14:creationId xmlns:p14="http://schemas.microsoft.com/office/powerpoint/2010/main" val="67752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2026-10-21T04:03:11.8420000Z</dcterms:created>
  <dcterms:modified xsi:type="dcterms:W3CDTF">2026-10-21T04:03:11.8420000Z</dcterms:modified>
</coreProperties>
</file>