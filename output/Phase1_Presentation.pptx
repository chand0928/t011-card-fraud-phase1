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b36f1fefd94dec" /><Relationship Type="http://schemas.openxmlformats.org/officeDocument/2006/relationships/extended-properties" Target="/docProps/app.xml" Id="R54269e37dd5a4708" /><Relationship Type="http://schemas.openxmlformats.org/officeDocument/2006/relationships/officeDocument" Target="/ppt/presentation.xml" Id="R6dfd04f7eeee4cc1" /></Relationships>
</file>

<file path=ppt/presentation.xml><?xml version="1.0" encoding="utf-8"?>
<p:presentation xmlns:p="http://schemas.openxmlformats.org/presentationml/2006/main">
  <p:sldMasterIdLst>
    <p:sldMasterId xmlns:r="http://schemas.openxmlformats.org/officeDocument/2006/relationships" id="2147483648" r:id="Rf436029af6fe428d"/>
  </p:sldMasterIdLst>
  <p:notesMasterIdLst>
    <p:notesMasterId xmlns:r="http://schemas.openxmlformats.org/officeDocument/2006/relationships" r:id="R4f37be2ab793400f"/>
  </p:notesMasterIdLst>
  <p:sldIdLst>
    <p:sldId xmlns:r="http://schemas.openxmlformats.org/officeDocument/2006/relationships" id="256" r:id="R10884e24f2284596"/>
    <p:sldId xmlns:r="http://schemas.openxmlformats.org/officeDocument/2006/relationships" id="257" r:id="Rf9ad33e3b98f4610"/>
    <p:sldId xmlns:r="http://schemas.openxmlformats.org/officeDocument/2006/relationships" id="258" r:id="Rbaadbd0ef18944eb"/>
    <p:sldId xmlns:r="http://schemas.openxmlformats.org/officeDocument/2006/relationships" id="259" r:id="R758d9294e35b43ea"/>
    <p:sldId xmlns:r="http://schemas.openxmlformats.org/officeDocument/2006/relationships" id="260" r:id="R025ed92ac2c1483b"/>
    <p:sldId xmlns:r="http://schemas.openxmlformats.org/officeDocument/2006/relationships" id="261" r:id="Rd8d361f2408c4d77"/>
    <p:sldId xmlns:r="http://schemas.openxmlformats.org/officeDocument/2006/relationships" id="262" r:id="Rd1d0aba7082d4125"/>
    <p:sldId xmlns:r="http://schemas.openxmlformats.org/officeDocument/2006/relationships" id="263" r:id="R984fafcfe19648a1"/>
    <p:sldId xmlns:r="http://schemas.openxmlformats.org/officeDocument/2006/relationships" id="264" r:id="Rb55dc9f009434e52"/>
    <p:sldId xmlns:r="http://schemas.openxmlformats.org/officeDocument/2006/relationships" id="265" r:id="Rbcf1acee7d5945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46ef89c54c4e74" /><Relationship Type="http://schemas.openxmlformats.org/officeDocument/2006/relationships/slideMaster" Target="/ppt/slideMasters/slideMaster1.xml" Id="Rf436029af6fe428d" /><Relationship Type="http://schemas.openxmlformats.org/officeDocument/2006/relationships/notesMaster" Target="/ppt/notesMasters/notesMaster1.xml" Id="R4f37be2ab793400f" /><Relationship Type="http://schemas.openxmlformats.org/officeDocument/2006/relationships/presProps" Target="/ppt/presProps.xml" Id="R77bdcd3a24f04de2" /><Relationship Type="http://schemas.openxmlformats.org/officeDocument/2006/relationships/tableStyles" Target="/ppt/tableStyles.xml" Id="Re98a81fcf97e4f7f" /><Relationship Type="http://schemas.openxmlformats.org/officeDocument/2006/relationships/slide" Target="/ppt/slides/slide1.xml" Id="R10884e24f2284596" /><Relationship Type="http://schemas.openxmlformats.org/officeDocument/2006/relationships/slide" Target="/ppt/slides/slide2.xml" Id="Rf9ad33e3b98f4610" /><Relationship Type="http://schemas.openxmlformats.org/officeDocument/2006/relationships/slide" Target="/ppt/slides/slide3.xml" Id="Rbaadbd0ef18944eb" /><Relationship Type="http://schemas.openxmlformats.org/officeDocument/2006/relationships/slide" Target="/ppt/slides/slide4.xml" Id="R758d9294e35b43ea" /><Relationship Type="http://schemas.openxmlformats.org/officeDocument/2006/relationships/slide" Target="/ppt/slides/slide5.xml" Id="R025ed92ac2c1483b" /><Relationship Type="http://schemas.openxmlformats.org/officeDocument/2006/relationships/slide" Target="/ppt/slides/slide6.xml" Id="Rd8d361f2408c4d77" /><Relationship Type="http://schemas.openxmlformats.org/officeDocument/2006/relationships/slide" Target="/ppt/slides/slide7.xml" Id="Rd1d0aba7082d4125" /><Relationship Type="http://schemas.openxmlformats.org/officeDocument/2006/relationships/slide" Target="/ppt/slides/slide8.xml" Id="R984fafcfe19648a1" /><Relationship Type="http://schemas.openxmlformats.org/officeDocument/2006/relationships/slide" Target="/ppt/slides/slide9.xml" Id="Rb55dc9f009434e52" /><Relationship Type="http://schemas.openxmlformats.org/officeDocument/2006/relationships/slide" Target="/ppt/slides/slide10.xml" Id="Rbcf1acee7d5945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86a177f52643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2103a6160a4848" /><Relationship Type="http://schemas.openxmlformats.org/officeDocument/2006/relationships/notesMaster" Target="/ppt/notesMasters/notesMaster1.xml" Id="R002757b87c0a4c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ec69e2a0544193" /><Relationship Type="http://schemas.openxmlformats.org/officeDocument/2006/relationships/notesMaster" Target="/ppt/notesMasters/notesMaster1.xml" Id="R1c310c13bbfe44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ccedf80f46428d" /><Relationship Type="http://schemas.openxmlformats.org/officeDocument/2006/relationships/notesMaster" Target="/ppt/notesMasters/notesMaster1.xml" Id="R9760c66f39664b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452fdc8a7c448c" /><Relationship Type="http://schemas.openxmlformats.org/officeDocument/2006/relationships/notesMaster" Target="/ppt/notesMasters/notesMaster1.xml" Id="R4c0f51eaef6243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915221d0cd4da4" /><Relationship Type="http://schemas.openxmlformats.org/officeDocument/2006/relationships/notesMaster" Target="/ppt/notesMasters/notesMaster1.xml" Id="R831ec14ca1d84f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c58c6e423c4587" /><Relationship Type="http://schemas.openxmlformats.org/officeDocument/2006/relationships/notesMaster" Target="/ppt/notesMasters/notesMaster1.xml" Id="Rae50a67e23884f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4d498478547c6" /><Relationship Type="http://schemas.openxmlformats.org/officeDocument/2006/relationships/notesMaster" Target="/ppt/notesMasters/notesMaster1.xml" Id="Rd45c743c692b42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3623e8516f4352" /><Relationship Type="http://schemas.openxmlformats.org/officeDocument/2006/relationships/notesMaster" Target="/ppt/notesMasters/notesMaster1.xml" Id="R10365346d08c48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8897aae9f749f1" /><Relationship Type="http://schemas.openxmlformats.org/officeDocument/2006/relationships/notesMaster" Target="/ppt/notesMasters/notesMaster1.xml" Id="R1447356dbcf64a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5c2415b78e410f" /><Relationship Type="http://schemas.openxmlformats.org/officeDocument/2006/relationships/notesMaster" Target="/ppt/notesMasters/notesMaster1.xml" Id="R4cdba49a70394b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Team T011: H Maheshwari 2401010174, Vaibhav 2401010486, Mayank 2401010267, Keshav 2401010222, Mitul Bhatia 2401010279. Say: We learn what legitimate transactions look like and place less usual later transactions into a review queue. An unusual transaction is not proof of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Dataset: https://www.kaggle.com/datasets/mlg-ulb/creditcardfraud; mirror documented at https://www.tensorflow.org/tutorials/structured_data/imbalanced_data. Raw284807/492frauds. Remove1081exact repeats including19fraud rows, under a stated assumption because no transaction IDs exist. Clean283726/473frauds. No missing or infinite cells. Explain training learns, validation selects cutoffs, test checks later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Notebook Steps6-7. V1-V28 are anonymous provider PCA features. PCA replaces original variables with numerical combinations. We do not run new PCA. log1p handles zero and compresses amount range. StandardScaler learns means and standard deviations only on legitimate training rows. fit_transform learns and applies; transform applies saved values. Class is not an input; Time only determines the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Literature: Dempster,Laird,Rubin1977 https://doi.org/10.1111/j.2517-6161.1977.tb01600.x; https://scikit-learn.org/stable/modules/mixture.html. GMM is a weighted sum of Gaussian densities, with nonnegative weights summing to1. K is number of components. Components are mathematical groups, not proven customer categories. Diagonal covariance estimates separate feature variances within a component and ignores some relationships. Three starts,seed42,max200,reg_covar1e-6. Convergence is not a global-optimum guarantee. Labels select legitimate rows; GMM fit has no target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results/gmm_selection.csv. Try K1,2,4,8, fit all on the same legitimate training rows. AIC=2q-2L, BIC=q log N-2L. Lower is better. Choose minimum training BIC. Eight is largest tested, both scores still fall there, so do not call globally best. AIC/BIC measure legitimate density fit, not fraud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Notebook Steps10-11. score_samples returns log density, so negate it. Low density means less typical under legitimate training distribution. Density is not fraud probability. Scores can be negative. Set cutoff using legitimate validation scores, 99.5th percentile for0.5% budget with method higher, strictscore&gt;cutoff. Score80and60are numerical rule illustrations, not sampled dataset rows. Threshold75.8942 is measured. The default is an illustrative classroom choice fixed before test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Notebook Steps12-13. MatrixTN56500FP172FN37TP37. Recall37/74=.5, precision37/209=.17703349,FPR172/56672=.003035. Default validation budget.5% does not guarantee.5%testFPR. Most alerts are legitimate and half the fraud is missed. Explain denominator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results/threshold_results.csv. The three cutoffs are all chosen on validation, then applied unchanged to test.0.1%finds6frauds39falsealerts,.5%37and172,1%52and381. Test recall8.11/50/70.27%. These are validation FPR budgets, not guaranteed testFPRs. Do not pick best test policy after seeing these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Literature: Saito and Rehmsmeier2015 https://journals.plos.org/plosone/article?id=10.1371/journal.pone.0118432. PRcurve source uses same measured experiment as notebookStep15. Nativechart connects retained PRpoints. PR AUC is trapezoidal0.149619; it is neither accuracy nor default recall. PR zero-recall endpoint withprecision1is conventional no-review endpoint. Testprevalence74/56746=.1304%. Precision@100=29/100=.29,71legitimate. This capacity applies to whole test batch. Stable sort keeps chronologicalorderforties.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Phase1.ipynb and results/summary.json. Course scope: supplied CSAI PDF page 2. Team allocation supplied by user. Main limitations: rarity differs fromfraud,only74testfrauds,shortolddata,anonymousinputs,unverifiableproviderPCA,duplicateremovalassumption,diagonalcovariance,smallKgrid,futuredrift. Everymembermustunderstandnotebookandrecordactualcontributions. NoDLorhybrid implemented. Referencesfor method:eM1977 DOI andPR2015paperinthepreviousnotesandnotebook/report.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7df0257f1046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c045b17200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4abc7cbce446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683ed96f4643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997943240640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779313fe5847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E5E097-5B04-4241-AD62-A7EDAD19133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75E386-7E8E-4773-8677-3A76718B210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A175297-C38D-40F2-9C2E-19956454FD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5D0B62-B99E-43D6-A701-730BA3A98B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7D609CD-1F8D-440B-8DC8-33A186847A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FF582E-FFE7-4753-91E3-47CF11FD1C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EA11F-6C1D-4A6A-8CD5-C81F83F0CD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46FA34-E677-44AA-90A2-FFD03AF390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9AF1F3-3B09-437F-A5AF-D93E704B4C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06CB3E-EA7B-4C57-AF93-EACD5384BC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c15f1c58a84a15" /><Relationship Type="http://schemas.openxmlformats.org/officeDocument/2006/relationships/slideLayout" Target="/ppt/slideLayouts/slideLayout1.xml" Id="R49f786e8980849ef" /><Relationship Type="http://schemas.openxmlformats.org/officeDocument/2006/relationships/slideLayout" Target="/ppt/slideLayouts/slideLayout2.xml" Id="Rdba033cd3e854e2b" /><Relationship Type="http://schemas.openxmlformats.org/officeDocument/2006/relationships/slideLayout" Target="/ppt/slideLayouts/slideLayout3.xml" Id="R27c74dff46444448" /><Relationship Type="http://schemas.openxmlformats.org/officeDocument/2006/relationships/slideLayout" Target="/ppt/slideLayouts/slideLayout4.xml" Id="Rb9acde4568e64dab" /><Relationship Type="http://schemas.openxmlformats.org/officeDocument/2006/relationships/slideLayout" Target="/ppt/slideLayouts/slideLayout5.xml" Id="Re675bc430cd84cff" /><Relationship Type="http://schemas.openxmlformats.org/officeDocument/2006/relationships/slideLayout" Target="/ppt/slideLayouts/slideLayout6.xml" Id="R18e0ca80d59c40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f786e8980849ef"/>
    <p:sldLayoutId xmlns:r="http://schemas.openxmlformats.org/officeDocument/2006/relationships" id="2147483650" r:id="Rdba033cd3e854e2b"/>
    <p:sldLayoutId xmlns:r="http://schemas.openxmlformats.org/officeDocument/2006/relationships" id="2147483651" r:id="R27c74dff46444448"/>
    <p:sldLayoutId xmlns:r="http://schemas.openxmlformats.org/officeDocument/2006/relationships" id="2147483652" r:id="Rb9acde4568e64dab"/>
    <p:sldLayoutId xmlns:r="http://schemas.openxmlformats.org/officeDocument/2006/relationships" id="2147483653" r:id="Re675bc430cd84cff"/>
    <p:sldLayoutId xmlns:r="http://schemas.openxmlformats.org/officeDocument/2006/relationships" id="2147483654" r:id="R18e0ca80d59c40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150c3fefec4e72" /><Relationship Type="http://schemas.openxmlformats.org/officeDocument/2006/relationships/notesSlide" Target="/ppt/notesSlides/notesSlide1.xml" Id="Rf38ee2e6b0024c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f4997d11984e49" /><Relationship Type="http://schemas.openxmlformats.org/officeDocument/2006/relationships/notesSlide" Target="/ppt/notesSlides/notesSlide2.xml" Id="Rc8811de4ebb248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99ff2a5e534e4c" /><Relationship Type="http://schemas.openxmlformats.org/officeDocument/2006/relationships/notesSlide" Target="/ppt/notesSlides/notesSlide3.xml" Id="Rb15e1f6f310e44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898076586c4734" /><Relationship Type="http://schemas.openxmlformats.org/officeDocument/2006/relationships/notesSlide" Target="/ppt/notesSlides/notesSlide4.xml" Id="R8236b27499d745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0e1d82ad804bc6" /><Relationship Type="http://schemas.openxmlformats.org/officeDocument/2006/relationships/chart" Target="/ppt/slides/charts/chart1.xml" Id="Rc71f271fb7a5492f" /><Relationship Type="http://schemas.openxmlformats.org/officeDocument/2006/relationships/notesSlide" Target="/ppt/notesSlides/notesSlide5.xml" Id="R0c2079983b894e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bc305574f644b8" /><Relationship Type="http://schemas.openxmlformats.org/officeDocument/2006/relationships/notesSlide" Target="/ppt/notesSlides/notesSlide6.xml" Id="R283e065fc27e46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d0d62232df4993" /><Relationship Type="http://schemas.openxmlformats.org/officeDocument/2006/relationships/notesSlide" Target="/ppt/notesSlides/notesSlide7.xml" Id="R3ae2e64dc0fc42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af3d4374ba4adc" /><Relationship Type="http://schemas.openxmlformats.org/officeDocument/2006/relationships/chart" Target="/ppt/slides/charts/chart2.xml" Id="Rab56a9ccc8c64085" /><Relationship Type="http://schemas.openxmlformats.org/officeDocument/2006/relationships/notesSlide" Target="/ppt/notesSlides/notesSlide8.xml" Id="R3a7e4825720a42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22fe1ae7f1146d5" /><Relationship Type="http://schemas.openxmlformats.org/officeDocument/2006/relationships/chart" Target="/ppt/slides/charts/chart3.xml" Id="R95470cab513c4338" /><Relationship Type="http://schemas.openxmlformats.org/officeDocument/2006/relationships/notesSlide" Target="/ppt/notesSlides/notesSlide9.xml" Id="R82f0994655a740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5678fb30e042ea" /><Relationship Type="http://schemas.openxmlformats.org/officeDocument/2006/relationships/notesSlide" Target="/ppt/notesSlides/notesSlide10.xml" Id="R059106088fc3436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AIC and BIC, lower is better</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lineChart>
        <c:grouping val="standard"/>
        <c:varyColors val="0"/>
        <c:ser>
          <c:idx val="0"/>
          <c:order val="0"/>
          <c:tx>
            <c:v>AIC / one million</c:v>
          </c:tx>
          <c:spPr>
            <a:ln xmlns:a="http://schemas.openxmlformats.org/drawingml/2006/main" w="28575">
              <a:solidFill>
                <a:srgbClr val="24668D"/>
              </a:solidFill>
            </a:ln>
          </c:spPr>
          <c:marker>
            <c:symbol val="none"/>
          </c:marker>
          <c:cat>
            <c:numRef>
              <c:f>'Chart Data'!$A$2:$A$5</c:f>
              <c:numCache>
                <c:formatCode>General</c:formatCode>
                <c:ptCount val="4"/>
                <c:pt idx="0">
                  <c:v>1</c:v>
                </c:pt>
                <c:pt idx="1">
                  <c:v>2</c:v>
                </c:pt>
                <c:pt idx="2">
                  <c:v>4</c:v>
                </c:pt>
                <c:pt idx="3">
                  <c:v>8</c:v>
                </c:pt>
              </c:numCache>
            </c:numRef>
          </c:cat>
          <c:val>
            <c:numRef>
              <c:f>'Chart Data'!$B$2:$B$5</c:f>
              <c:numCache>
                <c:formatCode>General</c:formatCode>
                <c:ptCount val="4"/>
                <c:pt idx="0">
                  <c:v>13.982044</c:v>
                </c:pt>
                <c:pt idx="1">
                  <c:v>11.93483957</c:v>
                </c:pt>
                <c:pt idx="2">
                  <c:v>10.89440126</c:v>
                </c:pt>
                <c:pt idx="3">
                  <c:v>10.14018495</c:v>
                </c:pt>
              </c:numCache>
            </c:numRef>
          </c:val>
          <c:smooth val="0"/>
        </c:ser>
        <c:ser>
          <c:idx val="1"/>
          <c:order val="1"/>
          <c:tx>
            <c:v>BIC / one million</c:v>
          </c:tx>
          <c:spPr>
            <a:ln xmlns:a="http://schemas.openxmlformats.org/drawingml/2006/main" w="28575">
              <a:solidFill>
                <a:srgbClr val="C44945"/>
              </a:solidFill>
            </a:ln>
          </c:spPr>
          <c:marker>
            <c:symbol val="none"/>
          </c:marker>
          <c:cat>
            <c:numRef>
              <c:f>'Chart Data'!$C$2:$C$5</c:f>
              <c:numCache>
                <c:formatCode>General</c:formatCode>
                <c:ptCount val="4"/>
                <c:pt idx="0">
                  <c:v>1</c:v>
                </c:pt>
                <c:pt idx="1">
                  <c:v>2</c:v>
                </c:pt>
                <c:pt idx="2">
                  <c:v>4</c:v>
                </c:pt>
                <c:pt idx="3">
                  <c:v>8</c:v>
                </c:pt>
              </c:numCache>
            </c:numRef>
          </c:cat>
          <c:val>
            <c:numRef>
              <c:f>'Chart Data'!$D$2:$D$5</c:f>
              <c:numCache>
                <c:formatCode>General</c:formatCode>
                <c:ptCount val="4"/>
                <c:pt idx="0">
                  <c:v>13.98262649</c:v>
                </c:pt>
                <c:pt idx="1">
                  <c:v>11.9360146</c:v>
                </c:pt>
                <c:pt idx="2">
                  <c:v>10.89676134</c:v>
                </c:pt>
                <c:pt idx="3">
                  <c:v>10.14491517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Number of components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Criterion / one million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Test counts at fixed validation policies</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barChart>
        <c:barDir val="col"/>
        <c:grouping val="clustered"/>
        <c:varyColors val="0"/>
        <c:ser>
          <c:idx val="0"/>
          <c:order val="0"/>
          <c:tx>
            <c:v>Fraud found</c:v>
          </c:tx>
          <c:spPr>
            <a:solidFill xmlns:a="http://schemas.openxmlformats.org/drawingml/2006/main">
              <a:srgbClr val="24668D"/>
            </a:solidFill>
          </c:spPr>
          <c:invertIfNegative val="0"/>
          <c:cat>
            <c:strRef>
              <c:f>'Chart Data'!$A$2:$A$4</c:f>
              <c:strCache>
                <c:ptCount val="3"/>
                <c:pt idx="0">
                  <c:v>0.1%</c:v>
                </c:pt>
                <c:pt idx="1">
                  <c:v>0.5%</c:v>
                </c:pt>
                <c:pt idx="2">
                  <c:v>1%</c:v>
                </c:pt>
              </c:strCache>
            </c:strRef>
          </c:cat>
          <c:val>
            <c:numRef>
              <c:f>'Chart Data'!$B$2:$B$4</c:f>
              <c:numCache>
                <c:formatCode>General</c:formatCode>
                <c:ptCount val="3"/>
                <c:pt idx="0">
                  <c:v>6</c:v>
                </c:pt>
                <c:pt idx="1">
                  <c:v>37</c:v>
                </c:pt>
                <c:pt idx="2">
                  <c:v>52</c:v>
                </c:pt>
              </c:numCache>
            </c:numRef>
          </c:val>
        </c:ser>
        <c:ser>
          <c:idx val="1"/>
          <c:order val="1"/>
          <c:tx>
            <c:v>Legitimate false alerts</c:v>
          </c:tx>
          <c:spPr>
            <a:solidFill xmlns:a="http://schemas.openxmlformats.org/drawingml/2006/main">
              <a:srgbClr val="C44945"/>
            </a:solidFill>
          </c:spPr>
          <c:invertIfNegative val="0"/>
          <c:cat>
            <c:strRef>
              <c:f>'Chart Data'!$C$2:$C$4</c:f>
              <c:strCache>
                <c:ptCount val="3"/>
                <c:pt idx="0">
                  <c:v>0.1%</c:v>
                </c:pt>
                <c:pt idx="1">
                  <c:v>0.5%</c:v>
                </c:pt>
                <c:pt idx="2">
                  <c:v>1%</c:v>
                </c:pt>
              </c:strCache>
            </c:strRef>
          </c:cat>
          <c:val>
            <c:numRef>
              <c:f>'Chart Data'!$D$2:$D$4</c:f>
              <c:numCache>
                <c:formatCode>General</c:formatCode>
                <c:ptCount val="3"/>
                <c:pt idx="0">
                  <c:v>39</c:v>
                </c:pt>
                <c:pt idx="1">
                  <c:v>172</c:v>
                </c:pt>
                <c:pt idx="2">
                  <c:v>381</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Validation false-positive budget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transactions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AFB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AFBF9"/>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173447"/>
                </a:solidFill>
                <a:latin typeface="Arial"/>
                <a:ea typeface="Arial"/>
                <a:cs typeface="Arial"/>
              </a:rPr>
              <a:t>Test precision-recall curve</a:t>
            </a:r>
          </a:p>
        </c:rich>
      </c:tx>
      <c:overlay val="0"/>
      <c:txPr>
        <a:bodyPr xmlns:a="http://schemas.openxmlformats.org/drawingml/2006/main" anchorCtr="1"/>
        <a:lstStyle xmlns:a="http://schemas.openxmlformats.org/drawingml/2006/main"/>
        <a:p xmlns:a="http://schemas.openxmlformats.org/drawingml/2006/main">
          <a:pPr>
            <a:defRPr sz="1950" b="1">
              <a:solidFill>
                <a:srgbClr val="173447"/>
              </a:solidFill>
              <a:latin typeface="Arial"/>
              <a:ea typeface="Arial"/>
              <a:cs typeface="Arial"/>
            </a:defRPr>
          </a:pPr>
        </a:p>
      </c:txPr>
    </c:title>
    <c:plotArea>
      <c:scatterChart>
        <c:scatterStyle val="line"/>
        <c:varyColors val="0"/>
        <c:ser>
          <c:idx val="0"/>
          <c:order val="0"/>
          <c:tx>
            <c:v>GMM</c:v>
          </c:tx>
          <c:spPr>
            <a:ln xmlns:a="http://schemas.openxmlformats.org/drawingml/2006/main" w="23813">
              <a:solidFill>
                <a:srgbClr val="24668D"/>
              </a:solidFill>
            </a:ln>
          </c:spPr>
          <c:marker>
            <c:symbol val="none"/>
          </c:marker>
          <c:xVal>
            <c:numRef>
              <c:f>'Chart Data'!$A$2:$A$140</c:f>
              <c:numCache>
                <c:formatCode>General</c:formatCode>
                <c:ptCount val="139"/>
                <c:pt idx="0">
                  <c:v>1</c:v>
                </c:pt>
                <c:pt idx="1">
                  <c:v>1</c:v>
                </c:pt>
                <c:pt idx="2">
                  <c:v>0.9864864865</c:v>
                </c:pt>
                <c:pt idx="3">
                  <c:v>0.9864864865</c:v>
                </c:pt>
                <c:pt idx="4">
                  <c:v>0.972972973</c:v>
                </c:pt>
                <c:pt idx="5">
                  <c:v>0.972972973</c:v>
                </c:pt>
                <c:pt idx="6">
                  <c:v>0.9594594595</c:v>
                </c:pt>
                <c:pt idx="7">
                  <c:v>0.9594594595</c:v>
                </c:pt>
                <c:pt idx="8">
                  <c:v>0.9459459459</c:v>
                </c:pt>
                <c:pt idx="9">
                  <c:v>0.9459459459</c:v>
                </c:pt>
                <c:pt idx="10">
                  <c:v>0.9324324324</c:v>
                </c:pt>
                <c:pt idx="11">
                  <c:v>0.9324324324</c:v>
                </c:pt>
                <c:pt idx="12">
                  <c:v>0.9189189189</c:v>
                </c:pt>
                <c:pt idx="13">
                  <c:v>0.9189189189</c:v>
                </c:pt>
                <c:pt idx="14">
                  <c:v>0.9054054054</c:v>
                </c:pt>
                <c:pt idx="15">
                  <c:v>0.9054054054</c:v>
                </c:pt>
                <c:pt idx="16">
                  <c:v>0.8918918919</c:v>
                </c:pt>
                <c:pt idx="17">
                  <c:v>0.8918918919</c:v>
                </c:pt>
                <c:pt idx="18">
                  <c:v>0.8783783784</c:v>
                </c:pt>
                <c:pt idx="19">
                  <c:v>0.8783783784</c:v>
                </c:pt>
                <c:pt idx="20">
                  <c:v>0.8648648649</c:v>
                </c:pt>
                <c:pt idx="21">
                  <c:v>0.8648648649</c:v>
                </c:pt>
                <c:pt idx="22">
                  <c:v>0.8513513514</c:v>
                </c:pt>
                <c:pt idx="23">
                  <c:v>0.8513513514</c:v>
                </c:pt>
                <c:pt idx="24">
                  <c:v>0.8378378378</c:v>
                </c:pt>
                <c:pt idx="25">
                  <c:v>0.8378378378</c:v>
                </c:pt>
                <c:pt idx="26">
                  <c:v>0.8243243243</c:v>
                </c:pt>
                <c:pt idx="27">
                  <c:v>0.8243243243</c:v>
                </c:pt>
                <c:pt idx="28">
                  <c:v>0.8108108108</c:v>
                </c:pt>
                <c:pt idx="29">
                  <c:v>0.8108108108</c:v>
                </c:pt>
                <c:pt idx="30">
                  <c:v>0.7972972973</c:v>
                </c:pt>
                <c:pt idx="31">
                  <c:v>0.7972972973</c:v>
                </c:pt>
                <c:pt idx="32">
                  <c:v>0.7837837838</c:v>
                </c:pt>
                <c:pt idx="33">
                  <c:v>0.7837837838</c:v>
                </c:pt>
                <c:pt idx="34">
                  <c:v>0.7702702703</c:v>
                </c:pt>
                <c:pt idx="35">
                  <c:v>0.7702702703</c:v>
                </c:pt>
                <c:pt idx="36">
                  <c:v>0.7567567568</c:v>
                </c:pt>
                <c:pt idx="37">
                  <c:v>0.7567567568</c:v>
                </c:pt>
                <c:pt idx="38">
                  <c:v>0.7432432432</c:v>
                </c:pt>
                <c:pt idx="39">
                  <c:v>0.7432432432</c:v>
                </c:pt>
                <c:pt idx="40">
                  <c:v>0.7297297297</c:v>
                </c:pt>
                <c:pt idx="41">
                  <c:v>0.7297297297</c:v>
                </c:pt>
                <c:pt idx="42">
                  <c:v>0.7162162162</c:v>
                </c:pt>
                <c:pt idx="43">
                  <c:v>0.7162162162</c:v>
                </c:pt>
                <c:pt idx="44">
                  <c:v>0.7027027027</c:v>
                </c:pt>
                <c:pt idx="45">
                  <c:v>0.7027027027</c:v>
                </c:pt>
                <c:pt idx="46">
                  <c:v>0.6891891892</c:v>
                </c:pt>
                <c:pt idx="47">
                  <c:v>0.6891891892</c:v>
                </c:pt>
                <c:pt idx="48">
                  <c:v>0.6756756757</c:v>
                </c:pt>
                <c:pt idx="49">
                  <c:v>0.6756756757</c:v>
                </c:pt>
                <c:pt idx="50">
                  <c:v>0.6621621622</c:v>
                </c:pt>
                <c:pt idx="51">
                  <c:v>0.6621621622</c:v>
                </c:pt>
                <c:pt idx="52">
                  <c:v>0.6486486486</c:v>
                </c:pt>
                <c:pt idx="53">
                  <c:v>0.6351351351</c:v>
                </c:pt>
                <c:pt idx="54">
                  <c:v>0.6351351351</c:v>
                </c:pt>
                <c:pt idx="55">
                  <c:v>0.6216216216</c:v>
                </c:pt>
                <c:pt idx="56">
                  <c:v>0.6216216216</c:v>
                </c:pt>
                <c:pt idx="57">
                  <c:v>0.6081081081</c:v>
                </c:pt>
                <c:pt idx="58">
                  <c:v>0.6081081081</c:v>
                </c:pt>
                <c:pt idx="59">
                  <c:v>0.5945945946</c:v>
                </c:pt>
                <c:pt idx="60">
                  <c:v>0.5945945946</c:v>
                </c:pt>
                <c:pt idx="61">
                  <c:v>0.5810810811</c:v>
                </c:pt>
                <c:pt idx="62">
                  <c:v>0.5810810811</c:v>
                </c:pt>
                <c:pt idx="63">
                  <c:v>0.5675675676</c:v>
                </c:pt>
                <c:pt idx="64">
                  <c:v>0.5675675676</c:v>
                </c:pt>
                <c:pt idx="65">
                  <c:v>0.5540540541</c:v>
                </c:pt>
                <c:pt idx="66">
                  <c:v>0.5405405405</c:v>
                </c:pt>
                <c:pt idx="67">
                  <c:v>0.5405405405</c:v>
                </c:pt>
                <c:pt idx="68">
                  <c:v>0.527027027</c:v>
                </c:pt>
                <c:pt idx="69">
                  <c:v>0.527027027</c:v>
                </c:pt>
                <c:pt idx="70">
                  <c:v>0.5135135135</c:v>
                </c:pt>
                <c:pt idx="71">
                  <c:v>0.5135135135</c:v>
                </c:pt>
                <c:pt idx="72">
                  <c:v>0.5</c:v>
                </c:pt>
                <c:pt idx="73">
                  <c:v>0.5</c:v>
                </c:pt>
                <c:pt idx="74">
                  <c:v>0.4864864865</c:v>
                </c:pt>
                <c:pt idx="75">
                  <c:v>0.4864864865</c:v>
                </c:pt>
                <c:pt idx="76">
                  <c:v>0.472972973</c:v>
                </c:pt>
                <c:pt idx="77">
                  <c:v>0.472972973</c:v>
                </c:pt>
                <c:pt idx="78">
                  <c:v>0.4594594595</c:v>
                </c:pt>
                <c:pt idx="79">
                  <c:v>0.4594594595</c:v>
                </c:pt>
                <c:pt idx="80">
                  <c:v>0.4459459459</c:v>
                </c:pt>
                <c:pt idx="81">
                  <c:v>0.4459459459</c:v>
                </c:pt>
                <c:pt idx="82">
                  <c:v>0.4324324324</c:v>
                </c:pt>
                <c:pt idx="83">
                  <c:v>0.4324324324</c:v>
                </c:pt>
                <c:pt idx="84">
                  <c:v>0.4189189189</c:v>
                </c:pt>
                <c:pt idx="85">
                  <c:v>0.4189189189</c:v>
                </c:pt>
                <c:pt idx="86">
                  <c:v>0.4054054054</c:v>
                </c:pt>
                <c:pt idx="87">
                  <c:v>0.4054054054</c:v>
                </c:pt>
                <c:pt idx="88">
                  <c:v>0.3918918919</c:v>
                </c:pt>
                <c:pt idx="89">
                  <c:v>0.3783783784</c:v>
                </c:pt>
                <c:pt idx="90">
                  <c:v>0.3783783784</c:v>
                </c:pt>
                <c:pt idx="91">
                  <c:v>0.3648648649</c:v>
                </c:pt>
                <c:pt idx="92">
                  <c:v>0.3648648649</c:v>
                </c:pt>
                <c:pt idx="93">
                  <c:v>0.3513513514</c:v>
                </c:pt>
                <c:pt idx="94">
                  <c:v>0.3513513514</c:v>
                </c:pt>
                <c:pt idx="95">
                  <c:v>0.3378378378</c:v>
                </c:pt>
                <c:pt idx="96">
                  <c:v>0.3378378378</c:v>
                </c:pt>
                <c:pt idx="97">
                  <c:v>0.3243243243</c:v>
                </c:pt>
                <c:pt idx="98">
                  <c:v>0.3243243243</c:v>
                </c:pt>
                <c:pt idx="99">
                  <c:v>0.3108108108</c:v>
                </c:pt>
                <c:pt idx="100">
                  <c:v>0.3108108108</c:v>
                </c:pt>
                <c:pt idx="101">
                  <c:v>0.2972972973</c:v>
                </c:pt>
                <c:pt idx="102">
                  <c:v>0.2972972973</c:v>
                </c:pt>
                <c:pt idx="103">
                  <c:v>0.2837837838</c:v>
                </c:pt>
                <c:pt idx="104">
                  <c:v>0.2702702703</c:v>
                </c:pt>
                <c:pt idx="105">
                  <c:v>0.2702702703</c:v>
                </c:pt>
                <c:pt idx="106">
                  <c:v>0.2567567568</c:v>
                </c:pt>
                <c:pt idx="107">
                  <c:v>0.2432432432</c:v>
                </c:pt>
                <c:pt idx="108">
                  <c:v>0.2432432432</c:v>
                </c:pt>
                <c:pt idx="109">
                  <c:v>0.2297297297</c:v>
                </c:pt>
                <c:pt idx="110">
                  <c:v>0.2297297297</c:v>
                </c:pt>
                <c:pt idx="111">
                  <c:v>0.2162162162</c:v>
                </c:pt>
                <c:pt idx="112">
                  <c:v>0.2027027027</c:v>
                </c:pt>
                <c:pt idx="113">
                  <c:v>0.1891891892</c:v>
                </c:pt>
                <c:pt idx="114">
                  <c:v>0.1756756757</c:v>
                </c:pt>
                <c:pt idx="115">
                  <c:v>0.1621621622</c:v>
                </c:pt>
                <c:pt idx="116">
                  <c:v>0.1621621622</c:v>
                </c:pt>
                <c:pt idx="117">
                  <c:v>0.1486486486</c:v>
                </c:pt>
                <c:pt idx="118">
                  <c:v>0.1486486486</c:v>
                </c:pt>
                <c:pt idx="119">
                  <c:v>0.1351351351</c:v>
                </c:pt>
                <c:pt idx="120">
                  <c:v>0.1216216216</c:v>
                </c:pt>
                <c:pt idx="121">
                  <c:v>0.1216216216</c:v>
                </c:pt>
                <c:pt idx="122">
                  <c:v>0.1081081081</c:v>
                </c:pt>
                <c:pt idx="123">
                  <c:v>0.1081081081</c:v>
                </c:pt>
                <c:pt idx="124">
                  <c:v>0.09459459459</c:v>
                </c:pt>
                <c:pt idx="125">
                  <c:v>0.08108108108</c:v>
                </c:pt>
                <c:pt idx="126">
                  <c:v>0.08108108108</c:v>
                </c:pt>
                <c:pt idx="127">
                  <c:v>0.06756756757</c:v>
                </c:pt>
                <c:pt idx="128">
                  <c:v>0.06756756757</c:v>
                </c:pt>
                <c:pt idx="129">
                  <c:v>0.05405405405</c:v>
                </c:pt>
                <c:pt idx="130">
                  <c:v>0.05405405405</c:v>
                </c:pt>
                <c:pt idx="131">
                  <c:v>0.04054054054</c:v>
                </c:pt>
                <c:pt idx="132">
                  <c:v>0.04054054054</c:v>
                </c:pt>
                <c:pt idx="133">
                  <c:v>0.02702702703</c:v>
                </c:pt>
                <c:pt idx="134">
                  <c:v>0.02702702703</c:v>
                </c:pt>
                <c:pt idx="135">
                  <c:v>0.01351351351</c:v>
                </c:pt>
                <c:pt idx="136">
                  <c:v>0</c:v>
                </c:pt>
                <c:pt idx="137">
                  <c:v>0</c:v>
                </c:pt>
                <c:pt idx="138">
                  <c:v>0</c:v>
                </c:pt>
              </c:numCache>
            </c:numRef>
          </c:xVal>
          <c:yVal>
            <c:numRef>
              <c:f>'Chart Data'!$B$2:$B$140</c:f>
              <c:numCache>
                <c:formatCode>0%</c:formatCode>
                <c:ptCount val="139"/>
                <c:pt idx="0">
                  <c:v>0.001304056674</c:v>
                </c:pt>
                <c:pt idx="1">
                  <c:v>0.002504908266</c:v>
                </c:pt>
                <c:pt idx="2">
                  <c:v>0.002471141803</c:v>
                </c:pt>
                <c:pt idx="3">
                  <c:v>0.00292315701</c:v>
                </c:pt>
                <c:pt idx="4">
                  <c:v>0.002883229217</c:v>
                </c:pt>
                <c:pt idx="5">
                  <c:v>0.003583515827</c:v>
                </c:pt>
                <c:pt idx="6">
                  <c:v>0.003533920661</c:v>
                </c:pt>
                <c:pt idx="7">
                  <c:v>0.004773751093</c:v>
                </c:pt>
                <c:pt idx="8">
                  <c:v>0.00470683163</c:v>
                </c:pt>
                <c:pt idx="9">
                  <c:v>0.007265933153</c:v>
                </c:pt>
                <c:pt idx="10">
                  <c:v>0.007162877608</c:v>
                </c:pt>
                <c:pt idx="11">
                  <c:v>0.007371007371</c:v>
                </c:pt>
                <c:pt idx="12">
                  <c:v>0.007264957265</c:v>
                </c:pt>
                <c:pt idx="13">
                  <c:v>0.008198697854</c:v>
                </c:pt>
                <c:pt idx="14">
                  <c:v>0.008079102858</c:v>
                </c:pt>
                <c:pt idx="15">
                  <c:v>0.01036991178</c:v>
                </c:pt>
                <c:pt idx="16">
                  <c:v>0.01021671827</c:v>
                </c:pt>
                <c:pt idx="17">
                  <c:v>0.01034969421</c:v>
                </c:pt>
                <c:pt idx="18">
                  <c:v>0.0101944793</c:v>
                </c:pt>
                <c:pt idx="19">
                  <c:v>0.01547619048</c:v>
                </c:pt>
                <c:pt idx="20">
                  <c:v>0.01524172422</c:v>
                </c:pt>
                <c:pt idx="21">
                  <c:v>0.01939981813</c:v>
                </c:pt>
                <c:pt idx="22">
                  <c:v>0.01910248636</c:v>
                </c:pt>
                <c:pt idx="23">
                  <c:v>0.02060170046</c:v>
                </c:pt>
                <c:pt idx="24">
                  <c:v>0.02028132156</c:v>
                </c:pt>
                <c:pt idx="25">
                  <c:v>0.02557755776</c:v>
                </c:pt>
                <c:pt idx="26">
                  <c:v>0.02517540239</c:v>
                </c:pt>
                <c:pt idx="27">
                  <c:v>0.02944015444</c:v>
                </c:pt>
                <c:pt idx="28">
                  <c:v>0.02897151135</c:v>
                </c:pt>
                <c:pt idx="29">
                  <c:v>0.03351955307</c:v>
                </c:pt>
                <c:pt idx="30">
                  <c:v>0.03297931805</c:v>
                </c:pt>
                <c:pt idx="31">
                  <c:v>0.0397574124</c:v>
                </c:pt>
                <c:pt idx="32">
                  <c:v>0.03910991234</c:v>
                </c:pt>
                <c:pt idx="33">
                  <c:v>0.07621550591</c:v>
                </c:pt>
                <c:pt idx="34">
                  <c:v>0.075</c:v>
                </c:pt>
                <c:pt idx="35">
                  <c:v>0.09018987342</c:v>
                </c:pt>
                <c:pt idx="36">
                  <c:v>0.08874801902</c:v>
                </c:pt>
                <c:pt idx="37">
                  <c:v>0.09893992933</c:v>
                </c:pt>
                <c:pt idx="38">
                  <c:v>0.09734513274</c:v>
                </c:pt>
                <c:pt idx="39">
                  <c:v>0.1086956522</c:v>
                </c:pt>
                <c:pt idx="40">
                  <c:v>0.1069306931</c:v>
                </c:pt>
                <c:pt idx="41">
                  <c:v>0.1071428571</c:v>
                </c:pt>
                <c:pt idx="42">
                  <c:v>0.1053677932</c:v>
                </c:pt>
                <c:pt idx="43">
                  <c:v>0.1130063966</c:v>
                </c:pt>
                <c:pt idx="44">
                  <c:v>0.1111111111</c:v>
                </c:pt>
                <c:pt idx="45">
                  <c:v>0.1244019139</c:v>
                </c:pt>
                <c:pt idx="46">
                  <c:v>0.1223021583</c:v>
                </c:pt>
                <c:pt idx="47">
                  <c:v>0.1256157635</c:v>
                </c:pt>
                <c:pt idx="48">
                  <c:v>0.1234567901</c:v>
                </c:pt>
                <c:pt idx="49">
                  <c:v>0.146627566</c:v>
                </c:pt>
                <c:pt idx="50">
                  <c:v>0.1441176471</c:v>
                </c:pt>
                <c:pt idx="51">
                  <c:v>0.1471471471</c:v>
                </c:pt>
                <c:pt idx="52">
                  <c:v>0.1445783133</c:v>
                </c:pt>
                <c:pt idx="53">
                  <c:v>0.1419939577</c:v>
                </c:pt>
                <c:pt idx="54">
                  <c:v>0.1577181208</c:v>
                </c:pt>
                <c:pt idx="55">
                  <c:v>0.1548821549</c:v>
                </c:pt>
                <c:pt idx="56">
                  <c:v>0.1586206897</c:v>
                </c:pt>
                <c:pt idx="57">
                  <c:v>0.1557093426</c:v>
                </c:pt>
                <c:pt idx="58">
                  <c:v>0.1691729323</c:v>
                </c:pt>
                <c:pt idx="59">
                  <c:v>0.1660377358</c:v>
                </c:pt>
                <c:pt idx="60">
                  <c:v>0.1705426357</c:v>
                </c:pt>
                <c:pt idx="61">
                  <c:v>0.1673151751</c:v>
                </c:pt>
                <c:pt idx="62">
                  <c:v>0.171314741</c:v>
                </c:pt>
                <c:pt idx="63">
                  <c:v>0.168</c:v>
                </c:pt>
                <c:pt idx="64">
                  <c:v>0.173553719</c:v>
                </c:pt>
                <c:pt idx="65">
                  <c:v>0.1701244813</c:v>
                </c:pt>
                <c:pt idx="66">
                  <c:v>0.1666666667</c:v>
                </c:pt>
                <c:pt idx="67">
                  <c:v>0.1762114537</c:v>
                </c:pt>
                <c:pt idx="68">
                  <c:v>0.1725663717</c:v>
                </c:pt>
                <c:pt idx="69">
                  <c:v>0.1822429907</c:v>
                </c:pt>
                <c:pt idx="70">
                  <c:v>0.1784037559</c:v>
                </c:pt>
                <c:pt idx="71">
                  <c:v>0.180952381</c:v>
                </c:pt>
                <c:pt idx="72">
                  <c:v>0.1770334928</c:v>
                </c:pt>
                <c:pt idx="73">
                  <c:v>0.1887755102</c:v>
                </c:pt>
                <c:pt idx="74">
                  <c:v>0.1846153846</c:v>
                </c:pt>
                <c:pt idx="75">
                  <c:v>0.1956521739</c:v>
                </c:pt>
                <c:pt idx="76">
                  <c:v>0.1912568306</c:v>
                </c:pt>
                <c:pt idx="77">
                  <c:v>0.2258064516</c:v>
                </c:pt>
                <c:pt idx="78">
                  <c:v>0.2207792208</c:v>
                </c:pt>
                <c:pt idx="79">
                  <c:v>0.2518518519</c:v>
                </c:pt>
                <c:pt idx="80">
                  <c:v>0.2462686567</c:v>
                </c:pt>
                <c:pt idx="81">
                  <c:v>0.2619047619</c:v>
                </c:pt>
                <c:pt idx="82">
                  <c:v>0.256</c:v>
                </c:pt>
                <c:pt idx="83">
                  <c:v>0.2807017544</c:v>
                </c:pt>
                <c:pt idx="84">
                  <c:v>0.2743362832</c:v>
                </c:pt>
                <c:pt idx="85">
                  <c:v>0.2818181818</c:v>
                </c:pt>
                <c:pt idx="86">
                  <c:v>0.2752293578</c:v>
                </c:pt>
                <c:pt idx="87">
                  <c:v>0.297029703</c:v>
                </c:pt>
                <c:pt idx="88">
                  <c:v>0.29</c:v>
                </c:pt>
                <c:pt idx="89">
                  <c:v>0.2828282828</c:v>
                </c:pt>
                <c:pt idx="90">
                  <c:v>0.2857142857</c:v>
                </c:pt>
                <c:pt idx="91">
                  <c:v>0.2783505155</c:v>
                </c:pt>
                <c:pt idx="92">
                  <c:v>0.2872340426</c:v>
                </c:pt>
                <c:pt idx="93">
                  <c:v>0.2795698925</c:v>
                </c:pt>
                <c:pt idx="94">
                  <c:v>0.2857142857</c:v>
                </c:pt>
                <c:pt idx="95">
                  <c:v>0.2777777778</c:v>
                </c:pt>
                <c:pt idx="96">
                  <c:v>0.2873563218</c:v>
                </c:pt>
                <c:pt idx="97">
                  <c:v>0.2790697674</c:v>
                </c:pt>
                <c:pt idx="98">
                  <c:v>0.2857142857</c:v>
                </c:pt>
                <c:pt idx="99">
                  <c:v>0.2771084337</c:v>
                </c:pt>
                <c:pt idx="100">
                  <c:v>0.2875</c:v>
                </c:pt>
                <c:pt idx="101">
                  <c:v>0.2784810127</c:v>
                </c:pt>
                <c:pt idx="102">
                  <c:v>0.2820512821</c:v>
                </c:pt>
                <c:pt idx="103">
                  <c:v>0.2727272727</c:v>
                </c:pt>
                <c:pt idx="104">
                  <c:v>0.2631578947</c:v>
                </c:pt>
                <c:pt idx="105">
                  <c:v>0.2666666667</c:v>
                </c:pt>
                <c:pt idx="106">
                  <c:v>0.2567567568</c:v>
                </c:pt>
                <c:pt idx="107">
                  <c:v>0.2465753425</c:v>
                </c:pt>
                <c:pt idx="108">
                  <c:v>0.2571428571</c:v>
                </c:pt>
                <c:pt idx="109">
                  <c:v>0.2463768116</c:v>
                </c:pt>
                <c:pt idx="110">
                  <c:v>0.2575757576</c:v>
                </c:pt>
                <c:pt idx="111">
                  <c:v>0.2461538462</c:v>
                </c:pt>
                <c:pt idx="112">
                  <c:v>0.234375</c:v>
                </c:pt>
                <c:pt idx="113">
                  <c:v>0.2222222222</c:v>
                </c:pt>
                <c:pt idx="114">
                  <c:v>0.2096774194</c:v>
                </c:pt>
                <c:pt idx="115">
                  <c:v>0.1967213115</c:v>
                </c:pt>
                <c:pt idx="116">
                  <c:v>0.2</c:v>
                </c:pt>
                <c:pt idx="117">
                  <c:v>0.186440678</c:v>
                </c:pt>
                <c:pt idx="118">
                  <c:v>0.1896551724</c:v>
                </c:pt>
                <c:pt idx="119">
                  <c:v>0.1754385965</c:v>
                </c:pt>
                <c:pt idx="120">
                  <c:v>0.1607142857</c:v>
                </c:pt>
                <c:pt idx="121">
                  <c:v>0.1698113208</c:v>
                </c:pt>
                <c:pt idx="122">
                  <c:v>0.1538461538</c:v>
                </c:pt>
                <c:pt idx="123">
                  <c:v>0.1632653061</c:v>
                </c:pt>
                <c:pt idx="124">
                  <c:v>0.1458333333</c:v>
                </c:pt>
                <c:pt idx="125">
                  <c:v>0.1276595745</c:v>
                </c:pt>
                <c:pt idx="126">
                  <c:v>0.1363636364</c:v>
                </c:pt>
                <c:pt idx="127">
                  <c:v>0.1162790698</c:v>
                </c:pt>
                <c:pt idx="128">
                  <c:v>0.1219512195</c:v>
                </c:pt>
                <c:pt idx="129">
                  <c:v>0.1</c:v>
                </c:pt>
                <c:pt idx="130">
                  <c:v>0.1111111111</c:v>
                </c:pt>
                <c:pt idx="131">
                  <c:v>0.08571428571</c:v>
                </c:pt>
                <c:pt idx="132">
                  <c:v>0.09090909091</c:v>
                </c:pt>
                <c:pt idx="133">
                  <c:v>0.0625</c:v>
                </c:pt>
                <c:pt idx="134">
                  <c:v>0.06451612903</c:v>
                </c:pt>
                <c:pt idx="135">
                  <c:v>0.03333333333</c:v>
                </c:pt>
                <c:pt idx="136">
                  <c:v>0</c:v>
                </c:pt>
                <c:pt idx="137">
                  <c:v>0</c:v>
                </c:pt>
                <c:pt idx="138">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3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Precision: fraud among alerts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fraud found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valAx>
      <c:spPr>
        <a:solidFill xmlns:a="http://schemas.openxmlformats.org/drawingml/2006/main">
          <a:srgbClr val="FAFBF9"/>
        </a:solidFill>
      </c:spPr>
    </c:plotArea>
    <c:plotVisOnly val="1"/>
  </c:chart>
  <c:spPr>
    <a:solidFill xmlns:a="http://schemas.openxmlformats.org/drawingml/2006/main">
      <a:srgbClr val="FAFB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135C73-B971-456B-9D03-FD6F22CCD917}"/>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Card fraud triage</a:t>
            </a:r>
          </a:p>
        </p:txBody>
      </p:sp>
      <p:sp>
        <p:nvSpPr>
          <p:cNvPr id="2" name="">
            <a:extLst xmlns:a="http://schemas.openxmlformats.org/drawingml/2006/main">
              <a:ext uri="{FF2B5EF4-FFF2-40B4-BE49-F238E27FC236}">
                <a16:creationId xmlns:a16="http://schemas.microsoft.com/office/drawing/2014/main" id="{084C1822-F421-4A37-9AF7-9308BA67E6A4}"/>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8431E355-90FA-4203-AD53-6E7DBB5D25E8}"/>
              </a:ext>
            </a:extLst>
          </p:cNvPr>
          <p:cNvSpPr>
            <a:spLocks xmlns:a="http://schemas.openxmlformats.org/drawingml/2006/main" noGrp="1"/>
          </p:cNvSpPr>
          <p:nvPr/>
        </p:nvSpPr>
        <p:spPr>
          <a:xfrm xmlns:a="http://schemas.openxmlformats.org/drawingml/2006/main">
            <a:off x="685800" y="20955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24668D"/>
                </a:solidFill>
                <a:latin typeface="Arial"/>
                <a:ea typeface="Arial"/>
                <a:cs typeface="Arial"/>
              </a:defRPr>
            </a:defPPr>
            <a:lvl1pPr>
              <a:defRPr sz="3525" b="1">
                <a:solidFill>
                  <a:srgbClr val="24668D"/>
                </a:solidFill>
                <a:latin typeface="Arial"/>
                <a:ea typeface="Arial"/>
                <a:cs typeface="Arial"/>
              </a:defRPr>
            </a:lvl1pPr>
            <a:lvl2pPr>
              <a:defRPr sz="3525" b="1">
                <a:solidFill>
                  <a:srgbClr val="24668D"/>
                </a:solidFill>
                <a:latin typeface="Arial"/>
                <a:ea typeface="Arial"/>
                <a:cs typeface="Arial"/>
              </a:defRPr>
            </a:lvl2pPr>
            <a:lvl3pPr>
              <a:defRPr sz="3525" b="1">
                <a:solidFill>
                  <a:srgbClr val="24668D"/>
                </a:solidFill>
                <a:latin typeface="Arial"/>
                <a:ea typeface="Arial"/>
                <a:cs typeface="Arial"/>
              </a:defRPr>
            </a:lvl3pPr>
            <a:lvl4pPr>
              <a:defRPr sz="3525" b="1">
                <a:solidFill>
                  <a:srgbClr val="24668D"/>
                </a:solidFill>
                <a:latin typeface="Arial"/>
                <a:ea typeface="Arial"/>
                <a:cs typeface="Arial"/>
              </a:defRPr>
            </a:lvl4pPr>
            <a:lvl5pPr>
              <a:defRPr sz="3525" b="1">
                <a:solidFill>
                  <a:srgbClr val="24668D"/>
                </a:solidFill>
                <a:latin typeface="Arial"/>
                <a:ea typeface="Arial"/>
                <a:cs typeface="Arial"/>
              </a:defRPr>
            </a:lvl5pPr>
            <a:lvl6pPr>
              <a:defRPr sz="3525" b="1">
                <a:solidFill>
                  <a:srgbClr val="24668D"/>
                </a:solidFill>
                <a:latin typeface="Arial"/>
                <a:ea typeface="Arial"/>
                <a:cs typeface="Arial"/>
              </a:defRPr>
            </a:lvl6pPr>
            <a:lvl7pPr>
              <a:defRPr sz="3525" b="1">
                <a:solidFill>
                  <a:srgbClr val="24668D"/>
                </a:solidFill>
                <a:latin typeface="Arial"/>
                <a:ea typeface="Arial"/>
                <a:cs typeface="Arial"/>
              </a:defRPr>
            </a:lvl7pPr>
            <a:lvl8pPr>
              <a:defRPr sz="3525" b="1">
                <a:solidFill>
                  <a:srgbClr val="24668D"/>
                </a:solidFill>
                <a:latin typeface="Arial"/>
                <a:ea typeface="Arial"/>
                <a:cs typeface="Arial"/>
              </a:defRPr>
            </a:lvl8pPr>
            <a:lvl9pPr>
              <a:defRPr sz="3525" b="1">
                <a:solidFill>
                  <a:srgbClr val="24668D"/>
                </a:solidFill>
                <a:latin typeface="Arial"/>
                <a:ea typeface="Arial"/>
                <a:cs typeface="Arial"/>
              </a:defRPr>
            </a:lvl9pPr>
          </a:lstStyle>
          <a:p xmlns:a="http://schemas.openxmlformats.org/drawingml/2006/main">
            <a:pPr>
              <a:defRPr sz="3525" b="1">
                <a:solidFill>
                  <a:srgbClr val="24668D"/>
                </a:solidFill>
                <a:latin typeface="Arial"/>
                <a:ea typeface="Arial"/>
                <a:cs typeface="Arial"/>
              </a:defRPr>
            </a:pPr>
            <a:r>
              <a:rPr sz="3525" b="1">
                <a:solidFill>
                  <a:srgbClr val="24668D"/>
                </a:solidFill>
                <a:latin typeface="Arial"/>
                <a:ea typeface="Arial"/>
                <a:cs typeface="Arial"/>
              </a:rPr>
              <a:t>Learning normal activity with a GMM</a:t>
            </a:r>
          </a:p>
        </p:txBody>
      </p:sp>
      <p:sp>
        <p:nvSpPr>
          <p:cNvPr id="4" name="">
            <a:extLst xmlns:a="http://schemas.openxmlformats.org/drawingml/2006/main">
              <a:ext uri="{FF2B5EF4-FFF2-40B4-BE49-F238E27FC236}">
                <a16:creationId xmlns:a16="http://schemas.microsoft.com/office/drawing/2014/main" id="{0D384D14-B574-4A17-8754-87DE6721903A}"/>
              </a:ext>
            </a:extLst>
          </p:cNvPr>
          <p:cNvSpPr>
            <a:spLocks xmlns:a="http://schemas.openxmlformats.org/drawingml/2006/main" noGrp="1"/>
          </p:cNvSpPr>
          <p:nvPr/>
        </p:nvSpPr>
        <p:spPr>
          <a:xfrm xmlns:a="http://schemas.openxmlformats.org/drawingml/2006/main">
            <a:off x="685800" y="33813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Our goal: decide which transactions a person should review first.</a:t>
            </a:r>
          </a:p>
        </p:txBody>
      </p:sp>
      <p:sp>
        <p:nvSpPr>
          <p:cNvPr id="5" name="">
            <a:extLst xmlns:a="http://schemas.openxmlformats.org/drawingml/2006/main">
              <a:ext uri="{FF2B5EF4-FFF2-40B4-BE49-F238E27FC236}">
                <a16:creationId xmlns:a16="http://schemas.microsoft.com/office/drawing/2014/main" id="{A65B0146-DC17-4A07-96A3-CE4646397F38}"/>
              </a:ext>
            </a:extLst>
          </p:cNvPr>
          <p:cNvSpPr>
            <a:spLocks xmlns:a="http://schemas.openxmlformats.org/drawingml/2006/main" noGrp="1"/>
          </p:cNvSpPr>
          <p:nvPr/>
        </p:nvSpPr>
        <p:spPr>
          <a:xfrm xmlns:a="http://schemas.openxmlformats.org/drawingml/2006/main">
            <a:off x="685800" y="5000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E6472"/>
                </a:solidFill>
                <a:latin typeface="Arial"/>
                <a:ea typeface="Arial"/>
                <a:cs typeface="Arial"/>
              </a:defRPr>
            </a:defPPr>
            <a:lvl1pPr>
              <a:defRPr sz="2175" b="0">
                <a:solidFill>
                  <a:srgbClr val="4E6472"/>
                </a:solidFill>
                <a:latin typeface="Arial"/>
                <a:ea typeface="Arial"/>
                <a:cs typeface="Arial"/>
              </a:defRPr>
            </a:lvl1pPr>
            <a:lvl2pPr>
              <a:defRPr sz="2175" b="0">
                <a:solidFill>
                  <a:srgbClr val="4E6472"/>
                </a:solidFill>
                <a:latin typeface="Arial"/>
                <a:ea typeface="Arial"/>
                <a:cs typeface="Arial"/>
              </a:defRPr>
            </a:lvl2pPr>
            <a:lvl3pPr>
              <a:defRPr sz="2175" b="0">
                <a:solidFill>
                  <a:srgbClr val="4E6472"/>
                </a:solidFill>
                <a:latin typeface="Arial"/>
                <a:ea typeface="Arial"/>
                <a:cs typeface="Arial"/>
              </a:defRPr>
            </a:lvl3pPr>
            <a:lvl4pPr>
              <a:defRPr sz="2175" b="0">
                <a:solidFill>
                  <a:srgbClr val="4E6472"/>
                </a:solidFill>
                <a:latin typeface="Arial"/>
                <a:ea typeface="Arial"/>
                <a:cs typeface="Arial"/>
              </a:defRPr>
            </a:lvl4pPr>
            <a:lvl5pPr>
              <a:defRPr sz="2175" b="0">
                <a:solidFill>
                  <a:srgbClr val="4E6472"/>
                </a:solidFill>
                <a:latin typeface="Arial"/>
                <a:ea typeface="Arial"/>
                <a:cs typeface="Arial"/>
              </a:defRPr>
            </a:lvl5pPr>
            <a:lvl6pPr>
              <a:defRPr sz="2175" b="0">
                <a:solidFill>
                  <a:srgbClr val="4E6472"/>
                </a:solidFill>
                <a:latin typeface="Arial"/>
                <a:ea typeface="Arial"/>
                <a:cs typeface="Arial"/>
              </a:defRPr>
            </a:lvl6pPr>
            <a:lvl7pPr>
              <a:defRPr sz="2175" b="0">
                <a:solidFill>
                  <a:srgbClr val="4E6472"/>
                </a:solidFill>
                <a:latin typeface="Arial"/>
                <a:ea typeface="Arial"/>
                <a:cs typeface="Arial"/>
              </a:defRPr>
            </a:lvl7pPr>
            <a:lvl8pPr>
              <a:defRPr sz="2175" b="0">
                <a:solidFill>
                  <a:srgbClr val="4E6472"/>
                </a:solidFill>
                <a:latin typeface="Arial"/>
                <a:ea typeface="Arial"/>
                <a:cs typeface="Arial"/>
              </a:defRPr>
            </a:lvl8pPr>
            <a:lvl9pPr>
              <a:defRPr sz="2175" b="0">
                <a:solidFill>
                  <a:srgbClr val="4E6472"/>
                </a:solidFill>
                <a:latin typeface="Arial"/>
                <a:ea typeface="Arial"/>
                <a:cs typeface="Arial"/>
              </a:defRPr>
            </a:lvl9pPr>
          </a:lstStyle>
          <a:p xmlns:a="http://schemas.openxmlformats.org/drawingml/2006/main">
            <a:pPr>
              <a:defRPr sz="2175" b="0">
                <a:solidFill>
                  <a:srgbClr val="4E6472"/>
                </a:solidFill>
                <a:latin typeface="Arial"/>
                <a:ea typeface="Arial"/>
                <a:cs typeface="Arial"/>
              </a:defRPr>
            </a:pPr>
            <a:r>
              <a:rPr sz="2175" b="0">
                <a:solidFill>
                  <a:srgbClr val="4E6472"/>
                </a:solidFill>
                <a:latin typeface="Arial"/>
                <a:ea typeface="Arial"/>
                <a:cs typeface="Arial"/>
              </a:rPr>
              <a:t>Phase 1 only. Team T011, Section A, Project 26.</a:t>
            </a:r>
          </a:p>
        </p:txBody>
      </p:sp>
    </p:spTree>
    <p:extLst>
      <p:ext uri="{BB962C8B-B14F-4D97-AF65-F5344CB8AC3E}">
        <p14:creationId xmlns:p14="http://schemas.microsoft.com/office/powerpoint/2010/main" val="2050929484"/>
      </p:ext>
    </p:extLst>
  </p:cSld>
</p:sld>
</file>

<file path=ppt/slides/slide2.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F9CBE6-9032-4B99-BA9A-429D1473F84C}"/>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data and the three time periods</a:t>
            </a:r>
          </a:p>
        </p:txBody>
      </p:sp>
      <p:sp>
        <p:nvSpPr>
          <p:cNvPr id="2" name="">
            <a:extLst xmlns:a="http://schemas.openxmlformats.org/drawingml/2006/main">
              <a:ext uri="{FF2B5EF4-FFF2-40B4-BE49-F238E27FC236}">
                <a16:creationId xmlns:a16="http://schemas.microsoft.com/office/drawing/2014/main" id="{4E11D317-B7A7-4EDF-9470-E9CEE0D113AA}"/>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FB509EBB-644A-454F-AAC9-4545EAE66765}"/>
              </a:ext>
            </a:extLst>
          </p:cNvPr>
          <p:cNvSpPr>
            <a:spLocks xmlns:a="http://schemas.openxmlformats.org/drawingml/2006/main" noGrp="1"/>
          </p:cNvSpPr>
          <p:nvPr/>
        </p:nvSpPr>
        <p:spPr>
          <a:xfrm xmlns:a="http://schemas.openxmlformats.org/drawingml/2006/main">
            <a:off x="685800" y="14287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283,726 transactions after removing exact repeats. Class 0 = legitimate, 1 = fraud.</a:t>
            </a:r>
          </a:p>
        </p:txBody>
      </p:sp>
      <p:graphicFrame>
        <p:nvGraphicFramePr>
          <p:cNvPr id="4" name="">
            <a:extLst xmlns:a="http://schemas.openxmlformats.org/drawingml/2006/main">
              <a:ext uri="{FF2B5EF4-FFF2-40B4-BE49-F238E27FC236}">
                <a16:creationId xmlns:a16="http://schemas.microsoft.com/office/drawing/2014/main" id="{D14B114E-F13E-406D-BF54-7587B382F306}"/>
              </a:ext>
            </a:extLst>
          </p:cNvPr>
          <p:cNvGraphicFramePr/>
          <p:nvPr/>
        </p:nvGraphicFramePr>
        <p:xfrm>
          <a:off xmlns:a="http://schemas.openxmlformats.org/drawingml/2006/main" x="685800" y="2428875"/>
          <a:ext xmlns:a="http://schemas.openxmlformats.org/drawingml/2006/main" cx="10572750" cy="2667000"/>
        </p:xfrm>
        <a:graphic xmlns:a="http://schemas.openxmlformats.org/drawingml/2006/main">
          <a:graphicData uri="http://schemas.openxmlformats.org/drawingml/2006/table">
            <a:tbl>
              <a:tblPr/>
              <a:tblGrid>
                <a:gridCol w="3714750"/>
                <a:gridCol w="3714750"/>
                <a:gridCol w="3143250"/>
              </a:tblGrid>
              <a:tr h="666750">
                <a:tc>
                  <a:txBody>
                    <a:bodyPr/>
                    <a:lstStyle/>
                    <a:p>
                      <a:r>
                        <a:rPr sz="2025" b="1">
                          <a:solidFill>
                            <a:srgbClr val="FFFFFF"/>
                          </a:solidFill>
                          <a:latin typeface="Arial"/>
                          <a:ea typeface="Arial"/>
                          <a:cs typeface="Arial"/>
                        </a:rPr>
                        <a:t>Period</a:t>
                      </a:r>
                    </a:p>
                  </a:txBody>
                  <a:tcPr marL="133350" marR="114300" marT="95250" marB="95250">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Transactions</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Frauds</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666750">
                <a:tc>
                  <a:txBody>
                    <a:bodyPr/>
                    <a:lstStyle/>
                    <a:p>
                      <a:r>
                        <a:rPr sz="2025">
                          <a:solidFill>
                            <a:srgbClr val="173447"/>
                          </a:solidFill>
                          <a:latin typeface="Arial"/>
                          <a:ea typeface="Arial"/>
                          <a:cs typeface="Arial"/>
                        </a:rPr>
                        <a:t>Training</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170,235</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342</a:t>
                      </a:r>
                    </a:p>
                  </a:txBody>
                  <a:tcPr marL="133350" marR="114300" marT="95250" marB="95250">
                    <a:lnR w="9525">
                      <a:solidFill>
                        <a:srgbClr val="DDE3E7"/>
                      </a:solidFill>
                      <a:prstDash val="solid"/>
                    </a:lnR>
                    <a:lnB w="9525">
                      <a:solidFill>
                        <a:srgbClr val="DDE3E7"/>
                      </a:solidFill>
                      <a:prstDash val="solid"/>
                    </a:lnB>
                  </a:tcPr>
                </a:tc>
              </a:tr>
              <a:tr h="666750">
                <a:tc>
                  <a:txBody>
                    <a:bodyPr/>
                    <a:lstStyle/>
                    <a:p>
                      <a:r>
                        <a:rPr sz="2025">
                          <a:solidFill>
                            <a:srgbClr val="173447"/>
                          </a:solidFill>
                          <a:latin typeface="Arial"/>
                          <a:ea typeface="Arial"/>
                          <a:cs typeface="Arial"/>
                        </a:rPr>
                        <a:t>Validation</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56,745</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57</a:t>
                      </a:r>
                    </a:p>
                  </a:txBody>
                  <a:tcPr marL="133350" marR="114300" marT="95250" marB="95250">
                    <a:lnR w="9525">
                      <a:solidFill>
                        <a:srgbClr val="DDE3E7"/>
                      </a:solidFill>
                      <a:prstDash val="solid"/>
                    </a:lnR>
                    <a:lnB w="9525">
                      <a:solidFill>
                        <a:srgbClr val="DDE3E7"/>
                      </a:solidFill>
                      <a:prstDash val="solid"/>
                    </a:lnB>
                  </a:tcPr>
                </a:tc>
              </a:tr>
              <a:tr h="666750">
                <a:tc>
                  <a:txBody>
                    <a:bodyPr/>
                    <a:lstStyle/>
                    <a:p>
                      <a:r>
                        <a:rPr sz="2025">
                          <a:solidFill>
                            <a:srgbClr val="173447"/>
                          </a:solidFill>
                          <a:latin typeface="Arial"/>
                          <a:ea typeface="Arial"/>
                          <a:cs typeface="Arial"/>
                        </a:rPr>
                        <a:t>Test</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56,746</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74</a:t>
                      </a:r>
                    </a:p>
                  </a:txBody>
                  <a:tcPr marL="133350" marR="114300" marT="95250" marB="95250">
                    <a:lnR w="9525">
                      <a:solidFill>
                        <a:srgbClr val="DDE3E7"/>
                      </a:solidFill>
                      <a:prstDash val="solid"/>
                    </a:lnR>
                    <a:lnB w="9525">
                      <a:solidFill>
                        <a:srgbClr val="DDE3E7"/>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A1E0481D-5FDA-485B-A23D-DBC5FF0AFFD3}"/>
              </a:ext>
            </a:extLst>
          </p:cNvPr>
          <p:cNvSpPr>
            <a:spLocks xmlns:a="http://schemas.openxmlformats.org/drawingml/2006/main" noGrp="1"/>
          </p:cNvSpPr>
          <p:nvPr/>
        </p:nvSpPr>
        <p:spPr>
          <a:xfrm xmlns:a="http://schemas.openxmlformats.org/drawingml/2006/main">
            <a:off x="685800" y="5410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Only 169,893 legitimate training rows teach the model.</a:t>
            </a:r>
          </a:p>
        </p:txBody>
      </p:sp>
    </p:spTree>
    <p:extLst>
      <p:ext uri="{BB962C8B-B14F-4D97-AF65-F5344CB8AC3E}">
        <p14:creationId xmlns:p14="http://schemas.microsoft.com/office/powerpoint/2010/main" val="1231038084"/>
      </p:ext>
    </p:extLst>
  </p:cSld>
</p:sld>
</file>

<file path=ppt/slides/slide3.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1CC606-2C1F-4B28-AAF3-CE468B6E914D}"/>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29 inputs</a:t>
            </a:r>
          </a:p>
        </p:txBody>
      </p:sp>
      <p:sp>
        <p:nvSpPr>
          <p:cNvPr id="2" name="">
            <a:extLst xmlns:a="http://schemas.openxmlformats.org/drawingml/2006/main">
              <a:ext uri="{FF2B5EF4-FFF2-40B4-BE49-F238E27FC236}">
                <a16:creationId xmlns:a16="http://schemas.microsoft.com/office/drawing/2014/main" id="{6CE05564-7FF9-4B68-A4E3-5061DDF46BF6}"/>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041FB36A-7F5F-49F6-B65B-F0A140BB7CF3}"/>
              </a:ext>
            </a:extLst>
          </p:cNvPr>
          <p:cNvSpPr>
            <a:spLocks xmlns:a="http://schemas.openxmlformats.org/drawingml/2006/main" noGrp="1"/>
          </p:cNvSpPr>
          <p:nvPr/>
        </p:nvSpPr>
        <p:spPr>
          <a:xfrm xmlns:a="http://schemas.openxmlformats.org/drawingml/2006/main">
            <a:off x="685800" y="161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24668D"/>
                </a:solidFill>
                <a:latin typeface="Arial"/>
                <a:ea typeface="Arial"/>
                <a:cs typeface="Arial"/>
              </a:defRPr>
            </a:defPPr>
            <a:lvl1pPr>
              <a:defRPr sz="2625" b="0">
                <a:solidFill>
                  <a:srgbClr val="24668D"/>
                </a:solidFill>
                <a:latin typeface="Arial"/>
                <a:ea typeface="Arial"/>
                <a:cs typeface="Arial"/>
              </a:defRPr>
            </a:lvl1pPr>
            <a:lvl2pPr>
              <a:defRPr sz="2625" b="0">
                <a:solidFill>
                  <a:srgbClr val="24668D"/>
                </a:solidFill>
                <a:latin typeface="Arial"/>
                <a:ea typeface="Arial"/>
                <a:cs typeface="Arial"/>
              </a:defRPr>
            </a:lvl2pPr>
            <a:lvl3pPr>
              <a:defRPr sz="2625" b="0">
                <a:solidFill>
                  <a:srgbClr val="24668D"/>
                </a:solidFill>
                <a:latin typeface="Arial"/>
                <a:ea typeface="Arial"/>
                <a:cs typeface="Arial"/>
              </a:defRPr>
            </a:lvl3pPr>
            <a:lvl4pPr>
              <a:defRPr sz="2625" b="0">
                <a:solidFill>
                  <a:srgbClr val="24668D"/>
                </a:solidFill>
                <a:latin typeface="Arial"/>
                <a:ea typeface="Arial"/>
                <a:cs typeface="Arial"/>
              </a:defRPr>
            </a:lvl4pPr>
            <a:lvl5pPr>
              <a:defRPr sz="2625" b="0">
                <a:solidFill>
                  <a:srgbClr val="24668D"/>
                </a:solidFill>
                <a:latin typeface="Arial"/>
                <a:ea typeface="Arial"/>
                <a:cs typeface="Arial"/>
              </a:defRPr>
            </a:lvl5pPr>
            <a:lvl6pPr>
              <a:defRPr sz="2625" b="0">
                <a:solidFill>
                  <a:srgbClr val="24668D"/>
                </a:solidFill>
                <a:latin typeface="Arial"/>
                <a:ea typeface="Arial"/>
                <a:cs typeface="Arial"/>
              </a:defRPr>
            </a:lvl6pPr>
            <a:lvl7pPr>
              <a:defRPr sz="2625" b="0">
                <a:solidFill>
                  <a:srgbClr val="24668D"/>
                </a:solidFill>
                <a:latin typeface="Arial"/>
                <a:ea typeface="Arial"/>
                <a:cs typeface="Arial"/>
              </a:defRPr>
            </a:lvl7pPr>
            <a:lvl8pPr>
              <a:defRPr sz="2625" b="0">
                <a:solidFill>
                  <a:srgbClr val="24668D"/>
                </a:solidFill>
                <a:latin typeface="Arial"/>
                <a:ea typeface="Arial"/>
                <a:cs typeface="Arial"/>
              </a:defRPr>
            </a:lvl8pPr>
            <a:lvl9pPr>
              <a:defRPr sz="2625" b="0">
                <a:solidFill>
                  <a:srgbClr val="24668D"/>
                </a:solidFill>
                <a:latin typeface="Arial"/>
                <a:ea typeface="Arial"/>
                <a:cs typeface="Arial"/>
              </a:defRPr>
            </a:lvl9pPr>
          </a:lstStyle>
          <a:p xmlns:a="http://schemas.openxmlformats.org/drawingml/2006/main">
            <a:pPr>
              <a:defRPr sz="2625" b="0">
                <a:solidFill>
                  <a:srgbClr val="24668D"/>
                </a:solidFill>
                <a:latin typeface="Arial"/>
                <a:ea typeface="Arial"/>
                <a:cs typeface="Arial"/>
              </a:defRPr>
            </a:pPr>
            <a:r>
              <a:rPr sz="2625" b="0">
                <a:solidFill>
                  <a:srgbClr val="24668D"/>
                </a:solidFill>
                <a:latin typeface="Arial"/>
                <a:ea typeface="Arial"/>
                <a:cs typeface="Arial"/>
              </a:rPr>
              <a:t>V1-V28 plus LogAmount = log(1 + Amount)</a:t>
            </a:r>
          </a:p>
        </p:txBody>
      </p:sp>
      <p:sp>
        <p:nvSpPr>
          <p:cNvPr id="4" name="">
            <a:extLst xmlns:a="http://schemas.openxmlformats.org/drawingml/2006/main">
              <a:ext uri="{FF2B5EF4-FFF2-40B4-BE49-F238E27FC236}">
                <a16:creationId xmlns:a16="http://schemas.microsoft.com/office/drawing/2014/main" id="{EDCE1195-EA78-4C80-8DEF-3B07D5F54B1A}"/>
              </a:ext>
            </a:extLst>
          </p:cNvPr>
          <p:cNvSpPr>
            <a:spLocks xmlns:a="http://schemas.openxmlformats.org/drawingml/2006/main" noGrp="1"/>
          </p:cNvSpPr>
          <p:nvPr/>
        </p:nvSpPr>
        <p:spPr>
          <a:xfrm xmlns:a="http://schemas.openxmlformats.org/drawingml/2006/main">
            <a:off x="685800" y="26670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447"/>
                </a:solidFill>
                <a:latin typeface="Arial"/>
                <a:ea typeface="Arial"/>
                <a:cs typeface="Arial"/>
              </a:defRPr>
            </a:defPPr>
            <a:lvl1pPr>
              <a:defRPr sz="2175" b="0">
                <a:solidFill>
                  <a:srgbClr val="173447"/>
                </a:solidFill>
                <a:latin typeface="Arial"/>
                <a:ea typeface="Arial"/>
                <a:cs typeface="Arial"/>
              </a:defRPr>
            </a:lvl1pPr>
            <a:lvl2pPr>
              <a:defRPr sz="2175" b="0">
                <a:solidFill>
                  <a:srgbClr val="173447"/>
                </a:solidFill>
                <a:latin typeface="Arial"/>
                <a:ea typeface="Arial"/>
                <a:cs typeface="Arial"/>
              </a:defRPr>
            </a:lvl2pPr>
            <a:lvl3pPr>
              <a:defRPr sz="2175" b="0">
                <a:solidFill>
                  <a:srgbClr val="173447"/>
                </a:solidFill>
                <a:latin typeface="Arial"/>
                <a:ea typeface="Arial"/>
                <a:cs typeface="Arial"/>
              </a:defRPr>
            </a:lvl3pPr>
            <a:lvl4pPr>
              <a:defRPr sz="2175" b="0">
                <a:solidFill>
                  <a:srgbClr val="173447"/>
                </a:solidFill>
                <a:latin typeface="Arial"/>
                <a:ea typeface="Arial"/>
                <a:cs typeface="Arial"/>
              </a:defRPr>
            </a:lvl4pPr>
            <a:lvl5pPr>
              <a:defRPr sz="2175" b="0">
                <a:solidFill>
                  <a:srgbClr val="173447"/>
                </a:solidFill>
                <a:latin typeface="Arial"/>
                <a:ea typeface="Arial"/>
                <a:cs typeface="Arial"/>
              </a:defRPr>
            </a:lvl5pPr>
            <a:lvl6pPr>
              <a:defRPr sz="2175" b="0">
                <a:solidFill>
                  <a:srgbClr val="173447"/>
                </a:solidFill>
                <a:latin typeface="Arial"/>
                <a:ea typeface="Arial"/>
                <a:cs typeface="Arial"/>
              </a:defRPr>
            </a:lvl6pPr>
            <a:lvl7pPr>
              <a:defRPr sz="2175" b="0">
                <a:solidFill>
                  <a:srgbClr val="173447"/>
                </a:solidFill>
                <a:latin typeface="Arial"/>
                <a:ea typeface="Arial"/>
                <a:cs typeface="Arial"/>
              </a:defRPr>
            </a:lvl7pPr>
            <a:lvl8pPr>
              <a:defRPr sz="2175" b="0">
                <a:solidFill>
                  <a:srgbClr val="173447"/>
                </a:solidFill>
                <a:latin typeface="Arial"/>
                <a:ea typeface="Arial"/>
                <a:cs typeface="Arial"/>
              </a:defRPr>
            </a:lvl8pPr>
            <a:lvl9pPr>
              <a:defRPr sz="2175" b="0">
                <a:solidFill>
                  <a:srgbClr val="173447"/>
                </a:solidFill>
                <a:latin typeface="Arial"/>
                <a:ea typeface="Arial"/>
                <a:cs typeface="Arial"/>
              </a:defRPr>
            </a:lvl9pPr>
          </a:lstStyle>
          <a:p xmlns:a="http://schemas.openxmlformats.org/drawingml/2006/main">
            <a:pPr>
              <a:defRPr sz="2175" b="0">
                <a:solidFill>
                  <a:srgbClr val="173447"/>
                </a:solidFill>
                <a:latin typeface="Arial"/>
                <a:ea typeface="Arial"/>
                <a:cs typeface="Arial"/>
              </a:defRPr>
            </a:pPr>
            <a:r>
              <a:rPr sz="2175" b="0">
                <a:solidFill>
                  <a:srgbClr val="173447"/>
                </a:solidFill>
                <a:latin typeface="Arial"/>
                <a:ea typeface="Arial"/>
                <a:cs typeface="Arial"/>
              </a:rPr>
              <a:t>Example of the transform: Amount 9 becomes 2.30; 999 becomes 6.91.</a:t>
            </a:r>
          </a:p>
        </p:txBody>
      </p:sp>
      <p:sp>
        <p:nvSpPr>
          <p:cNvPr id="5" name="">
            <a:extLst xmlns:a="http://schemas.openxmlformats.org/drawingml/2006/main">
              <a:ext uri="{FF2B5EF4-FFF2-40B4-BE49-F238E27FC236}">
                <a16:creationId xmlns:a16="http://schemas.microsoft.com/office/drawing/2014/main" id="{868D0410-311A-4A06-885A-518E4CA9B67F}"/>
              </a:ext>
            </a:extLst>
          </p:cNvPr>
          <p:cNvSpPr>
            <a:spLocks xmlns:a="http://schemas.openxmlformats.org/drawingml/2006/main" noGrp="1"/>
          </p:cNvSpPr>
          <p:nvPr/>
        </p:nvSpPr>
        <p:spPr>
          <a:xfrm xmlns:a="http://schemas.openxmlformats.org/drawingml/2006/main">
            <a:off x="685800" y="3714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Scale each input using the legitimate training mean and standard deviation.</a:t>
            </a:r>
          </a:p>
        </p:txBody>
      </p:sp>
      <p:sp>
        <p:nvSpPr>
          <p:cNvPr id="6" name="">
            <a:extLst xmlns:a="http://schemas.openxmlformats.org/drawingml/2006/main">
              <a:ext uri="{FF2B5EF4-FFF2-40B4-BE49-F238E27FC236}">
                <a16:creationId xmlns:a16="http://schemas.microsoft.com/office/drawing/2014/main" id="{B21AD8EC-2079-4628-A475-B7338934D3EE}"/>
              </a:ext>
            </a:extLst>
          </p:cNvPr>
          <p:cNvSpPr>
            <a:spLocks xmlns:a="http://schemas.openxmlformats.org/drawingml/2006/main" noGrp="1"/>
          </p:cNvSpPr>
          <p:nvPr/>
        </p:nvSpPr>
        <p:spPr>
          <a:xfrm xmlns:a="http://schemas.openxmlformats.org/drawingml/2006/main">
            <a:off x="6858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E6472"/>
                </a:solidFill>
                <a:latin typeface="Arial"/>
                <a:ea typeface="Arial"/>
                <a:cs typeface="Arial"/>
              </a:defRPr>
            </a:defPPr>
            <a:lvl1pPr>
              <a:defRPr sz="2175" b="0">
                <a:solidFill>
                  <a:srgbClr val="4E6472"/>
                </a:solidFill>
                <a:latin typeface="Arial"/>
                <a:ea typeface="Arial"/>
                <a:cs typeface="Arial"/>
              </a:defRPr>
            </a:lvl1pPr>
            <a:lvl2pPr>
              <a:defRPr sz="2175" b="0">
                <a:solidFill>
                  <a:srgbClr val="4E6472"/>
                </a:solidFill>
                <a:latin typeface="Arial"/>
                <a:ea typeface="Arial"/>
                <a:cs typeface="Arial"/>
              </a:defRPr>
            </a:lvl2pPr>
            <a:lvl3pPr>
              <a:defRPr sz="2175" b="0">
                <a:solidFill>
                  <a:srgbClr val="4E6472"/>
                </a:solidFill>
                <a:latin typeface="Arial"/>
                <a:ea typeface="Arial"/>
                <a:cs typeface="Arial"/>
              </a:defRPr>
            </a:lvl3pPr>
            <a:lvl4pPr>
              <a:defRPr sz="2175" b="0">
                <a:solidFill>
                  <a:srgbClr val="4E6472"/>
                </a:solidFill>
                <a:latin typeface="Arial"/>
                <a:ea typeface="Arial"/>
                <a:cs typeface="Arial"/>
              </a:defRPr>
            </a:lvl4pPr>
            <a:lvl5pPr>
              <a:defRPr sz="2175" b="0">
                <a:solidFill>
                  <a:srgbClr val="4E6472"/>
                </a:solidFill>
                <a:latin typeface="Arial"/>
                <a:ea typeface="Arial"/>
                <a:cs typeface="Arial"/>
              </a:defRPr>
            </a:lvl5pPr>
            <a:lvl6pPr>
              <a:defRPr sz="2175" b="0">
                <a:solidFill>
                  <a:srgbClr val="4E6472"/>
                </a:solidFill>
                <a:latin typeface="Arial"/>
                <a:ea typeface="Arial"/>
                <a:cs typeface="Arial"/>
              </a:defRPr>
            </a:lvl6pPr>
            <a:lvl7pPr>
              <a:defRPr sz="2175" b="0">
                <a:solidFill>
                  <a:srgbClr val="4E6472"/>
                </a:solidFill>
                <a:latin typeface="Arial"/>
                <a:ea typeface="Arial"/>
                <a:cs typeface="Arial"/>
              </a:defRPr>
            </a:lvl7pPr>
            <a:lvl8pPr>
              <a:defRPr sz="2175" b="0">
                <a:solidFill>
                  <a:srgbClr val="4E6472"/>
                </a:solidFill>
                <a:latin typeface="Arial"/>
                <a:ea typeface="Arial"/>
                <a:cs typeface="Arial"/>
              </a:defRPr>
            </a:lvl8pPr>
            <a:lvl9pPr>
              <a:defRPr sz="2175" b="0">
                <a:solidFill>
                  <a:srgbClr val="4E6472"/>
                </a:solidFill>
                <a:latin typeface="Arial"/>
                <a:ea typeface="Arial"/>
                <a:cs typeface="Arial"/>
              </a:defRPr>
            </a:lvl9pPr>
          </a:lstStyle>
          <a:p xmlns:a="http://schemas.openxmlformats.org/drawingml/2006/main">
            <a:pPr>
              <a:defRPr sz="2175" b="0">
                <a:solidFill>
                  <a:srgbClr val="4E6472"/>
                </a:solidFill>
                <a:latin typeface="Arial"/>
                <a:ea typeface="Arial"/>
                <a:cs typeface="Arial"/>
              </a:defRPr>
            </a:pPr>
            <a:r>
              <a:rPr sz="2175" b="0">
                <a:solidFill>
                  <a:srgbClr val="4E6472"/>
                </a:solidFill>
                <a:latin typeface="Arial"/>
                <a:ea typeface="Arial"/>
                <a:cs typeface="Arial"/>
              </a:rPr>
              <a:t>Keep Class out of the inputs. Use Time for splitting.</a:t>
            </a:r>
          </a:p>
        </p:txBody>
      </p:sp>
    </p:spTree>
    <p:extLst>
      <p:ext uri="{BB962C8B-B14F-4D97-AF65-F5344CB8AC3E}">
        <p14:creationId xmlns:p14="http://schemas.microsoft.com/office/powerpoint/2010/main" val="966392085"/>
      </p:ext>
    </p:extLst>
  </p:cSld>
</p:sld>
</file>

<file path=ppt/slides/slide4.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37BA3D-61CC-4E3E-8433-9C2A76FAA563}"/>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How the GMM learns</a:t>
            </a:r>
          </a:p>
        </p:txBody>
      </p:sp>
      <p:sp>
        <p:nvSpPr>
          <p:cNvPr id="2" name="">
            <a:extLst xmlns:a="http://schemas.openxmlformats.org/drawingml/2006/main">
              <a:ext uri="{FF2B5EF4-FFF2-40B4-BE49-F238E27FC236}">
                <a16:creationId xmlns:a16="http://schemas.microsoft.com/office/drawing/2014/main" id="{78C2B471-C3BA-4C7C-AEFF-D9B0E68D4ADA}"/>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4</a:t>
            </a:r>
          </a:p>
        </p:txBody>
      </p:sp>
      <p:sp>
        <p:nvSpPr>
          <p:cNvPr id="3" name="">
            <a:extLst xmlns:a="http://schemas.openxmlformats.org/drawingml/2006/main">
              <a:ext uri="{FF2B5EF4-FFF2-40B4-BE49-F238E27FC236}">
                <a16:creationId xmlns:a16="http://schemas.microsoft.com/office/drawing/2014/main" id="{2B21F12A-15F5-46B9-BB5A-612D3685F751}"/>
              </a:ext>
            </a:extLst>
          </p:cNvPr>
          <p:cNvSpPr>
            <a:spLocks xmlns:a="http://schemas.openxmlformats.org/drawingml/2006/main" noGrp="1"/>
          </p:cNvSpPr>
          <p:nvPr/>
        </p:nvSpPr>
        <p:spPr>
          <a:xfrm xmlns:a="http://schemas.openxmlformats.org/drawingml/2006/main">
            <a:off x="685800" y="161925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A Gaussian describes a bell-shaped pattern with a center and spread.</a:t>
            </a:r>
          </a:p>
        </p:txBody>
      </p:sp>
      <p:sp>
        <p:nvSpPr>
          <p:cNvPr id="4" name="">
            <a:extLst xmlns:a="http://schemas.openxmlformats.org/drawingml/2006/main">
              <a:ext uri="{FF2B5EF4-FFF2-40B4-BE49-F238E27FC236}">
                <a16:creationId xmlns:a16="http://schemas.microsoft.com/office/drawing/2014/main" id="{E69850D4-D9F9-4BB9-8EF1-7452B40BA2E6}"/>
              </a:ext>
            </a:extLst>
          </p:cNvPr>
          <p:cNvSpPr>
            <a:spLocks xmlns:a="http://schemas.openxmlformats.org/drawingml/2006/main" noGrp="1"/>
          </p:cNvSpPr>
          <p:nvPr/>
        </p:nvSpPr>
        <p:spPr>
          <a:xfrm xmlns:a="http://schemas.openxmlformats.org/drawingml/2006/main">
            <a:off x="685800" y="2667000"/>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447"/>
                </a:solidFill>
                <a:latin typeface="Arial"/>
                <a:ea typeface="Arial"/>
                <a:cs typeface="Arial"/>
              </a:defRPr>
            </a:defPPr>
            <a:lvl1pPr>
              <a:defRPr sz="2475" b="0">
                <a:solidFill>
                  <a:srgbClr val="173447"/>
                </a:solidFill>
                <a:latin typeface="Arial"/>
                <a:ea typeface="Arial"/>
                <a:cs typeface="Arial"/>
              </a:defRPr>
            </a:lvl1pPr>
            <a:lvl2pPr>
              <a:defRPr sz="2475" b="0">
                <a:solidFill>
                  <a:srgbClr val="173447"/>
                </a:solidFill>
                <a:latin typeface="Arial"/>
                <a:ea typeface="Arial"/>
                <a:cs typeface="Arial"/>
              </a:defRPr>
            </a:lvl2pPr>
            <a:lvl3pPr>
              <a:defRPr sz="2475" b="0">
                <a:solidFill>
                  <a:srgbClr val="173447"/>
                </a:solidFill>
                <a:latin typeface="Arial"/>
                <a:ea typeface="Arial"/>
                <a:cs typeface="Arial"/>
              </a:defRPr>
            </a:lvl3pPr>
            <a:lvl4pPr>
              <a:defRPr sz="2475" b="0">
                <a:solidFill>
                  <a:srgbClr val="173447"/>
                </a:solidFill>
                <a:latin typeface="Arial"/>
                <a:ea typeface="Arial"/>
                <a:cs typeface="Arial"/>
              </a:defRPr>
            </a:lvl4pPr>
            <a:lvl5pPr>
              <a:defRPr sz="2475" b="0">
                <a:solidFill>
                  <a:srgbClr val="173447"/>
                </a:solidFill>
                <a:latin typeface="Arial"/>
                <a:ea typeface="Arial"/>
                <a:cs typeface="Arial"/>
              </a:defRPr>
            </a:lvl5pPr>
            <a:lvl6pPr>
              <a:defRPr sz="2475" b="0">
                <a:solidFill>
                  <a:srgbClr val="173447"/>
                </a:solidFill>
                <a:latin typeface="Arial"/>
                <a:ea typeface="Arial"/>
                <a:cs typeface="Arial"/>
              </a:defRPr>
            </a:lvl6pPr>
            <a:lvl7pPr>
              <a:defRPr sz="2475" b="0">
                <a:solidFill>
                  <a:srgbClr val="173447"/>
                </a:solidFill>
                <a:latin typeface="Arial"/>
                <a:ea typeface="Arial"/>
                <a:cs typeface="Arial"/>
              </a:defRPr>
            </a:lvl7pPr>
            <a:lvl8pPr>
              <a:defRPr sz="2475" b="0">
                <a:solidFill>
                  <a:srgbClr val="173447"/>
                </a:solidFill>
                <a:latin typeface="Arial"/>
                <a:ea typeface="Arial"/>
                <a:cs typeface="Arial"/>
              </a:defRPr>
            </a:lvl8pPr>
            <a:lvl9pPr>
              <a:defRPr sz="2475" b="0">
                <a:solidFill>
                  <a:srgbClr val="173447"/>
                </a:solidFill>
                <a:latin typeface="Arial"/>
                <a:ea typeface="Arial"/>
                <a:cs typeface="Arial"/>
              </a:defRPr>
            </a:lvl9pPr>
          </a:lstStyle>
          <a:p xmlns:a="http://schemas.openxmlformats.org/drawingml/2006/main">
            <a:pPr>
              <a:defRPr sz="2475" b="0">
                <a:solidFill>
                  <a:srgbClr val="173447"/>
                </a:solidFill>
                <a:latin typeface="Arial"/>
                <a:ea typeface="Arial"/>
                <a:cs typeface="Arial"/>
              </a:defRPr>
            </a:pPr>
            <a:r>
              <a:rPr sz="2475" b="0">
                <a:solidFill>
                  <a:srgbClr val="173447"/>
                </a:solidFill>
                <a:latin typeface="Arial"/>
                <a:ea typeface="Arial"/>
                <a:cs typeface="Arial"/>
              </a:rPr>
              <a:t>A mixture combines several patterns. K is the number of components.</a:t>
            </a:r>
          </a:p>
        </p:txBody>
      </p:sp>
      <p:sp>
        <p:nvSpPr>
          <p:cNvPr id="5" name="">
            <a:extLst xmlns:a="http://schemas.openxmlformats.org/drawingml/2006/main">
              <a:ext uri="{FF2B5EF4-FFF2-40B4-BE49-F238E27FC236}">
                <a16:creationId xmlns:a16="http://schemas.microsoft.com/office/drawing/2014/main" id="{ED6EB680-B958-4B7F-84E4-B05D875CCEDD}"/>
              </a:ext>
            </a:extLst>
          </p:cNvPr>
          <p:cNvSpPr>
            <a:spLocks xmlns:a="http://schemas.openxmlformats.org/drawingml/2006/main" noGrp="1"/>
          </p:cNvSpPr>
          <p:nvPr/>
        </p:nvSpPr>
        <p:spPr>
          <a:xfrm xmlns:a="http://schemas.openxmlformats.org/drawingml/2006/main">
            <a:off x="685800" y="3857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E-step: estimate membership in each component.</a:t>
            </a:r>
          </a:p>
        </p:txBody>
      </p:sp>
      <p:sp>
        <p:nvSpPr>
          <p:cNvPr id="6" name="">
            <a:extLst xmlns:a="http://schemas.openxmlformats.org/drawingml/2006/main">
              <a:ext uri="{FF2B5EF4-FFF2-40B4-BE49-F238E27FC236}">
                <a16:creationId xmlns:a16="http://schemas.microsoft.com/office/drawing/2014/main" id="{00C6B973-FF8F-4B5D-A74F-1CBB3C56C250}"/>
              </a:ext>
            </a:extLst>
          </p:cNvPr>
          <p:cNvSpPr>
            <a:spLocks xmlns:a="http://schemas.openxmlformats.org/drawingml/2006/main" noGrp="1"/>
          </p:cNvSpPr>
          <p:nvPr/>
        </p:nvSpPr>
        <p:spPr>
          <a:xfrm xmlns:a="http://schemas.openxmlformats.org/drawingml/2006/main">
            <a:off x="685800" y="4762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668D"/>
                </a:solidFill>
                <a:latin typeface="Arial"/>
                <a:ea typeface="Arial"/>
                <a:cs typeface="Arial"/>
              </a:defRPr>
            </a:defPPr>
            <a:lvl1pPr>
              <a:defRPr sz="2325" b="0">
                <a:solidFill>
                  <a:srgbClr val="24668D"/>
                </a:solidFill>
                <a:latin typeface="Arial"/>
                <a:ea typeface="Arial"/>
                <a:cs typeface="Arial"/>
              </a:defRPr>
            </a:lvl1pPr>
            <a:lvl2pPr>
              <a:defRPr sz="2325" b="0">
                <a:solidFill>
                  <a:srgbClr val="24668D"/>
                </a:solidFill>
                <a:latin typeface="Arial"/>
                <a:ea typeface="Arial"/>
                <a:cs typeface="Arial"/>
              </a:defRPr>
            </a:lvl2pPr>
            <a:lvl3pPr>
              <a:defRPr sz="2325" b="0">
                <a:solidFill>
                  <a:srgbClr val="24668D"/>
                </a:solidFill>
                <a:latin typeface="Arial"/>
                <a:ea typeface="Arial"/>
                <a:cs typeface="Arial"/>
              </a:defRPr>
            </a:lvl3pPr>
            <a:lvl4pPr>
              <a:defRPr sz="2325" b="0">
                <a:solidFill>
                  <a:srgbClr val="24668D"/>
                </a:solidFill>
                <a:latin typeface="Arial"/>
                <a:ea typeface="Arial"/>
                <a:cs typeface="Arial"/>
              </a:defRPr>
            </a:lvl4pPr>
            <a:lvl5pPr>
              <a:defRPr sz="2325" b="0">
                <a:solidFill>
                  <a:srgbClr val="24668D"/>
                </a:solidFill>
                <a:latin typeface="Arial"/>
                <a:ea typeface="Arial"/>
                <a:cs typeface="Arial"/>
              </a:defRPr>
            </a:lvl5pPr>
            <a:lvl6pPr>
              <a:defRPr sz="2325" b="0">
                <a:solidFill>
                  <a:srgbClr val="24668D"/>
                </a:solidFill>
                <a:latin typeface="Arial"/>
                <a:ea typeface="Arial"/>
                <a:cs typeface="Arial"/>
              </a:defRPr>
            </a:lvl6pPr>
            <a:lvl7pPr>
              <a:defRPr sz="2325" b="0">
                <a:solidFill>
                  <a:srgbClr val="24668D"/>
                </a:solidFill>
                <a:latin typeface="Arial"/>
                <a:ea typeface="Arial"/>
                <a:cs typeface="Arial"/>
              </a:defRPr>
            </a:lvl7pPr>
            <a:lvl8pPr>
              <a:defRPr sz="2325" b="0">
                <a:solidFill>
                  <a:srgbClr val="24668D"/>
                </a:solidFill>
                <a:latin typeface="Arial"/>
                <a:ea typeface="Arial"/>
                <a:cs typeface="Arial"/>
              </a:defRPr>
            </a:lvl8pPr>
            <a:lvl9pPr>
              <a:defRPr sz="2325" b="0">
                <a:solidFill>
                  <a:srgbClr val="24668D"/>
                </a:solidFill>
                <a:latin typeface="Arial"/>
                <a:ea typeface="Arial"/>
                <a:cs typeface="Arial"/>
              </a:defRPr>
            </a:lvl9pPr>
          </a:lstStyle>
          <a:p xmlns:a="http://schemas.openxmlformats.org/drawingml/2006/main">
            <a:pPr>
              <a:defRPr sz="2325" b="0">
                <a:solidFill>
                  <a:srgbClr val="24668D"/>
                </a:solidFill>
                <a:latin typeface="Arial"/>
                <a:ea typeface="Arial"/>
                <a:cs typeface="Arial"/>
              </a:defRPr>
            </a:pPr>
            <a:r>
              <a:rPr sz="2325" b="0">
                <a:solidFill>
                  <a:srgbClr val="24668D"/>
                </a:solidFill>
                <a:latin typeface="Arial"/>
                <a:ea typeface="Arial"/>
                <a:cs typeface="Arial"/>
              </a:rPr>
              <a:t>M-step: update centers, spreads and weights. Repeat.</a:t>
            </a:r>
          </a:p>
        </p:txBody>
      </p:sp>
    </p:spTree>
    <p:extLst>
      <p:ext uri="{BB962C8B-B14F-4D97-AF65-F5344CB8AC3E}">
        <p14:creationId xmlns:p14="http://schemas.microsoft.com/office/powerpoint/2010/main" val="1377953349"/>
      </p:ext>
    </p:extLst>
  </p:cSld>
</p:sld>
</file>

<file path=ppt/slides/slide5.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5A6916-7D3F-4499-B3EF-F5B44EFD3FB1}"/>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Choosing the number of components</a:t>
            </a:r>
          </a:p>
        </p:txBody>
      </p:sp>
      <p:sp>
        <p:nvSpPr>
          <p:cNvPr id="2" name="">
            <a:extLst xmlns:a="http://schemas.openxmlformats.org/drawingml/2006/main">
              <a:ext uri="{FF2B5EF4-FFF2-40B4-BE49-F238E27FC236}">
                <a16:creationId xmlns:a16="http://schemas.microsoft.com/office/drawing/2014/main" id="{85691D9E-0A4E-4E95-87A9-80E87D953C12}"/>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5</a:t>
            </a:r>
          </a:p>
        </p:txBody>
      </p:sp>
      <p:graphicFrame>
        <p:nvGraphicFramePr>
          <p:cNvPr id="3" name="Chart">
            <a:extLst xmlns:a="http://schemas.openxmlformats.org/drawingml/2006/main">
              <a:ext uri="{FF2B5EF4-FFF2-40B4-BE49-F238E27FC236}">
                <a16:creationId xmlns:a16="http://schemas.microsoft.com/office/drawing/2014/main" id="{AC604DCD-D40D-42D2-AB73-235F5B78DE39}"/>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c71f271fb7a5492f"/>
          </a:graphicData>
        </a:graphic>
      </p:graphicFrame>
      <p:sp>
        <p:nvSpPr>
          <p:cNvPr id="4" name="">
            <a:extLst xmlns:a="http://schemas.openxmlformats.org/drawingml/2006/main">
              <a:ext uri="{FF2B5EF4-FFF2-40B4-BE49-F238E27FC236}">
                <a16:creationId xmlns:a16="http://schemas.microsoft.com/office/drawing/2014/main" id="{92A99693-7551-4D7E-926A-B28AB951C367}"/>
              </a:ext>
            </a:extLst>
          </p:cNvPr>
          <p:cNvSpPr>
            <a:spLocks xmlns:a="http://schemas.openxmlformats.org/drawingml/2006/main" noGrp="1"/>
          </p:cNvSpPr>
          <p:nvPr/>
        </p:nvSpPr>
        <p:spPr>
          <a:xfrm xmlns:a="http://schemas.openxmlformats.org/drawingml/2006/main">
            <a:off x="8429625" y="2047875"/>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Try 1, 2, 4 and 8.</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Choose the smallest BIC.</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Eight wins in this grid.</a:t>
            </a:r>
          </a:p>
        </p:txBody>
      </p:sp>
    </p:spTree>
    <p:extLst>
      <p:ext uri="{BB962C8B-B14F-4D97-AF65-F5344CB8AC3E}">
        <p14:creationId xmlns:p14="http://schemas.microsoft.com/office/powerpoint/2010/main" val="876119230"/>
      </p:ext>
    </p:extLst>
  </p:cSld>
</p:sld>
</file>

<file path=ppt/slides/slide6.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A23003-6336-4CF6-BDC2-5BDCCCA53A63}"/>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From a score to a review alert</a:t>
            </a:r>
          </a:p>
        </p:txBody>
      </p:sp>
      <p:sp>
        <p:nvSpPr>
          <p:cNvPr id="2" name="">
            <a:extLst xmlns:a="http://schemas.openxmlformats.org/drawingml/2006/main">
              <a:ext uri="{FF2B5EF4-FFF2-40B4-BE49-F238E27FC236}">
                <a16:creationId xmlns:a16="http://schemas.microsoft.com/office/drawing/2014/main" id="{788F1871-1C5E-453D-9DB9-CB716C99AE60}"/>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6</a:t>
            </a:r>
          </a:p>
        </p:txBody>
      </p:sp>
      <p:sp>
        <p:nvSpPr>
          <p:cNvPr id="3" name="">
            <a:extLst xmlns:a="http://schemas.openxmlformats.org/drawingml/2006/main">
              <a:ext uri="{FF2B5EF4-FFF2-40B4-BE49-F238E27FC236}">
                <a16:creationId xmlns:a16="http://schemas.microsoft.com/office/drawing/2014/main" id="{E82B5C74-50E1-4252-A4B9-3CB4F05221F0}"/>
              </a:ext>
            </a:extLst>
          </p:cNvPr>
          <p:cNvSpPr>
            <a:spLocks xmlns:a="http://schemas.openxmlformats.org/drawingml/2006/main" noGrp="1"/>
          </p:cNvSpPr>
          <p:nvPr/>
        </p:nvSpPr>
        <p:spPr>
          <a:xfrm xmlns:a="http://schemas.openxmlformats.org/drawingml/2006/main">
            <a:off x="685800" y="16668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24668D"/>
                </a:solidFill>
                <a:latin typeface="Arial"/>
                <a:ea typeface="Arial"/>
                <a:cs typeface="Arial"/>
              </a:defRPr>
            </a:defPPr>
            <a:lvl1pPr>
              <a:defRPr sz="2775" b="0">
                <a:solidFill>
                  <a:srgbClr val="24668D"/>
                </a:solidFill>
                <a:latin typeface="Arial"/>
                <a:ea typeface="Arial"/>
                <a:cs typeface="Arial"/>
              </a:defRPr>
            </a:lvl1pPr>
            <a:lvl2pPr>
              <a:defRPr sz="2775" b="0">
                <a:solidFill>
                  <a:srgbClr val="24668D"/>
                </a:solidFill>
                <a:latin typeface="Arial"/>
                <a:ea typeface="Arial"/>
                <a:cs typeface="Arial"/>
              </a:defRPr>
            </a:lvl2pPr>
            <a:lvl3pPr>
              <a:defRPr sz="2775" b="0">
                <a:solidFill>
                  <a:srgbClr val="24668D"/>
                </a:solidFill>
                <a:latin typeface="Arial"/>
                <a:ea typeface="Arial"/>
                <a:cs typeface="Arial"/>
              </a:defRPr>
            </a:lvl3pPr>
            <a:lvl4pPr>
              <a:defRPr sz="2775" b="0">
                <a:solidFill>
                  <a:srgbClr val="24668D"/>
                </a:solidFill>
                <a:latin typeface="Arial"/>
                <a:ea typeface="Arial"/>
                <a:cs typeface="Arial"/>
              </a:defRPr>
            </a:lvl4pPr>
            <a:lvl5pPr>
              <a:defRPr sz="2775" b="0">
                <a:solidFill>
                  <a:srgbClr val="24668D"/>
                </a:solidFill>
                <a:latin typeface="Arial"/>
                <a:ea typeface="Arial"/>
                <a:cs typeface="Arial"/>
              </a:defRPr>
            </a:lvl5pPr>
            <a:lvl6pPr>
              <a:defRPr sz="2775" b="0">
                <a:solidFill>
                  <a:srgbClr val="24668D"/>
                </a:solidFill>
                <a:latin typeface="Arial"/>
                <a:ea typeface="Arial"/>
                <a:cs typeface="Arial"/>
              </a:defRPr>
            </a:lvl6pPr>
            <a:lvl7pPr>
              <a:defRPr sz="2775" b="0">
                <a:solidFill>
                  <a:srgbClr val="24668D"/>
                </a:solidFill>
                <a:latin typeface="Arial"/>
                <a:ea typeface="Arial"/>
                <a:cs typeface="Arial"/>
              </a:defRPr>
            </a:lvl7pPr>
            <a:lvl8pPr>
              <a:defRPr sz="2775" b="0">
                <a:solidFill>
                  <a:srgbClr val="24668D"/>
                </a:solidFill>
                <a:latin typeface="Arial"/>
                <a:ea typeface="Arial"/>
                <a:cs typeface="Arial"/>
              </a:defRPr>
            </a:lvl8pPr>
            <a:lvl9pPr>
              <a:defRPr sz="2775" b="0">
                <a:solidFill>
                  <a:srgbClr val="24668D"/>
                </a:solidFill>
                <a:latin typeface="Arial"/>
                <a:ea typeface="Arial"/>
                <a:cs typeface="Arial"/>
              </a:defRPr>
            </a:lvl9pPr>
          </a:lstStyle>
          <a:p xmlns:a="http://schemas.openxmlformats.org/drawingml/2006/main">
            <a:pPr>
              <a:defRPr sz="2775" b="0">
                <a:solidFill>
                  <a:srgbClr val="24668D"/>
                </a:solidFill>
                <a:latin typeface="Arial"/>
                <a:ea typeface="Arial"/>
                <a:cs typeface="Arial"/>
              </a:defRPr>
            </a:pPr>
            <a:r>
              <a:rPr sz="2775" b="0">
                <a:solidFill>
                  <a:srgbClr val="24668D"/>
                </a:solidFill>
                <a:latin typeface="Arial"/>
                <a:ea typeface="Arial"/>
                <a:cs typeface="Arial"/>
              </a:rPr>
              <a:t>Anomaly score = -log density</a:t>
            </a:r>
          </a:p>
        </p:txBody>
      </p:sp>
      <p:sp>
        <p:nvSpPr>
          <p:cNvPr id="4" name="">
            <a:extLst xmlns:a="http://schemas.openxmlformats.org/drawingml/2006/main">
              <a:ext uri="{FF2B5EF4-FFF2-40B4-BE49-F238E27FC236}">
                <a16:creationId xmlns:a16="http://schemas.microsoft.com/office/drawing/2014/main" id="{1C484487-61F3-4B0D-8E32-9771593FAE4F}"/>
              </a:ext>
            </a:extLst>
          </p:cNvPr>
          <p:cNvSpPr>
            <a:spLocks xmlns:a="http://schemas.openxmlformats.org/drawingml/2006/main" noGrp="1"/>
          </p:cNvSpPr>
          <p:nvPr/>
        </p:nvSpPr>
        <p:spPr>
          <a:xfrm xmlns:a="http://schemas.openxmlformats.org/drawingml/2006/main">
            <a:off x="685800" y="2714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A larger score means the transaction is less typical.</a:t>
            </a:r>
          </a:p>
        </p:txBody>
      </p:sp>
      <p:sp>
        <p:nvSpPr>
          <p:cNvPr id="5" name="">
            <a:extLst xmlns:a="http://schemas.openxmlformats.org/drawingml/2006/main">
              <a:ext uri="{FF2B5EF4-FFF2-40B4-BE49-F238E27FC236}">
                <a16:creationId xmlns:a16="http://schemas.microsoft.com/office/drawing/2014/main" id="{E08DC7C6-2B20-4E6C-9C92-6EE0FDB9EC18}"/>
              </a:ext>
            </a:extLst>
          </p:cNvPr>
          <p:cNvSpPr>
            <a:spLocks xmlns:a="http://schemas.openxmlformats.org/drawingml/2006/main" noGrp="1"/>
          </p:cNvSpPr>
          <p:nvPr/>
        </p:nvSpPr>
        <p:spPr>
          <a:xfrm xmlns:a="http://schemas.openxmlformats.org/drawingml/2006/main">
            <a:off x="685800" y="3714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447"/>
                </a:solidFill>
                <a:latin typeface="Arial"/>
                <a:ea typeface="Arial"/>
                <a:cs typeface="Arial"/>
              </a:defRPr>
            </a:defPPr>
            <a:lvl1pPr>
              <a:defRPr sz="2400" b="0">
                <a:solidFill>
                  <a:srgbClr val="173447"/>
                </a:solidFill>
                <a:latin typeface="Arial"/>
                <a:ea typeface="Arial"/>
                <a:cs typeface="Arial"/>
              </a:defRPr>
            </a:lvl1pPr>
            <a:lvl2pPr>
              <a:defRPr sz="2400" b="0">
                <a:solidFill>
                  <a:srgbClr val="173447"/>
                </a:solidFill>
                <a:latin typeface="Arial"/>
                <a:ea typeface="Arial"/>
                <a:cs typeface="Arial"/>
              </a:defRPr>
            </a:lvl2pPr>
            <a:lvl3pPr>
              <a:defRPr sz="2400" b="0">
                <a:solidFill>
                  <a:srgbClr val="173447"/>
                </a:solidFill>
                <a:latin typeface="Arial"/>
                <a:ea typeface="Arial"/>
                <a:cs typeface="Arial"/>
              </a:defRPr>
            </a:lvl3pPr>
            <a:lvl4pPr>
              <a:defRPr sz="2400" b="0">
                <a:solidFill>
                  <a:srgbClr val="173447"/>
                </a:solidFill>
                <a:latin typeface="Arial"/>
                <a:ea typeface="Arial"/>
                <a:cs typeface="Arial"/>
              </a:defRPr>
            </a:lvl4pPr>
            <a:lvl5pPr>
              <a:defRPr sz="2400" b="0">
                <a:solidFill>
                  <a:srgbClr val="173447"/>
                </a:solidFill>
                <a:latin typeface="Arial"/>
                <a:ea typeface="Arial"/>
                <a:cs typeface="Arial"/>
              </a:defRPr>
            </a:lvl5pPr>
            <a:lvl6pPr>
              <a:defRPr sz="2400" b="0">
                <a:solidFill>
                  <a:srgbClr val="173447"/>
                </a:solidFill>
                <a:latin typeface="Arial"/>
                <a:ea typeface="Arial"/>
                <a:cs typeface="Arial"/>
              </a:defRPr>
            </a:lvl6pPr>
            <a:lvl7pPr>
              <a:defRPr sz="2400" b="0">
                <a:solidFill>
                  <a:srgbClr val="173447"/>
                </a:solidFill>
                <a:latin typeface="Arial"/>
                <a:ea typeface="Arial"/>
                <a:cs typeface="Arial"/>
              </a:defRPr>
            </a:lvl7pPr>
            <a:lvl8pPr>
              <a:defRPr sz="2400" b="0">
                <a:solidFill>
                  <a:srgbClr val="173447"/>
                </a:solidFill>
                <a:latin typeface="Arial"/>
                <a:ea typeface="Arial"/>
                <a:cs typeface="Arial"/>
              </a:defRPr>
            </a:lvl8pPr>
            <a:lvl9pPr>
              <a:defRPr sz="2400" b="0">
                <a:solidFill>
                  <a:srgbClr val="173447"/>
                </a:solidFill>
                <a:latin typeface="Arial"/>
                <a:ea typeface="Arial"/>
                <a:cs typeface="Arial"/>
              </a:defRPr>
            </a:lvl9pPr>
          </a:lstStyle>
          <a:p xmlns:a="http://schemas.openxmlformats.org/drawingml/2006/main">
            <a:pPr>
              <a:defRPr sz="2400" b="0">
                <a:solidFill>
                  <a:srgbClr val="173447"/>
                </a:solidFill>
                <a:latin typeface="Arial"/>
                <a:ea typeface="Arial"/>
                <a:cs typeface="Arial"/>
              </a:defRPr>
            </a:pPr>
            <a:r>
              <a:rPr sz="2400" b="0">
                <a:solidFill>
                  <a:srgbClr val="173447"/>
                </a:solidFill>
                <a:latin typeface="Arial"/>
                <a:ea typeface="Arial"/>
                <a:cs typeface="Arial"/>
              </a:rPr>
              <a:t>Default cutoff: 75.8942, chosen on validation data.</a:t>
            </a:r>
          </a:p>
        </p:txBody>
      </p:sp>
      <p:sp>
        <p:nvSpPr>
          <p:cNvPr id="6" name="">
            <a:extLst xmlns:a="http://schemas.openxmlformats.org/drawingml/2006/main">
              <a:ext uri="{FF2B5EF4-FFF2-40B4-BE49-F238E27FC236}">
                <a16:creationId xmlns:a16="http://schemas.microsoft.com/office/drawing/2014/main" id="{4BB25D2D-EEE1-48E9-8AA8-44FCEE6DF370}"/>
              </a:ext>
            </a:extLst>
          </p:cNvPr>
          <p:cNvSpPr>
            <a:spLocks xmlns:a="http://schemas.openxmlformats.org/drawingml/2006/main" noGrp="1"/>
          </p:cNvSpPr>
          <p:nvPr/>
        </p:nvSpPr>
        <p:spPr>
          <a:xfrm xmlns:a="http://schemas.openxmlformats.org/drawingml/2006/main">
            <a:off x="685800" y="4857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Rule examples: score 80 gets an alert; score 60 does not.</a:t>
            </a:r>
          </a:p>
        </p:txBody>
      </p:sp>
    </p:spTree>
    <p:extLst>
      <p:ext uri="{BB962C8B-B14F-4D97-AF65-F5344CB8AC3E}">
        <p14:creationId xmlns:p14="http://schemas.microsoft.com/office/powerpoint/2010/main" val="1921863720"/>
      </p:ext>
    </p:extLst>
  </p:cSld>
</p:sld>
</file>

<file path=ppt/slides/slide7.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7E08E6-FC23-4A31-8214-50DBABA4C3F5}"/>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The default test result</a:t>
            </a:r>
          </a:p>
        </p:txBody>
      </p:sp>
      <p:sp>
        <p:nvSpPr>
          <p:cNvPr id="2" name="">
            <a:extLst xmlns:a="http://schemas.openxmlformats.org/drawingml/2006/main">
              <a:ext uri="{FF2B5EF4-FFF2-40B4-BE49-F238E27FC236}">
                <a16:creationId xmlns:a16="http://schemas.microsoft.com/office/drawing/2014/main" id="{2AF01514-2CA4-4556-A9D8-EAAA0983E9F6}"/>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82F52726-79AA-4D1C-B481-F9C559DA1AF3}"/>
              </a:ext>
            </a:extLst>
          </p:cNvPr>
          <p:cNvGraphicFramePr/>
          <p:nvPr/>
        </p:nvGraphicFramePr>
        <p:xfrm>
          <a:off xmlns:a="http://schemas.openxmlformats.org/drawingml/2006/main" x="685800" y="1714500"/>
          <a:ext xmlns:a="http://schemas.openxmlformats.org/drawingml/2006/main" cx="6381750" cy="2857500"/>
        </p:xfrm>
        <a:graphic xmlns:a="http://schemas.openxmlformats.org/drawingml/2006/main">
          <a:graphicData uri="http://schemas.openxmlformats.org/drawingml/2006/table">
            <a:tbl>
              <a:tblPr/>
              <a:tblGrid>
                <a:gridCol w="2857500"/>
                <a:gridCol w="1762125"/>
                <a:gridCol w="1762125"/>
              </a:tblGrid>
              <a:tr h="952500">
                <a:tc>
                  <a:txBody>
                    <a:bodyPr/>
                    <a:lstStyle/>
                    <a:p>
                      <a:r>
                        <a:rPr sz="2025" b="1">
                          <a:solidFill>
                            <a:srgbClr val="FFFFFF"/>
                          </a:solidFill>
                          <a:latin typeface="Arial"/>
                          <a:ea typeface="Arial"/>
                          <a:cs typeface="Arial"/>
                        </a:rPr>
                        <a:t>Actual / decision</a:t>
                      </a:r>
                    </a:p>
                  </a:txBody>
                  <a:tcPr marL="133350" marR="114300" marT="95250" marB="95250">
                    <a:lnL w="9525">
                      <a:solidFill>
                        <a:srgbClr val="DDE3E7"/>
                      </a:solidFill>
                      <a:prstDash val="solid"/>
                    </a:lnL>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No alert</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c>
                  <a:txBody>
                    <a:bodyPr/>
                    <a:lstStyle/>
                    <a:p>
                      <a:r>
                        <a:rPr sz="2025" b="1">
                          <a:solidFill>
                            <a:srgbClr val="FFFFFF"/>
                          </a:solidFill>
                          <a:latin typeface="Arial"/>
                          <a:ea typeface="Arial"/>
                          <a:cs typeface="Arial"/>
                        </a:rPr>
                        <a:t>Alert</a:t>
                      </a:r>
                    </a:p>
                  </a:txBody>
                  <a:tcPr marL="133350" marR="114300" marT="95250" marB="95250">
                    <a:lnR w="9525">
                      <a:solidFill>
                        <a:srgbClr val="DDE3E7"/>
                      </a:solidFill>
                      <a:prstDash val="solid"/>
                    </a:lnR>
                    <a:lnT w="9525">
                      <a:solidFill>
                        <a:srgbClr val="DDE3E7"/>
                      </a:solidFill>
                      <a:prstDash val="solid"/>
                    </a:lnT>
                    <a:lnB w="9525">
                      <a:solidFill>
                        <a:srgbClr val="DDE3E7"/>
                      </a:solidFill>
                      <a:prstDash val="solid"/>
                    </a:lnB>
                    <a:solidFill>
                      <a:srgbClr val="24668D"/>
                    </a:solidFill>
                  </a:tcPr>
                </a:tc>
              </a:tr>
              <a:tr h="952500">
                <a:tc>
                  <a:txBody>
                    <a:bodyPr/>
                    <a:lstStyle/>
                    <a:p>
                      <a:r>
                        <a:rPr sz="2025">
                          <a:solidFill>
                            <a:srgbClr val="173447"/>
                          </a:solidFill>
                          <a:latin typeface="Arial"/>
                          <a:ea typeface="Arial"/>
                          <a:cs typeface="Arial"/>
                        </a:rPr>
                        <a:t>Legitimate</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56,500</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172</a:t>
                      </a:r>
                    </a:p>
                  </a:txBody>
                  <a:tcPr marL="133350" marR="114300" marT="95250" marB="95250">
                    <a:lnR w="9525">
                      <a:solidFill>
                        <a:srgbClr val="DDE3E7"/>
                      </a:solidFill>
                      <a:prstDash val="solid"/>
                    </a:lnR>
                    <a:lnB w="9525">
                      <a:solidFill>
                        <a:srgbClr val="DDE3E7"/>
                      </a:solidFill>
                      <a:prstDash val="solid"/>
                    </a:lnB>
                  </a:tcPr>
                </a:tc>
              </a:tr>
              <a:tr h="952500">
                <a:tc>
                  <a:txBody>
                    <a:bodyPr/>
                    <a:lstStyle/>
                    <a:p>
                      <a:r>
                        <a:rPr sz="2025">
                          <a:solidFill>
                            <a:srgbClr val="173447"/>
                          </a:solidFill>
                          <a:latin typeface="Arial"/>
                          <a:ea typeface="Arial"/>
                          <a:cs typeface="Arial"/>
                        </a:rPr>
                        <a:t>Fraud</a:t>
                      </a:r>
                    </a:p>
                  </a:txBody>
                  <a:tcPr marL="133350" marR="114300" marT="95250" marB="95250">
                    <a:lnL w="9525">
                      <a:solidFill>
                        <a:srgbClr val="DDE3E7"/>
                      </a:solidFill>
                      <a:prstDash val="solid"/>
                    </a:lnL>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37</a:t>
                      </a:r>
                    </a:p>
                  </a:txBody>
                  <a:tcPr marL="133350" marR="114300" marT="95250" marB="95250">
                    <a:lnR w="9525">
                      <a:solidFill>
                        <a:srgbClr val="DDE3E7"/>
                      </a:solidFill>
                      <a:prstDash val="solid"/>
                    </a:lnR>
                    <a:lnB w="9525">
                      <a:solidFill>
                        <a:srgbClr val="DDE3E7"/>
                      </a:solidFill>
                      <a:prstDash val="solid"/>
                    </a:lnB>
                  </a:tcPr>
                </a:tc>
                <a:tc>
                  <a:txBody>
                    <a:bodyPr/>
                    <a:lstStyle/>
                    <a:p>
                      <a:r>
                        <a:rPr sz="2025">
                          <a:solidFill>
                            <a:srgbClr val="173447"/>
                          </a:solidFill>
                          <a:latin typeface="Arial"/>
                          <a:ea typeface="Arial"/>
                          <a:cs typeface="Arial"/>
                        </a:rPr>
                        <a:t>37</a:t>
                      </a:r>
                    </a:p>
                  </a:txBody>
                  <a:tcPr marL="133350" marR="114300" marT="95250" marB="95250">
                    <a:lnR w="9525">
                      <a:solidFill>
                        <a:srgbClr val="DDE3E7"/>
                      </a:solidFill>
                      <a:prstDash val="solid"/>
                    </a:lnR>
                    <a:lnB w="9525">
                      <a:solidFill>
                        <a:srgbClr val="DDE3E7"/>
                      </a:solidFill>
                      <a:prstDash val="solid"/>
                    </a:lnB>
                  </a:tcPr>
                </a:tc>
              </a:tr>
            </a:tbl>
          </a:graphicData>
        </a:graphic>
      </p:graphicFrame>
      <p:sp>
        <p:nvSpPr>
          <p:cNvPr id="4" name="">
            <a:extLst xmlns:a="http://schemas.openxmlformats.org/drawingml/2006/main">
              <a:ext uri="{FF2B5EF4-FFF2-40B4-BE49-F238E27FC236}">
                <a16:creationId xmlns:a16="http://schemas.microsoft.com/office/drawing/2014/main" id="{795C4F5F-FEA3-4C8D-91EB-F6B0D5D6EA4C}"/>
              </a:ext>
            </a:extLst>
          </p:cNvPr>
          <p:cNvSpPr>
            <a:spLocks xmlns:a="http://schemas.openxmlformats.org/drawingml/2006/main" noGrp="1"/>
          </p:cNvSpPr>
          <p:nvPr/>
        </p:nvSpPr>
        <p:spPr>
          <a:xfrm xmlns:a="http://schemas.openxmlformats.org/drawingml/2006/main">
            <a:off x="7477125" y="1781175"/>
            <a:ext cx="40957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Recall: 37 / 74 = 50%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Precision: 37 / 209 = 17.70%</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FPR: 172 / 56,672 = 0.3035%</a:t>
            </a:r>
          </a:p>
        </p:txBody>
      </p:sp>
      <p:sp>
        <p:nvSpPr>
          <p:cNvPr id="5" name="">
            <a:extLst xmlns:a="http://schemas.openxmlformats.org/drawingml/2006/main">
              <a:ext uri="{FF2B5EF4-FFF2-40B4-BE49-F238E27FC236}">
                <a16:creationId xmlns:a16="http://schemas.microsoft.com/office/drawing/2014/main" id="{285B1D04-2591-4699-9204-15471E16B2F0}"/>
              </a:ext>
            </a:extLst>
          </p:cNvPr>
          <p:cNvSpPr>
            <a:spLocks xmlns:a="http://schemas.openxmlformats.org/drawingml/2006/main" noGrp="1"/>
          </p:cNvSpPr>
          <p:nvPr/>
        </p:nvSpPr>
        <p:spPr>
          <a:xfrm xmlns:a="http://schemas.openxmlformats.org/drawingml/2006/main">
            <a:off x="685800" y="53149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668D"/>
                </a:solidFill>
                <a:latin typeface="Arial"/>
                <a:ea typeface="Arial"/>
                <a:cs typeface="Arial"/>
              </a:defRPr>
            </a:defPPr>
            <a:lvl1pPr>
              <a:defRPr sz="2400" b="0">
                <a:solidFill>
                  <a:srgbClr val="24668D"/>
                </a:solidFill>
                <a:latin typeface="Arial"/>
                <a:ea typeface="Arial"/>
                <a:cs typeface="Arial"/>
              </a:defRPr>
            </a:lvl1pPr>
            <a:lvl2pPr>
              <a:defRPr sz="2400" b="0">
                <a:solidFill>
                  <a:srgbClr val="24668D"/>
                </a:solidFill>
                <a:latin typeface="Arial"/>
                <a:ea typeface="Arial"/>
                <a:cs typeface="Arial"/>
              </a:defRPr>
            </a:lvl2pPr>
            <a:lvl3pPr>
              <a:defRPr sz="2400" b="0">
                <a:solidFill>
                  <a:srgbClr val="24668D"/>
                </a:solidFill>
                <a:latin typeface="Arial"/>
                <a:ea typeface="Arial"/>
                <a:cs typeface="Arial"/>
              </a:defRPr>
            </a:lvl3pPr>
            <a:lvl4pPr>
              <a:defRPr sz="2400" b="0">
                <a:solidFill>
                  <a:srgbClr val="24668D"/>
                </a:solidFill>
                <a:latin typeface="Arial"/>
                <a:ea typeface="Arial"/>
                <a:cs typeface="Arial"/>
              </a:defRPr>
            </a:lvl4pPr>
            <a:lvl5pPr>
              <a:defRPr sz="2400" b="0">
                <a:solidFill>
                  <a:srgbClr val="24668D"/>
                </a:solidFill>
                <a:latin typeface="Arial"/>
                <a:ea typeface="Arial"/>
                <a:cs typeface="Arial"/>
              </a:defRPr>
            </a:lvl5pPr>
            <a:lvl6pPr>
              <a:defRPr sz="2400" b="0">
                <a:solidFill>
                  <a:srgbClr val="24668D"/>
                </a:solidFill>
                <a:latin typeface="Arial"/>
                <a:ea typeface="Arial"/>
                <a:cs typeface="Arial"/>
              </a:defRPr>
            </a:lvl6pPr>
            <a:lvl7pPr>
              <a:defRPr sz="2400" b="0">
                <a:solidFill>
                  <a:srgbClr val="24668D"/>
                </a:solidFill>
                <a:latin typeface="Arial"/>
                <a:ea typeface="Arial"/>
                <a:cs typeface="Arial"/>
              </a:defRPr>
            </a:lvl7pPr>
            <a:lvl8pPr>
              <a:defRPr sz="2400" b="0">
                <a:solidFill>
                  <a:srgbClr val="24668D"/>
                </a:solidFill>
                <a:latin typeface="Arial"/>
                <a:ea typeface="Arial"/>
                <a:cs typeface="Arial"/>
              </a:defRPr>
            </a:lvl8pPr>
            <a:lvl9pPr>
              <a:defRPr sz="2400" b="0">
                <a:solidFill>
                  <a:srgbClr val="24668D"/>
                </a:solidFill>
                <a:latin typeface="Arial"/>
                <a:ea typeface="Arial"/>
                <a:cs typeface="Arial"/>
              </a:defRPr>
            </a:lvl9pPr>
          </a:lstStyle>
          <a:p xmlns:a="http://schemas.openxmlformats.org/drawingml/2006/main">
            <a:pPr>
              <a:defRPr sz="2400" b="0">
                <a:solidFill>
                  <a:srgbClr val="24668D"/>
                </a:solidFill>
                <a:latin typeface="Arial"/>
                <a:ea typeface="Arial"/>
                <a:cs typeface="Arial"/>
              </a:defRPr>
            </a:pPr>
            <a:r>
              <a:rPr sz="2400" b="0">
                <a:solidFill>
                  <a:srgbClr val="24668D"/>
                </a:solidFill>
                <a:latin typeface="Arial"/>
                <a:ea typeface="Arial"/>
                <a:cs typeface="Arial"/>
              </a:rPr>
              <a:t>209 reviews. We find 37 frauds and miss 37.</a:t>
            </a:r>
          </a:p>
        </p:txBody>
      </p:sp>
    </p:spTree>
    <p:extLst>
      <p:ext uri="{BB962C8B-B14F-4D97-AF65-F5344CB8AC3E}">
        <p14:creationId xmlns:p14="http://schemas.microsoft.com/office/powerpoint/2010/main" val="1491953211"/>
      </p:ext>
    </p:extLst>
  </p:cSld>
</p:sld>
</file>

<file path=ppt/slides/slide8.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7C2675-7DCD-4F75-9DDA-6BFC7C6B4F11}"/>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More review brings more false alerts</a:t>
            </a:r>
          </a:p>
        </p:txBody>
      </p:sp>
      <p:sp>
        <p:nvSpPr>
          <p:cNvPr id="2" name="">
            <a:extLst xmlns:a="http://schemas.openxmlformats.org/drawingml/2006/main">
              <a:ext uri="{FF2B5EF4-FFF2-40B4-BE49-F238E27FC236}">
                <a16:creationId xmlns:a16="http://schemas.microsoft.com/office/drawing/2014/main" id="{3EC70883-A09C-4FC1-81C0-3AAC69B6775E}"/>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8</a:t>
            </a:r>
          </a:p>
        </p:txBody>
      </p:sp>
      <p:graphicFrame>
        <p:nvGraphicFramePr>
          <p:cNvPr id="3" name="Chart">
            <a:extLst xmlns:a="http://schemas.openxmlformats.org/drawingml/2006/main">
              <a:ext uri="{FF2B5EF4-FFF2-40B4-BE49-F238E27FC236}">
                <a16:creationId xmlns:a16="http://schemas.microsoft.com/office/drawing/2014/main" id="{F2ED1881-1C80-4A4D-8588-EE46142AE2AC}"/>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ab56a9ccc8c64085"/>
          </a:graphicData>
        </a:graphic>
      </p:graphicFrame>
      <p:sp>
        <p:nvSpPr>
          <p:cNvPr id="4" name="">
            <a:extLst xmlns:a="http://schemas.openxmlformats.org/drawingml/2006/main">
              <a:ext uri="{FF2B5EF4-FFF2-40B4-BE49-F238E27FC236}">
                <a16:creationId xmlns:a16="http://schemas.microsoft.com/office/drawing/2014/main" id="{A9977ED1-1868-406C-872E-C5AEB11432EC}"/>
              </a:ext>
            </a:extLst>
          </p:cNvPr>
          <p:cNvSpPr>
            <a:spLocks xmlns:a="http://schemas.openxmlformats.org/drawingml/2006/main" noGrp="1"/>
          </p:cNvSpPr>
          <p:nvPr/>
        </p:nvSpPr>
        <p:spPr>
          <a:xfrm xmlns:a="http://schemas.openxmlformats.org/drawingml/2006/main">
            <a:off x="8429625" y="2047875"/>
            <a:ext cx="3048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A looser cutoff catches more fraud here.</a:t>
            </a:r>
          </a:p>
          <a:p xmlns:a="http://schemas.openxmlformats.org/drawingml/2006/main">
            <a:r>
              <a:t/>
            </a:r>
          </a:p>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It also sends more legitimate transactions for review.</a:t>
            </a:r>
          </a:p>
        </p:txBody>
      </p:sp>
    </p:spTree>
    <p:extLst>
      <p:ext uri="{BB962C8B-B14F-4D97-AF65-F5344CB8AC3E}">
        <p14:creationId xmlns:p14="http://schemas.microsoft.com/office/powerpoint/2010/main" val="963736357"/>
      </p:ext>
    </p:extLst>
  </p:cSld>
</p:sld>
</file>

<file path=ppt/slides/slide9.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B00F5C-2DDB-4106-9088-0D8DF144BC47}"/>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Ranking quality and 100 reviews</a:t>
            </a:r>
          </a:p>
        </p:txBody>
      </p:sp>
      <p:sp>
        <p:nvSpPr>
          <p:cNvPr id="2" name="">
            <a:extLst xmlns:a="http://schemas.openxmlformats.org/drawingml/2006/main">
              <a:ext uri="{FF2B5EF4-FFF2-40B4-BE49-F238E27FC236}">
                <a16:creationId xmlns:a16="http://schemas.microsoft.com/office/drawing/2014/main" id="{58CFFB3B-CC57-43FC-8370-86E221916ADB}"/>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9</a:t>
            </a:r>
          </a:p>
        </p:txBody>
      </p:sp>
      <p:graphicFrame>
        <p:nvGraphicFramePr>
          <p:cNvPr id="3" name="Chart">
            <a:extLst xmlns:a="http://schemas.openxmlformats.org/drawingml/2006/main">
              <a:ext uri="{FF2B5EF4-FFF2-40B4-BE49-F238E27FC236}">
                <a16:creationId xmlns:a16="http://schemas.microsoft.com/office/drawing/2014/main" id="{441C07F8-F3FA-47C0-BAC8-44A22F2121B5}"/>
              </a:ext>
            </a:extLst>
          </p:cNvPr>
          <p:cNvGraphicFramePr/>
          <p:nvPr/>
        </p:nvGraphicFramePr>
        <p:xfrm>
          <a:off xmlns:a="http://schemas.openxmlformats.org/drawingml/2006/main" x="619125" y="1571625"/>
          <a:ext xmlns:a="http://schemas.openxmlformats.org/drawingml/2006/main" cx="7524750" cy="4286250"/>
        </p:xfrm>
        <a:graphic xmlns:a="http://schemas.openxmlformats.org/drawingml/2006/main">
          <a:graphicData uri="http://schemas.openxmlformats.org/drawingml/2006/chart">
            <c:chart xmlns:r="http://schemas.openxmlformats.org/officeDocument/2006/relationships" xmlns:c="http://schemas.openxmlformats.org/drawingml/2006/chart" r:id="R95470cab513c4338"/>
          </a:graphicData>
        </a:graphic>
      </p:graphicFrame>
      <p:sp>
        <p:nvSpPr>
          <p:cNvPr id="4" name="">
            <a:extLst xmlns:a="http://schemas.openxmlformats.org/drawingml/2006/main">
              <a:ext uri="{FF2B5EF4-FFF2-40B4-BE49-F238E27FC236}">
                <a16:creationId xmlns:a16="http://schemas.microsoft.com/office/drawing/2014/main" id="{66EC5171-2220-4CDF-8803-5A13B71ADF5C}"/>
              </a:ext>
            </a:extLst>
          </p:cNvPr>
          <p:cNvSpPr>
            <a:spLocks xmlns:a="http://schemas.openxmlformats.org/drawingml/2006/main" noGrp="1"/>
          </p:cNvSpPr>
          <p:nvPr/>
        </p:nvSpPr>
        <p:spPr>
          <a:xfrm xmlns:a="http://schemas.openxmlformats.org/drawingml/2006/main">
            <a:off x="8382000" y="1905000"/>
            <a:ext cx="3143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447"/>
                </a:solidFill>
                <a:latin typeface="Arial"/>
                <a:ea typeface="Arial"/>
                <a:cs typeface="Arial"/>
              </a:defRPr>
            </a:defPPr>
            <a:lvl1pPr>
              <a:defRPr sz="2100" b="0">
                <a:solidFill>
                  <a:srgbClr val="173447"/>
                </a:solidFill>
                <a:latin typeface="Arial"/>
                <a:ea typeface="Arial"/>
                <a:cs typeface="Arial"/>
              </a:defRPr>
            </a:lvl1pPr>
            <a:lvl2pPr>
              <a:defRPr sz="2100" b="0">
                <a:solidFill>
                  <a:srgbClr val="173447"/>
                </a:solidFill>
                <a:latin typeface="Arial"/>
                <a:ea typeface="Arial"/>
                <a:cs typeface="Arial"/>
              </a:defRPr>
            </a:lvl2pPr>
            <a:lvl3pPr>
              <a:defRPr sz="2100" b="0">
                <a:solidFill>
                  <a:srgbClr val="173447"/>
                </a:solidFill>
                <a:latin typeface="Arial"/>
                <a:ea typeface="Arial"/>
                <a:cs typeface="Arial"/>
              </a:defRPr>
            </a:lvl3pPr>
            <a:lvl4pPr>
              <a:defRPr sz="2100" b="0">
                <a:solidFill>
                  <a:srgbClr val="173447"/>
                </a:solidFill>
                <a:latin typeface="Arial"/>
                <a:ea typeface="Arial"/>
                <a:cs typeface="Arial"/>
              </a:defRPr>
            </a:lvl4pPr>
            <a:lvl5pPr>
              <a:defRPr sz="2100" b="0">
                <a:solidFill>
                  <a:srgbClr val="173447"/>
                </a:solidFill>
                <a:latin typeface="Arial"/>
                <a:ea typeface="Arial"/>
                <a:cs typeface="Arial"/>
              </a:defRPr>
            </a:lvl5pPr>
            <a:lvl6pPr>
              <a:defRPr sz="2100" b="0">
                <a:solidFill>
                  <a:srgbClr val="173447"/>
                </a:solidFill>
                <a:latin typeface="Arial"/>
                <a:ea typeface="Arial"/>
                <a:cs typeface="Arial"/>
              </a:defRPr>
            </a:lvl6pPr>
            <a:lvl7pPr>
              <a:defRPr sz="2100" b="0">
                <a:solidFill>
                  <a:srgbClr val="173447"/>
                </a:solidFill>
                <a:latin typeface="Arial"/>
                <a:ea typeface="Arial"/>
                <a:cs typeface="Arial"/>
              </a:defRPr>
            </a:lvl7pPr>
            <a:lvl8pPr>
              <a:defRPr sz="2100" b="0">
                <a:solidFill>
                  <a:srgbClr val="173447"/>
                </a:solidFill>
                <a:latin typeface="Arial"/>
                <a:ea typeface="Arial"/>
                <a:cs typeface="Arial"/>
              </a:defRPr>
            </a:lvl8pPr>
            <a:lvl9pPr>
              <a:defRPr sz="2100" b="0">
                <a:solidFill>
                  <a:srgbClr val="173447"/>
                </a:solidFill>
                <a:latin typeface="Arial"/>
                <a:ea typeface="Arial"/>
                <a:cs typeface="Arial"/>
              </a:defRPr>
            </a:lvl9pPr>
          </a:lstStyle>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 AUC = 0.1496</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Area under this curve</a:t>
            </a:r>
          </a:p>
          <a:p xmlns:a="http://schemas.openxmlformats.org/drawingml/2006/main">
            <a:r>
              <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Top 100 reviews:</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29 frauds, 71 legitimate</a:t>
            </a:r>
          </a:p>
          <a:p xmlns:a="http://schemas.openxmlformats.org/drawingml/2006/main">
            <a:pPr>
              <a:defRPr sz="2100" b="0">
                <a:solidFill>
                  <a:srgbClr val="173447"/>
                </a:solidFill>
                <a:latin typeface="Arial"/>
                <a:ea typeface="Arial"/>
                <a:cs typeface="Arial"/>
              </a:defRPr>
            </a:pPr>
            <a:r>
              <a:rPr sz="2100" b="0">
                <a:solidFill>
                  <a:srgbClr val="173447"/>
                </a:solidFill>
                <a:latin typeface="Arial"/>
                <a:ea typeface="Arial"/>
                <a:cs typeface="Arial"/>
              </a:rPr>
              <a:t>Precision@100 = 29%</a:t>
            </a:r>
          </a:p>
        </p:txBody>
      </p:sp>
    </p:spTree>
    <p:extLst>
      <p:ext uri="{BB962C8B-B14F-4D97-AF65-F5344CB8AC3E}">
        <p14:creationId xmlns:p14="http://schemas.microsoft.com/office/powerpoint/2010/main" val="429792495"/>
      </p:ext>
    </p:extLst>
  </p:cSld>
</p:sld>
</file>

<file path=ppt/slides/slide10.xml><?xml version="1.0" encoding="utf-8"?>
<p:sld xmlns:p="http://schemas.openxmlformats.org/presentationml/2006/main">
  <p:cSld>
    <p:bg>
      <p:bgPr>
        <a:solidFill xmlns:a="http://schemas.openxmlformats.org/drawingml/2006/main">
          <a:srgbClr val="FAFB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5B95C9-EA56-497C-9838-DA63CD480DAB}"/>
              </a:ext>
            </a:extLst>
          </p:cNvPr>
          <p:cNvSpPr>
            <a:spLocks xmlns:a="http://schemas.openxmlformats.org/drawingml/2006/main" noGrp="1"/>
          </p:cNvSpPr>
          <p:nvPr/>
        </p:nvSpPr>
        <p:spPr>
          <a:xfrm xmlns:a="http://schemas.openxmlformats.org/drawingml/2006/main">
            <a:off x="619125" y="4286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447"/>
                </a:solidFill>
                <a:latin typeface="Arial"/>
                <a:ea typeface="Arial"/>
                <a:cs typeface="Arial"/>
              </a:defRPr>
            </a:defPPr>
            <a:lvl1pPr>
              <a:defRPr sz="3300" b="1">
                <a:solidFill>
                  <a:srgbClr val="173447"/>
                </a:solidFill>
                <a:latin typeface="Arial"/>
                <a:ea typeface="Arial"/>
                <a:cs typeface="Arial"/>
              </a:defRPr>
            </a:lvl1pPr>
            <a:lvl2pPr>
              <a:defRPr sz="3300" b="1">
                <a:solidFill>
                  <a:srgbClr val="173447"/>
                </a:solidFill>
                <a:latin typeface="Arial"/>
                <a:ea typeface="Arial"/>
                <a:cs typeface="Arial"/>
              </a:defRPr>
            </a:lvl2pPr>
            <a:lvl3pPr>
              <a:defRPr sz="3300" b="1">
                <a:solidFill>
                  <a:srgbClr val="173447"/>
                </a:solidFill>
                <a:latin typeface="Arial"/>
                <a:ea typeface="Arial"/>
                <a:cs typeface="Arial"/>
              </a:defRPr>
            </a:lvl3pPr>
            <a:lvl4pPr>
              <a:defRPr sz="3300" b="1">
                <a:solidFill>
                  <a:srgbClr val="173447"/>
                </a:solidFill>
                <a:latin typeface="Arial"/>
                <a:ea typeface="Arial"/>
                <a:cs typeface="Arial"/>
              </a:defRPr>
            </a:lvl4pPr>
            <a:lvl5pPr>
              <a:defRPr sz="3300" b="1">
                <a:solidFill>
                  <a:srgbClr val="173447"/>
                </a:solidFill>
                <a:latin typeface="Arial"/>
                <a:ea typeface="Arial"/>
                <a:cs typeface="Arial"/>
              </a:defRPr>
            </a:lvl5pPr>
            <a:lvl6pPr>
              <a:defRPr sz="3300" b="1">
                <a:solidFill>
                  <a:srgbClr val="173447"/>
                </a:solidFill>
                <a:latin typeface="Arial"/>
                <a:ea typeface="Arial"/>
                <a:cs typeface="Arial"/>
              </a:defRPr>
            </a:lvl6pPr>
            <a:lvl7pPr>
              <a:defRPr sz="3300" b="1">
                <a:solidFill>
                  <a:srgbClr val="173447"/>
                </a:solidFill>
                <a:latin typeface="Arial"/>
                <a:ea typeface="Arial"/>
                <a:cs typeface="Arial"/>
              </a:defRPr>
            </a:lvl7pPr>
            <a:lvl8pPr>
              <a:defRPr sz="3300" b="1">
                <a:solidFill>
                  <a:srgbClr val="173447"/>
                </a:solidFill>
                <a:latin typeface="Arial"/>
                <a:ea typeface="Arial"/>
                <a:cs typeface="Arial"/>
              </a:defRPr>
            </a:lvl8pPr>
            <a:lvl9pPr>
              <a:defRPr sz="3300" b="1">
                <a:solidFill>
                  <a:srgbClr val="173447"/>
                </a:solidFill>
                <a:latin typeface="Arial"/>
                <a:ea typeface="Arial"/>
                <a:cs typeface="Arial"/>
              </a:defRPr>
            </a:lvl9pPr>
          </a:lstStyle>
          <a:p xmlns:a="http://schemas.openxmlformats.org/drawingml/2006/main">
            <a:pPr>
              <a:defRPr sz="3300" b="1">
                <a:solidFill>
                  <a:srgbClr val="173447"/>
                </a:solidFill>
                <a:latin typeface="Arial"/>
                <a:ea typeface="Arial"/>
                <a:cs typeface="Arial"/>
              </a:defRPr>
            </a:pPr>
            <a:r>
              <a:rPr sz="3300" b="1">
                <a:solidFill>
                  <a:srgbClr val="173447"/>
                </a:solidFill>
                <a:latin typeface="Arial"/>
                <a:ea typeface="Arial"/>
                <a:cs typeface="Arial"/>
              </a:rPr>
              <a:t>What we can conclude</a:t>
            </a:r>
          </a:p>
        </p:txBody>
      </p:sp>
      <p:sp>
        <p:nvSpPr>
          <p:cNvPr id="2" name="">
            <a:extLst xmlns:a="http://schemas.openxmlformats.org/drawingml/2006/main">
              <a:ext uri="{FF2B5EF4-FFF2-40B4-BE49-F238E27FC236}">
                <a16:creationId xmlns:a16="http://schemas.microsoft.com/office/drawing/2014/main" id="{795C061A-903A-410F-BBBD-768BB163B035}"/>
              </a:ext>
            </a:extLst>
          </p:cNvPr>
          <p:cNvSpPr>
            <a:spLocks xmlns:a="http://schemas.openxmlformats.org/drawingml/2006/main" noGrp="1"/>
          </p:cNvSpPr>
          <p:nvPr/>
        </p:nvSpPr>
        <p:spPr>
          <a:xfrm xmlns:a="http://schemas.openxmlformats.org/drawingml/2006/main">
            <a:off x="11049000" y="64008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4E6472"/>
                </a:solidFill>
                <a:latin typeface="Arial"/>
                <a:ea typeface="Arial"/>
                <a:cs typeface="Arial"/>
              </a:defRPr>
            </a:defPPr>
            <a:lvl1pPr>
              <a:defRPr sz="1350" b="0">
                <a:solidFill>
                  <a:srgbClr val="4E6472"/>
                </a:solidFill>
                <a:latin typeface="Arial"/>
                <a:ea typeface="Arial"/>
                <a:cs typeface="Arial"/>
              </a:defRPr>
            </a:lvl1pPr>
            <a:lvl2pPr>
              <a:defRPr sz="1350" b="0">
                <a:solidFill>
                  <a:srgbClr val="4E6472"/>
                </a:solidFill>
                <a:latin typeface="Arial"/>
                <a:ea typeface="Arial"/>
                <a:cs typeface="Arial"/>
              </a:defRPr>
            </a:lvl2pPr>
            <a:lvl3pPr>
              <a:defRPr sz="1350" b="0">
                <a:solidFill>
                  <a:srgbClr val="4E6472"/>
                </a:solidFill>
                <a:latin typeface="Arial"/>
                <a:ea typeface="Arial"/>
                <a:cs typeface="Arial"/>
              </a:defRPr>
            </a:lvl3pPr>
            <a:lvl4pPr>
              <a:defRPr sz="1350" b="0">
                <a:solidFill>
                  <a:srgbClr val="4E6472"/>
                </a:solidFill>
                <a:latin typeface="Arial"/>
                <a:ea typeface="Arial"/>
                <a:cs typeface="Arial"/>
              </a:defRPr>
            </a:lvl4pPr>
            <a:lvl5pPr>
              <a:defRPr sz="1350" b="0">
                <a:solidFill>
                  <a:srgbClr val="4E6472"/>
                </a:solidFill>
                <a:latin typeface="Arial"/>
                <a:ea typeface="Arial"/>
                <a:cs typeface="Arial"/>
              </a:defRPr>
            </a:lvl5pPr>
            <a:lvl6pPr>
              <a:defRPr sz="1350" b="0">
                <a:solidFill>
                  <a:srgbClr val="4E6472"/>
                </a:solidFill>
                <a:latin typeface="Arial"/>
                <a:ea typeface="Arial"/>
                <a:cs typeface="Arial"/>
              </a:defRPr>
            </a:lvl6pPr>
            <a:lvl7pPr>
              <a:defRPr sz="1350" b="0">
                <a:solidFill>
                  <a:srgbClr val="4E6472"/>
                </a:solidFill>
                <a:latin typeface="Arial"/>
                <a:ea typeface="Arial"/>
                <a:cs typeface="Arial"/>
              </a:defRPr>
            </a:lvl7pPr>
            <a:lvl8pPr>
              <a:defRPr sz="1350" b="0">
                <a:solidFill>
                  <a:srgbClr val="4E6472"/>
                </a:solidFill>
                <a:latin typeface="Arial"/>
                <a:ea typeface="Arial"/>
                <a:cs typeface="Arial"/>
              </a:defRPr>
            </a:lvl8pPr>
            <a:lvl9pPr>
              <a:defRPr sz="1350" b="0">
                <a:solidFill>
                  <a:srgbClr val="4E6472"/>
                </a:solidFill>
                <a:latin typeface="Arial"/>
                <a:ea typeface="Arial"/>
                <a:cs typeface="Arial"/>
              </a:defRPr>
            </a:lvl9pPr>
          </a:lstStyle>
          <a:p xmlns:a="http://schemas.openxmlformats.org/drawingml/2006/main">
            <a:pPr>
              <a:defRPr sz="1350" b="0">
                <a:solidFill>
                  <a:srgbClr val="4E6472"/>
                </a:solidFill>
                <a:latin typeface="Arial"/>
                <a:ea typeface="Arial"/>
                <a:cs typeface="Arial"/>
              </a:defRPr>
            </a:pPr>
            <a:r>
              <a:rPr sz="1350" b="0">
                <a:solidFill>
                  <a:srgbClr val="4E6472"/>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92671CE-82B1-473A-913F-FFDE25A3FC9D}"/>
              </a:ext>
            </a:extLst>
          </p:cNvPr>
          <p:cNvSpPr>
            <a:spLocks xmlns:a="http://schemas.openxmlformats.org/drawingml/2006/main" noGrp="1"/>
          </p:cNvSpPr>
          <p:nvPr/>
        </p:nvSpPr>
        <p:spPr>
          <a:xfrm xmlns:a="http://schemas.openxmlformats.org/drawingml/2006/main">
            <a:off x="685800" y="16192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668D"/>
                </a:solidFill>
                <a:latin typeface="Arial"/>
                <a:ea typeface="Arial"/>
                <a:cs typeface="Arial"/>
              </a:defRPr>
            </a:defPPr>
            <a:lvl1pPr>
              <a:defRPr sz="2550" b="0">
                <a:solidFill>
                  <a:srgbClr val="24668D"/>
                </a:solidFill>
                <a:latin typeface="Arial"/>
                <a:ea typeface="Arial"/>
                <a:cs typeface="Arial"/>
              </a:defRPr>
            </a:lvl1pPr>
            <a:lvl2pPr>
              <a:defRPr sz="2550" b="0">
                <a:solidFill>
                  <a:srgbClr val="24668D"/>
                </a:solidFill>
                <a:latin typeface="Arial"/>
                <a:ea typeface="Arial"/>
                <a:cs typeface="Arial"/>
              </a:defRPr>
            </a:lvl2pPr>
            <a:lvl3pPr>
              <a:defRPr sz="2550" b="0">
                <a:solidFill>
                  <a:srgbClr val="24668D"/>
                </a:solidFill>
                <a:latin typeface="Arial"/>
                <a:ea typeface="Arial"/>
                <a:cs typeface="Arial"/>
              </a:defRPr>
            </a:lvl3pPr>
            <a:lvl4pPr>
              <a:defRPr sz="2550" b="0">
                <a:solidFill>
                  <a:srgbClr val="24668D"/>
                </a:solidFill>
                <a:latin typeface="Arial"/>
                <a:ea typeface="Arial"/>
                <a:cs typeface="Arial"/>
              </a:defRPr>
            </a:lvl4pPr>
            <a:lvl5pPr>
              <a:defRPr sz="2550" b="0">
                <a:solidFill>
                  <a:srgbClr val="24668D"/>
                </a:solidFill>
                <a:latin typeface="Arial"/>
                <a:ea typeface="Arial"/>
                <a:cs typeface="Arial"/>
              </a:defRPr>
            </a:lvl5pPr>
            <a:lvl6pPr>
              <a:defRPr sz="2550" b="0">
                <a:solidFill>
                  <a:srgbClr val="24668D"/>
                </a:solidFill>
                <a:latin typeface="Arial"/>
                <a:ea typeface="Arial"/>
                <a:cs typeface="Arial"/>
              </a:defRPr>
            </a:lvl6pPr>
            <a:lvl7pPr>
              <a:defRPr sz="2550" b="0">
                <a:solidFill>
                  <a:srgbClr val="24668D"/>
                </a:solidFill>
                <a:latin typeface="Arial"/>
                <a:ea typeface="Arial"/>
                <a:cs typeface="Arial"/>
              </a:defRPr>
            </a:lvl7pPr>
            <a:lvl8pPr>
              <a:defRPr sz="2550" b="0">
                <a:solidFill>
                  <a:srgbClr val="24668D"/>
                </a:solidFill>
                <a:latin typeface="Arial"/>
                <a:ea typeface="Arial"/>
                <a:cs typeface="Arial"/>
              </a:defRPr>
            </a:lvl8pPr>
            <a:lvl9pPr>
              <a:defRPr sz="2550" b="0">
                <a:solidFill>
                  <a:srgbClr val="24668D"/>
                </a:solidFill>
                <a:latin typeface="Arial"/>
                <a:ea typeface="Arial"/>
                <a:cs typeface="Arial"/>
              </a:defRPr>
            </a:lvl9pPr>
          </a:lstStyle>
          <a:p xmlns:a="http://schemas.openxmlformats.org/drawingml/2006/main">
            <a:pPr>
              <a:defRPr sz="2550" b="0">
                <a:solidFill>
                  <a:srgbClr val="24668D"/>
                </a:solidFill>
                <a:latin typeface="Arial"/>
                <a:ea typeface="Arial"/>
                <a:cs typeface="Arial"/>
              </a:defRPr>
            </a:pPr>
            <a:r>
              <a:rPr sz="2550" b="0">
                <a:solidFill>
                  <a:srgbClr val="24668D"/>
                </a:solidFill>
                <a:latin typeface="Arial"/>
                <a:ea typeface="Arial"/>
                <a:cs typeface="Arial"/>
              </a:rPr>
              <a:t>The GMM gives us a clear order for reviewing transactions.</a:t>
            </a:r>
          </a:p>
        </p:txBody>
      </p:sp>
      <p:sp>
        <p:nvSpPr>
          <p:cNvPr id="4" name="">
            <a:extLst xmlns:a="http://schemas.openxmlformats.org/drawingml/2006/main">
              <a:ext uri="{FF2B5EF4-FFF2-40B4-BE49-F238E27FC236}">
                <a16:creationId xmlns:a16="http://schemas.microsoft.com/office/drawing/2014/main" id="{F5D66DCE-94AA-44D7-A1D7-C127EA3AFC1C}"/>
              </a:ext>
            </a:extLst>
          </p:cNvPr>
          <p:cNvSpPr>
            <a:spLocks xmlns:a="http://schemas.openxmlformats.org/drawingml/2006/main" noGrp="1"/>
          </p:cNvSpPr>
          <p:nvPr/>
        </p:nvSpPr>
        <p:spPr>
          <a:xfrm xmlns:a="http://schemas.openxmlformats.org/drawingml/2006/main">
            <a:off x="685800" y="2762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447"/>
                </a:solidFill>
                <a:latin typeface="Arial"/>
                <a:ea typeface="Arial"/>
                <a:cs typeface="Arial"/>
              </a:defRPr>
            </a:defPPr>
            <a:lvl1pPr>
              <a:defRPr sz="2325" b="0">
                <a:solidFill>
                  <a:srgbClr val="173447"/>
                </a:solidFill>
                <a:latin typeface="Arial"/>
                <a:ea typeface="Arial"/>
                <a:cs typeface="Arial"/>
              </a:defRPr>
            </a:lvl1pPr>
            <a:lvl2pPr>
              <a:defRPr sz="2325" b="0">
                <a:solidFill>
                  <a:srgbClr val="173447"/>
                </a:solidFill>
                <a:latin typeface="Arial"/>
                <a:ea typeface="Arial"/>
                <a:cs typeface="Arial"/>
              </a:defRPr>
            </a:lvl2pPr>
            <a:lvl3pPr>
              <a:defRPr sz="2325" b="0">
                <a:solidFill>
                  <a:srgbClr val="173447"/>
                </a:solidFill>
                <a:latin typeface="Arial"/>
                <a:ea typeface="Arial"/>
                <a:cs typeface="Arial"/>
              </a:defRPr>
            </a:lvl3pPr>
            <a:lvl4pPr>
              <a:defRPr sz="2325" b="0">
                <a:solidFill>
                  <a:srgbClr val="173447"/>
                </a:solidFill>
                <a:latin typeface="Arial"/>
                <a:ea typeface="Arial"/>
                <a:cs typeface="Arial"/>
              </a:defRPr>
            </a:lvl4pPr>
            <a:lvl5pPr>
              <a:defRPr sz="2325" b="0">
                <a:solidFill>
                  <a:srgbClr val="173447"/>
                </a:solidFill>
                <a:latin typeface="Arial"/>
                <a:ea typeface="Arial"/>
                <a:cs typeface="Arial"/>
              </a:defRPr>
            </a:lvl5pPr>
            <a:lvl6pPr>
              <a:defRPr sz="2325" b="0">
                <a:solidFill>
                  <a:srgbClr val="173447"/>
                </a:solidFill>
                <a:latin typeface="Arial"/>
                <a:ea typeface="Arial"/>
                <a:cs typeface="Arial"/>
              </a:defRPr>
            </a:lvl6pPr>
            <a:lvl7pPr>
              <a:defRPr sz="2325" b="0">
                <a:solidFill>
                  <a:srgbClr val="173447"/>
                </a:solidFill>
                <a:latin typeface="Arial"/>
                <a:ea typeface="Arial"/>
                <a:cs typeface="Arial"/>
              </a:defRPr>
            </a:lvl7pPr>
            <a:lvl8pPr>
              <a:defRPr sz="2325" b="0">
                <a:solidFill>
                  <a:srgbClr val="173447"/>
                </a:solidFill>
                <a:latin typeface="Arial"/>
                <a:ea typeface="Arial"/>
                <a:cs typeface="Arial"/>
              </a:defRPr>
            </a:lvl8pPr>
            <a:lvl9pPr>
              <a:defRPr sz="2325" b="0">
                <a:solidFill>
                  <a:srgbClr val="173447"/>
                </a:solidFill>
                <a:latin typeface="Arial"/>
                <a:ea typeface="Arial"/>
                <a:cs typeface="Arial"/>
              </a:defRPr>
            </a:lvl9pPr>
          </a:lstStyle>
          <a:p xmlns:a="http://schemas.openxmlformats.org/drawingml/2006/main">
            <a:pPr>
              <a:defRPr sz="2325" b="0">
                <a:solidFill>
                  <a:srgbClr val="173447"/>
                </a:solidFill>
                <a:latin typeface="Arial"/>
                <a:ea typeface="Arial"/>
                <a:cs typeface="Arial"/>
              </a:defRPr>
            </a:pPr>
            <a:r>
              <a:rPr sz="2325" b="0">
                <a:solidFill>
                  <a:srgbClr val="173447"/>
                </a:solidFill>
                <a:latin typeface="Arial"/>
                <a:ea typeface="Arial"/>
                <a:cs typeface="Arial"/>
              </a:rPr>
              <a:t>At our default cutoff, it finds half the test fraud and creates 172 false alerts.</a:t>
            </a:r>
          </a:p>
        </p:txBody>
      </p:sp>
      <p:sp>
        <p:nvSpPr>
          <p:cNvPr id="5" name="">
            <a:extLst xmlns:a="http://schemas.openxmlformats.org/drawingml/2006/main">
              <a:ext uri="{FF2B5EF4-FFF2-40B4-BE49-F238E27FC236}">
                <a16:creationId xmlns:a16="http://schemas.microsoft.com/office/drawing/2014/main" id="{F4B30A5A-3E7F-425A-982D-4488509DF018}"/>
              </a:ext>
            </a:extLst>
          </p:cNvPr>
          <p:cNvSpPr>
            <a:spLocks xmlns:a="http://schemas.openxmlformats.org/drawingml/2006/main" noGrp="1"/>
          </p:cNvSpPr>
          <p:nvPr/>
        </p:nvSpPr>
        <p:spPr>
          <a:xfrm xmlns:a="http://schemas.openxmlformats.org/drawingml/2006/main">
            <a:off x="685800" y="40005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447"/>
                </a:solidFill>
                <a:latin typeface="Arial"/>
                <a:ea typeface="Arial"/>
                <a:cs typeface="Arial"/>
              </a:defRPr>
            </a:defPPr>
            <a:lvl1pPr>
              <a:defRPr sz="2250" b="0">
                <a:solidFill>
                  <a:srgbClr val="173447"/>
                </a:solidFill>
                <a:latin typeface="Arial"/>
                <a:ea typeface="Arial"/>
                <a:cs typeface="Arial"/>
              </a:defRPr>
            </a:lvl1pPr>
            <a:lvl2pPr>
              <a:defRPr sz="2250" b="0">
                <a:solidFill>
                  <a:srgbClr val="173447"/>
                </a:solidFill>
                <a:latin typeface="Arial"/>
                <a:ea typeface="Arial"/>
                <a:cs typeface="Arial"/>
              </a:defRPr>
            </a:lvl2pPr>
            <a:lvl3pPr>
              <a:defRPr sz="2250" b="0">
                <a:solidFill>
                  <a:srgbClr val="173447"/>
                </a:solidFill>
                <a:latin typeface="Arial"/>
                <a:ea typeface="Arial"/>
                <a:cs typeface="Arial"/>
              </a:defRPr>
            </a:lvl3pPr>
            <a:lvl4pPr>
              <a:defRPr sz="2250" b="0">
                <a:solidFill>
                  <a:srgbClr val="173447"/>
                </a:solidFill>
                <a:latin typeface="Arial"/>
                <a:ea typeface="Arial"/>
                <a:cs typeface="Arial"/>
              </a:defRPr>
            </a:lvl4pPr>
            <a:lvl5pPr>
              <a:defRPr sz="2250" b="0">
                <a:solidFill>
                  <a:srgbClr val="173447"/>
                </a:solidFill>
                <a:latin typeface="Arial"/>
                <a:ea typeface="Arial"/>
                <a:cs typeface="Arial"/>
              </a:defRPr>
            </a:lvl5pPr>
            <a:lvl6pPr>
              <a:defRPr sz="2250" b="0">
                <a:solidFill>
                  <a:srgbClr val="173447"/>
                </a:solidFill>
                <a:latin typeface="Arial"/>
                <a:ea typeface="Arial"/>
                <a:cs typeface="Arial"/>
              </a:defRPr>
            </a:lvl6pPr>
            <a:lvl7pPr>
              <a:defRPr sz="2250" b="0">
                <a:solidFill>
                  <a:srgbClr val="173447"/>
                </a:solidFill>
                <a:latin typeface="Arial"/>
                <a:ea typeface="Arial"/>
                <a:cs typeface="Arial"/>
              </a:defRPr>
            </a:lvl7pPr>
            <a:lvl8pPr>
              <a:defRPr sz="2250" b="0">
                <a:solidFill>
                  <a:srgbClr val="173447"/>
                </a:solidFill>
                <a:latin typeface="Arial"/>
                <a:ea typeface="Arial"/>
                <a:cs typeface="Arial"/>
              </a:defRPr>
            </a:lvl8pPr>
            <a:lvl9pPr>
              <a:defRPr sz="2250" b="0">
                <a:solidFill>
                  <a:srgbClr val="173447"/>
                </a:solidFill>
                <a:latin typeface="Arial"/>
                <a:ea typeface="Arial"/>
                <a:cs typeface="Arial"/>
              </a:defRPr>
            </a:lvl9pPr>
          </a:lstStyle>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Only 74 test frauds. Short historical data. Hidden feature meanings.</a:t>
            </a:r>
          </a:p>
        </p:txBody>
      </p:sp>
      <p:sp>
        <p:nvSpPr>
          <p:cNvPr id="6" name="">
            <a:extLst xmlns:a="http://schemas.openxmlformats.org/drawingml/2006/main">
              <a:ext uri="{FF2B5EF4-FFF2-40B4-BE49-F238E27FC236}">
                <a16:creationId xmlns:a16="http://schemas.microsoft.com/office/drawing/2014/main" id="{D2EED677-B634-49FD-A88E-1876D3D2E74C}"/>
              </a:ext>
            </a:extLst>
          </p:cNvPr>
          <p:cNvSpPr>
            <a:spLocks xmlns:a="http://schemas.openxmlformats.org/drawingml/2006/main" noGrp="1"/>
          </p:cNvSpPr>
          <p:nvPr/>
        </p:nvSpPr>
        <p:spPr>
          <a:xfrm xmlns:a="http://schemas.openxmlformats.org/drawingml/2006/main">
            <a:off x="685800" y="52387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4E6472"/>
                </a:solidFill>
                <a:latin typeface="Arial"/>
                <a:ea typeface="Arial"/>
                <a:cs typeface="Arial"/>
              </a:defRPr>
            </a:defPPr>
            <a:lvl1pPr>
              <a:defRPr sz="2250" b="0">
                <a:solidFill>
                  <a:srgbClr val="4E6472"/>
                </a:solidFill>
                <a:latin typeface="Arial"/>
                <a:ea typeface="Arial"/>
                <a:cs typeface="Arial"/>
              </a:defRPr>
            </a:lvl1pPr>
            <a:lvl2pPr>
              <a:defRPr sz="2250" b="0">
                <a:solidFill>
                  <a:srgbClr val="4E6472"/>
                </a:solidFill>
                <a:latin typeface="Arial"/>
                <a:ea typeface="Arial"/>
                <a:cs typeface="Arial"/>
              </a:defRPr>
            </a:lvl2pPr>
            <a:lvl3pPr>
              <a:defRPr sz="2250" b="0">
                <a:solidFill>
                  <a:srgbClr val="4E6472"/>
                </a:solidFill>
                <a:latin typeface="Arial"/>
                <a:ea typeface="Arial"/>
                <a:cs typeface="Arial"/>
              </a:defRPr>
            </a:lvl3pPr>
            <a:lvl4pPr>
              <a:defRPr sz="2250" b="0">
                <a:solidFill>
                  <a:srgbClr val="4E6472"/>
                </a:solidFill>
                <a:latin typeface="Arial"/>
                <a:ea typeface="Arial"/>
                <a:cs typeface="Arial"/>
              </a:defRPr>
            </a:lvl4pPr>
            <a:lvl5pPr>
              <a:defRPr sz="2250" b="0">
                <a:solidFill>
                  <a:srgbClr val="4E6472"/>
                </a:solidFill>
                <a:latin typeface="Arial"/>
                <a:ea typeface="Arial"/>
                <a:cs typeface="Arial"/>
              </a:defRPr>
            </a:lvl5pPr>
            <a:lvl6pPr>
              <a:defRPr sz="2250" b="0">
                <a:solidFill>
                  <a:srgbClr val="4E6472"/>
                </a:solidFill>
                <a:latin typeface="Arial"/>
                <a:ea typeface="Arial"/>
                <a:cs typeface="Arial"/>
              </a:defRPr>
            </a:lvl6pPr>
            <a:lvl7pPr>
              <a:defRPr sz="2250" b="0">
                <a:solidFill>
                  <a:srgbClr val="4E6472"/>
                </a:solidFill>
                <a:latin typeface="Arial"/>
                <a:ea typeface="Arial"/>
                <a:cs typeface="Arial"/>
              </a:defRPr>
            </a:lvl7pPr>
            <a:lvl8pPr>
              <a:defRPr sz="2250" b="0">
                <a:solidFill>
                  <a:srgbClr val="4E6472"/>
                </a:solidFill>
                <a:latin typeface="Arial"/>
                <a:ea typeface="Arial"/>
                <a:cs typeface="Arial"/>
              </a:defRPr>
            </a:lvl8pPr>
            <a:lvl9pPr>
              <a:defRPr sz="2250" b="0">
                <a:solidFill>
                  <a:srgbClr val="4E6472"/>
                </a:solidFill>
                <a:latin typeface="Arial"/>
                <a:ea typeface="Arial"/>
                <a:cs typeface="Arial"/>
              </a:defRPr>
            </a:lvl9pPr>
          </a:lstStyle>
          <a:p xmlns:a="http://schemas.openxmlformats.org/drawingml/2006/main">
            <a:pPr>
              <a:defRPr sz="2250" b="0">
                <a:solidFill>
                  <a:srgbClr val="4E6472"/>
                </a:solidFill>
                <a:latin typeface="Arial"/>
                <a:ea typeface="Arial"/>
                <a:cs typeface="Arial"/>
              </a:defRPr>
            </a:pPr>
            <a:r>
              <a:rPr sz="2250" b="0">
                <a:solidFill>
                  <a:srgbClr val="4E6472"/>
                </a:solidFill>
                <a:latin typeface="Arial"/>
                <a:ea typeface="Arial"/>
                <a:cs typeface="Arial"/>
              </a:rPr>
              <a:t>Phase 1 covers the GMM. The autoencoder belongs to Phase 2.</a:t>
            </a:r>
          </a:p>
        </p:txBody>
      </p:sp>
    </p:spTree>
    <p:extLst>
      <p:ext uri="{BB962C8B-B14F-4D97-AF65-F5344CB8AC3E}">
        <p14:creationId xmlns:p14="http://schemas.microsoft.com/office/powerpoint/2010/main" val="15501058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2026-10-21T05:37:47.9960000Z</dcterms:created>
  <dcterms:modified xsi:type="dcterms:W3CDTF">2026-10-21T05:37:47.9960000Z</dcterms:modified>
</coreProperties>
</file>